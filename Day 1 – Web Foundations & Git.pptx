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embeddedFontLst>
    <p:embeddedFont>
      <p:font typeface="JetBrains Mono" panose="02000009000000000000" pitchFamily="49" charset="0"/>
      <p:regular r:id="rId66"/>
      <p:bold r:id="rId67"/>
    </p:embeddedFont>
    <p:embeddedFont>
      <p:font typeface="Space Grotesk" pitchFamily="34" charset="0"/>
      <p:regular r:id="rId68"/>
      <p:bold r:id="rId6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 Id="rId66" Type="http://schemas.openxmlformats.org/officeDocument/2006/relationships/font" Target="fonts/font1.fntdata"/><Relationship Id="rId67" Type="http://schemas.openxmlformats.org/officeDocument/2006/relationships/font" Target="fonts/font2.fntdata"/><Relationship Id="rId68" Type="http://schemas.openxmlformats.org/officeDocument/2006/relationships/font" Target="fonts/font3.fntdata"/><Relationship Id="rId69"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"Today you won't just learn how websites work. By 4:30 you'll have built one and protected every version of it." Point to the two sessions. Mention that blue LEARN slides are short theory and orange DO slides mean hands on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1 minute. Stress that the morning page is NOT thrown away: it becomes the afternoon portfolio and goes into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these five on the board too and tick them off live as the day goes on. Observers look for clearly stated objectives and closure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two slide colours, the sticky-note system, and your 2–3 tech buddies (name them now). Explain "predict, then run": before you press refresh or Enter, the class guesses the result. Load the roll list in wheelofnames.com for random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it on the projector first, slowly, then let everyone try on any site they like. Wait for the gasp when the text changes. Then refresh: it's gone. Do NOT explain yet. Move to the next slide and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and take 3–4 guesses using the name picker. Then click to reveal the two boxes. This is the bridge into client vs server: "Every refresh is a new request to the server, and the server sends its original copy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Ask: "Instagram — which layer stores your photos? Which layer is the like button?" Point out the day number on each card so students see the whole 5-day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4 role cards. Student 1 writes "GET /dosa" on a paper slip and gives it to the Waiter, who walks it to the Chef, who "checks" the Pantry and sends a plate back. Then the customer orders "GET /pizza" — the Chef says 404. Ask the class to shout each status code. 8 minutes max. Key line: "The browser never talks to the database directly. Only the server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arrow and connect it to the role-play: orange = the order going in, blue = the plate coming back. Ask: "What happens if the server is down?" (no response — the site doesn't load, or you get 500/503).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quickly (2 min). Then ask: "How many requests do you think loading the RVCE homepage makes? 1? 10? 100?" Take a vote. The next slide proves it in DevTools.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to 2–3 minutes: this is only a preview. Ask: "When you open Instagram and see your feed, which method is that?" (GET). "When you post a photo?" (POST). Tell them they'll build exactly this API with Node.js on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once on the projector, then students fill the sheet. After 10 minutes, use the name picker: two students explain, in order, what happened from Enter to page shown. The bonus gives them a real 404 — connect it back to the waiter "not on the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git or node is missing on a machine, pair that student with a neighbour for now and log the machine number for the lab instructor. Don't troubleshoot installs in front of the class for more than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open your finished portfolio, then in DevTools disable the stylesheet (or delete the link tag) — the page becomes a plain skeleton. Put it back — skin returns. Then run alert("Hi!") in the Console — the brain. Ask students to classify: "a button turns red on hover" (CSS), "the form checks your email" (JS/HTML), "there is a table of marks"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head = your ID card (info about you, not visible when you walk in), body = you. Viva Q3 (why DOCTYPE) is answered here — ask it now. Mention the viewport tag will matter at 12:08 when we do responsive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it live on the projector with the font at 20+. Walk the room: check every folder name and that Live Server opened. Students who already finished: tech buddies help the rows near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 building's floor plan — reception (header), signboard (nav), the rooms (main / sections), exit (footer). Ask: "Open your college ID card. Which part is the header?" Then type the next slide's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slowly on the projector. "Predict, then run": before saving, ask what the page will look like (plain text links, no styling — skeleton only!). The links won't jump yet because the ids don't exist — that's the next chunk.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for id vs class: id = your USN (only you have it), class = your branch "CSE" (many students share it). Ask the viva question right here. Then straight to chunk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id="about" now matches href="#about" from chunk 1 — the nav works. alt text is read aloud to blind users and shown if the image fails: make them write a real description. Fast finishers: add a third skill row and an ordered list of achievements.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type "abc" in an email field with required and press submit — the browser blocks it. On a phone, type="email" also shows the @ keyboard. Ask: "Is browser validation enough for security?" (No — the server must check too;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completes the manual's Section 5 HTML Lab Exercise. Optional: have students paste their code into validator.w3.org (Validate by Direct Input) — the lab rules ask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missing alt text (accessibility; validator flags it). 2: wrong nesting — close b before p: &lt;p&gt;Hello &lt;b&gt;world&lt;/b&gt;&lt;/p&gt;. 3: label for="mail" doesn't match id="email". 4: ids are case-sensitive — #Projects won't find id="projects". Reward the first three with the "tech buddy"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7 minutes to walk to every red sticky note and see who is behind. If more than a third of the class is behind, share the rescue starter file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selector = which students, property = what to change (uniform colour), value = which colour. Example sentence: "All CSE students, wear blue." Keep it to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random student to read each row's analogy aloud — it makes the table memorable. Spend 2 minutes, then the specificity battle.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 up for each colour, count votes. Then type it live in an internal style block and refresh. Common wrong answer: purple ("it's last"). Explain that "last wins" only applies when specificity is equal — the two p rules tie with each other, but #intro is stronger. Bonus: add style="color:orange" inline and refresh.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Planted "oops" for the observers: type href="styles.css" (with an s) first, save, show nothing changes, then debug aloud using DevTools → Network tab (style.css shows 404). Fix it. This shows debugging skill and links back to the Network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Physically hold your phone in its case and place two phones on the desk. Padding pushes the content away from its own edge; margin pushes OTHER boxes away. Then open DevTools on a student's card → Computed tab → show the same nested box diagram with real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Toggle it live in DevTools (Styles pane, click the value and type). Ask students to predict the width BEFORE you toggle. This is a classic viva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you style the PARENT, the children move. Then call 5 students to the front for Human Flexbox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 Flexbox: the volunteers start bunched on the left (flex-start). Each rule shouted, they move. For column, they stand in a line front-to-back. This is memorable and observers love it. Then everyone opens Froggy; walk around and celebrate whoever is furthest.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flex: 1 1 260px as "grow if there's room, shrink if needed, but try to start at 260px". Ask: "What happens if we remove flex-wrap?" Let them try it — the cards squeeze into one row. Put it back. Bonus for fast finishers: form { display:flex; flex-direction:column; gap:8px; max-width:400px;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viva Q9 here: "Why might a page that looks right on a laptop look wrong on a phone?" (fixed widths, no viewport meta, no media queries). 3 minutes, then the Squeeze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Squeeze Test is a mini competition: whoever finds the ugliest break wins applause. Then fix as a class. Stretch: add a second media query that makes .card max 400px on phones, or a dark theme with @media (prefers-color-scheme: dark).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3 minutes: these are covered so students can answer viva questions. Quick check: "Which one would you use to hide the sidebar on mobile?" (display:none inside a media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as a demo in a separate file so it doesn't clash with their style.css. Use the device toolbar to show the 3 columns stacking at phone width. Cut this slide if you're behind schedule — mention Bootstrap in one sentence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customer = browser, pantry = database. Q2 tells the browser to use HTML5 standards mode. Q3 id = USN (unique). Q4 padding = inside the case, margin = gap between phones. Q5 main axis vs cross axis. Q6 fixed widths, missing viewport meta, no media queries. End with the cliffhanger line for the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Quickly check everyone still has their morning folder open in VS Code with Live Server running. Anyone missing files gets the rescue starter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show of hands: "Who has a folder like this?" (everyone laughs). Ask two students to list problems it causes. Video-game analogy: before a boss fight you save; if you die, you reload the save instead of restarting the game. Git commits are those save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viva Q20 right after this slide to a random student. Other common analogy if Instagram doesn't land: Git = Word's track changes on your laptop; GitHub = Google Drive where the team sees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Git diagram. Point to each box as you will run commands in it soon. Next slide acts it out with students as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take the photo on your phone and show it on screen if you can — it makes the "snapshot" idea concrete. Then: "Changed your hair after the photo? The photo doesn't change. You need a NEW photo — a new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this step and Git refuses the first commit with "Please tell me who you are" — mention it, it's the #1 Git error of the day. Use the email they'll use for GitHub on Day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git init, run pwd (or cd) to make sure the terminal is in the project folder — git init on the Desktop is a common mistake. If the commit opens a strange editor, they forgot -m: press Esc, type :wq, Enter. Everyone should now have 1 commit. Green sticky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prediction as a class vote: "untracked, modified or staged?" Many say untracked — correct them: the file is already tracked, so it's "modified". git diff is the moment students see Git really remembers every line. Newest commit appears at the TOP of git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read their own two commit messages aloud (random picker). Rate them good/bad as a class — light-hearted. "final" always gets a laugh.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and run git log --oneline at random desks — observers will see you checking the Git habit, not just the page. Stretch for fast pairs: add a skills progress bar using a div with a percentage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game analogy again: before a risky boss fight you start a separate save slot. Win? Keep it (merge). Lose? Delete the slot, main game untouched. Point to the two orange commits: they exist only in the feature universe until the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wow moment of the afternoon. Do it on the projector first and pause after the theme disappears — let the reaction land. Commit BEFORE checkout main, otherwise Git may refuse ("local changes would be overwritten"). Ask: "Where did the code go?" (It's safe inside .git, on the other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mistake: running merge while still on the feature branch ("Already up to date"). Rule to repeat: "Stand where you want the changes to land, then merge." Fast finishers: go to the merge-conflict stretch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on screen during the 3:35 challenge sprint so students can refer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for students who already finished the challenge. VS Code shows "Accept Current / Accept Incoming / Accept Both" buttons above the conflict — that's fine to use, but make them understand the markers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will already have 80% of this from the day — the sprint is for finishing and personalising. Walk the room with the rubric on the next slide. Put the cheat-sheet slide back up on the projector while they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at the start of the challenge so students know what matters. Walk round with a printed copy and tick criteria as you check each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show it to tech buddies before the sprint, and leave it up if many red sticky notes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the afternoon. If git init was run on the Desktop by mistake, delete that hidden .git folder and run git init again inside the project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Q5 answers tonight and spend the first 3 minutes of Day 2 on the most common one — that closes the feedback loop observers look for. Answers: 1 git add, git commit. 3 one line per commit: short ID + message, newest first. 4 percent widths / max-width, img max-width 100%, flex-wrap, media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 off all five objectives on the board in front of the class. Thank the tech buddies by name. Close with: "Tomorrow your page gets a brain."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05565"/>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A2236"/>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029465"/>
            <a:ext cx="10566400" cy="4015735"/>
          </a:xfrm>
          <a:prstGeom prst="rect">
            <a:avLst/>
          </a:prstGeom>
          <a:noFill/>
          <a:ln/>
        </p:spPr>
        <p:txBody>
          <a:bodyPr wrap="square" lIns="0" tIns="0" rIns="0" bIns="0" rtlCol="0" anchor="t"/>
          <a:lstStyle>
            <a:lvl1pPr algn="l" indent="0" marL="0">
              <a:lnSpc>
                <a:spcPct val="140000"/>
              </a:lnSpc>
              <a:buNone/>
              <a:defRPr lang="en-US" sz="1600" dirty="0">
                <a:solidFill>
                  <a:srgbClr val="1A2236"/>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05565"/>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A2236"/>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029465"/>
            <a:ext cx="10566400" cy="4015735"/>
          </a:xfrm>
          <a:prstGeom prst="rect">
            <a:avLst/>
          </a:prstGeom>
          <a:noFill/>
          <a:ln/>
        </p:spPr>
        <p:txBody>
          <a:bodyPr wrap="square" lIns="0" tIns="0" rIns="0" bIns="0" rtlCol="0" anchor="t"/>
          <a:lstStyle>
            <a:lvl1pPr algn="l" indent="0" marL="0">
              <a:lnSpc>
                <a:spcPct val="140000"/>
              </a:lnSpc>
              <a:buNone/>
              <a:defRPr lang="en-US" sz="1600" dirty="0">
                <a:solidFill>
                  <a:srgbClr val="1A2236"/>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2.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image" Target="../media/image-49-8.png"/><Relationship Id="rId9" Type="http://schemas.openxmlformats.org/officeDocument/2006/relationships/image" Target="../media/image-49-9.png"/><Relationship Id="rId10" Type="http://schemas.openxmlformats.org/officeDocument/2006/relationships/slideLayout" Target="../slideLayouts/slideLayout2.xml"/><Relationship Id="rId11"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6586220" y="1270000"/>
            <a:ext cx="4970780" cy="3225800"/>
          </a:xfrm>
          <a:prstGeom prst="rect">
            <a:avLst/>
          </a:prstGeom>
          <a:noFill/>
          <a:ln/>
        </p:spPr>
        <p:txBody>
          <a:bodyPr wrap="square" lIns="0" tIns="0" rIns="0" bIns="0" rtlCol="0" anchor="t">
            <a:normAutofit/>
          </a:bodyPr>
          <a:lstStyle/>
          <a:p>
            <a:pPr algn="r" indent="0" marL="0">
              <a:lnSpc>
                <a:spcPts val="25200"/>
              </a:lnSpc>
              <a:buNone/>
            </a:pPr>
            <a:r>
              <a:rPr lang="en-US" sz="18000" b="1" dirty="0">
                <a:solidFill>
                  <a:srgbClr val="1E2840"/>
                </a:solidFill>
                <a:latin typeface="JetBrains Mono" pitchFamily="49" charset="0"/>
                <a:ea typeface="JetBrains Mono" pitchFamily="49" charset="-122"/>
                <a:cs typeface="JetBrains Mono" pitchFamily="49" charset="-120"/>
              </a:rPr>
              <a:t>&lt;/&gt;</a:t>
            </a:r>
            <a:endParaRPr lang="en-US" sz="18000" dirty="0"/>
          </a:p>
        </p:txBody>
      </p:sp>
      <p:sp>
        <p:nvSpPr>
          <p:cNvPr id="3" name="Text 1"/>
          <p:cNvSpPr/>
          <p:nvPr/>
        </p:nvSpPr>
        <p:spPr>
          <a:xfrm>
            <a:off x="812800" y="15113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994A"/>
                </a:solidFill>
                <a:latin typeface="IBM Plex Sans" pitchFamily="34" charset="0"/>
                <a:ea typeface="IBM Plex Sans" pitchFamily="34" charset="-122"/>
                <a:cs typeface="IBM Plex Sans" pitchFamily="34" charset="-120"/>
              </a:rPr>
              <a:t>RVCE · CSE · FULL STACK DEVELOPMENT SKILL LAB</a:t>
            </a:r>
            <a:endParaRPr lang="en-US" sz="1400" dirty="0"/>
          </a:p>
        </p:txBody>
      </p:sp>
      <p:sp>
        <p:nvSpPr>
          <p:cNvPr id="4" name="Text 2"/>
          <p:cNvSpPr/>
          <p:nvPr>
            <p:ph type="title"/>
          </p:nvPr>
        </p:nvSpPr>
        <p:spPr>
          <a:xfrm>
            <a:off x="812800" y="201422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F1EA"/>
                </a:solidFill>
                <a:latin typeface="Space Grotesk" pitchFamily="34" charset="0"/>
                <a:ea typeface="Space Grotesk" pitchFamily="34" charset="-122"/>
                <a:cs typeface="Space Grotesk" pitchFamily="34" charset="-120"/>
              </a:rPr>
              <a:t>Day 1 — Web</a:t>
            </a:r>
            <a:endParaRPr lang="en-US" sz="6000" dirty="0"/>
          </a:p>
          <a:p>
            <a:pPr algn="l" indent="0" marL="0">
              <a:lnSpc>
                <a:spcPts val="6300"/>
              </a:lnSpc>
              <a:buNone/>
            </a:pPr>
            <a:r>
              <a:rPr lang="en-US" sz="6000" b="1" i="0" dirty="0">
                <a:solidFill>
                  <a:srgbClr val="F3F1EA"/>
                </a:solidFill>
                <a:latin typeface="Space Grotesk" pitchFamily="34" charset="0"/>
                <a:ea typeface="Space Grotesk" pitchFamily="34" charset="-122"/>
                <a:cs typeface="Space Grotesk" pitchFamily="34" charset="-120"/>
              </a:rPr>
              <a:t>Foundations &amp; Git</a:t>
            </a:r>
            <a:endParaRPr lang="en-US" sz="6000" dirty="0"/>
          </a:p>
        </p:txBody>
      </p:sp>
      <p:sp>
        <p:nvSpPr>
          <p:cNvPr id="5" name="Text 3"/>
          <p:cNvSpPr/>
          <p:nvPr/>
        </p:nvSpPr>
        <p:spPr>
          <a:xfrm>
            <a:off x="812800" y="386842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9C2D3"/>
                </a:solidFill>
                <a:latin typeface="IBM Plex Sans" pitchFamily="34" charset="0"/>
                <a:ea typeface="IBM Plex Sans" pitchFamily="34" charset="-122"/>
                <a:cs typeface="IBM Plex Sans" pitchFamily="34" charset="-120"/>
              </a:rPr>
              <a:t>Build a responsive portfolio. Protect every version of it.</a:t>
            </a:r>
            <a:endParaRPr lang="en-US" sz="2000" dirty="0"/>
          </a:p>
        </p:txBody>
      </p:sp>
      <p:sp>
        <p:nvSpPr>
          <p:cNvPr id="6" name="Shape 4"/>
          <p:cNvSpPr/>
          <p:nvPr/>
        </p:nvSpPr>
        <p:spPr>
          <a:xfrm>
            <a:off x="812800" y="4478020"/>
            <a:ext cx="2742142" cy="868680"/>
          </a:xfrm>
          <a:prstGeom prst="roundRect">
            <a:avLst>
              <a:gd name="adj" fmla="val 11696"/>
            </a:avLst>
          </a:prstGeom>
          <a:solidFill>
            <a:srgbClr val="1E2840"/>
          </a:solidFill>
          <a:ln/>
        </p:spPr>
      </p:sp>
      <p:sp>
        <p:nvSpPr>
          <p:cNvPr id="7" name="Text 5"/>
          <p:cNvSpPr/>
          <p:nvPr/>
        </p:nvSpPr>
        <p:spPr>
          <a:xfrm>
            <a:off x="1016000" y="4655820"/>
            <a:ext cx="240581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DB4F0"/>
                </a:solidFill>
                <a:latin typeface="IBM Plex Sans" pitchFamily="34" charset="0"/>
                <a:ea typeface="IBM Plex Sans" pitchFamily="34" charset="-122"/>
                <a:cs typeface="IBM Plex Sans" pitchFamily="34" charset="-120"/>
              </a:rPr>
              <a:t>THU 22 OCT 2026</a:t>
            </a:r>
            <a:endParaRPr lang="en-US" sz="1200" dirty="0"/>
          </a:p>
        </p:txBody>
      </p:sp>
      <p:sp>
        <p:nvSpPr>
          <p:cNvPr id="8" name="Text 6"/>
          <p:cNvSpPr/>
          <p:nvPr/>
        </p:nvSpPr>
        <p:spPr>
          <a:xfrm>
            <a:off x="1016000" y="4919980"/>
            <a:ext cx="253894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Module 1 · Manual pp. 10–19</a:t>
            </a:r>
            <a:endParaRPr lang="en-US" sz="1400" dirty="0"/>
          </a:p>
        </p:txBody>
      </p:sp>
      <p:sp>
        <p:nvSpPr>
          <p:cNvPr id="9" name="Shape 7"/>
          <p:cNvSpPr/>
          <p:nvPr/>
        </p:nvSpPr>
        <p:spPr>
          <a:xfrm>
            <a:off x="3707342" y="4478020"/>
            <a:ext cx="3227811" cy="868680"/>
          </a:xfrm>
          <a:prstGeom prst="roundRect">
            <a:avLst>
              <a:gd name="adj" fmla="val 11696"/>
            </a:avLst>
          </a:prstGeom>
          <a:solidFill>
            <a:srgbClr val="1E2840"/>
          </a:solidFill>
          <a:ln/>
        </p:spPr>
      </p:sp>
      <p:sp>
        <p:nvSpPr>
          <p:cNvPr id="10" name="Text 8"/>
          <p:cNvSpPr/>
          <p:nvPr/>
        </p:nvSpPr>
        <p:spPr>
          <a:xfrm>
            <a:off x="3910542" y="4655820"/>
            <a:ext cx="29060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SESSION 1 · 9:30–12:30</a:t>
            </a:r>
            <a:endParaRPr lang="en-US" sz="1200" dirty="0"/>
          </a:p>
        </p:txBody>
      </p:sp>
      <p:sp>
        <p:nvSpPr>
          <p:cNvPr id="11" name="Text 9"/>
          <p:cNvSpPr/>
          <p:nvPr/>
        </p:nvSpPr>
        <p:spPr>
          <a:xfrm>
            <a:off x="3910542" y="4919980"/>
            <a:ext cx="302461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Web basics, HTML, CSS, responsive</a:t>
            </a:r>
            <a:endParaRPr lang="en-US" sz="1400" dirty="0"/>
          </a:p>
        </p:txBody>
      </p:sp>
      <p:sp>
        <p:nvSpPr>
          <p:cNvPr id="12" name="Shape 10"/>
          <p:cNvSpPr/>
          <p:nvPr/>
        </p:nvSpPr>
        <p:spPr>
          <a:xfrm>
            <a:off x="7087553" y="4478020"/>
            <a:ext cx="2054119" cy="868680"/>
          </a:xfrm>
          <a:prstGeom prst="roundRect">
            <a:avLst>
              <a:gd name="adj" fmla="val 11696"/>
            </a:avLst>
          </a:prstGeom>
          <a:solidFill>
            <a:srgbClr val="1E2840"/>
          </a:solidFill>
          <a:ln/>
        </p:spPr>
      </p:sp>
      <p:sp>
        <p:nvSpPr>
          <p:cNvPr id="13" name="Text 11"/>
          <p:cNvSpPr/>
          <p:nvPr/>
        </p:nvSpPr>
        <p:spPr>
          <a:xfrm>
            <a:off x="7290753" y="4655820"/>
            <a:ext cx="18509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SESSION 2 · 1:30–4:30</a:t>
            </a:r>
            <a:endParaRPr lang="en-US" sz="1200" dirty="0"/>
          </a:p>
        </p:txBody>
      </p:sp>
      <p:sp>
        <p:nvSpPr>
          <p:cNvPr id="14" name="Text 12"/>
          <p:cNvSpPr/>
          <p:nvPr/>
        </p:nvSpPr>
        <p:spPr>
          <a:xfrm>
            <a:off x="7290753" y="4919980"/>
            <a:ext cx="185091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Portfolio + Git basics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2236"/>
                </a:solidFill>
                <a:latin typeface="Space Grotesk" pitchFamily="34" charset="0"/>
                <a:ea typeface="Space Grotesk" pitchFamily="34" charset="-122"/>
                <a:cs typeface="Space Grotesk" pitchFamily="34" charset="-120"/>
              </a:rPr>
              <a:t>Today’s plan: one page, built all day</a:t>
            </a:r>
            <a:endParaRPr lang="en-US" sz="3200" dirty="0"/>
          </a:p>
        </p:txBody>
      </p:sp>
      <p:sp>
        <p:nvSpPr>
          <p:cNvPr id="3" name="Shape 1"/>
          <p:cNvSpPr/>
          <p:nvPr/>
        </p:nvSpPr>
        <p:spPr>
          <a:xfrm>
            <a:off x="815975" y="1517015"/>
            <a:ext cx="5175250" cy="3651673"/>
          </a:xfrm>
          <a:prstGeom prst="roundRect">
            <a:avLst>
              <a:gd name="adj" fmla="val 2695"/>
            </a:avLst>
          </a:prstGeom>
          <a:solidFill>
            <a:srgbClr val="FFFFFF"/>
          </a:solidFill>
          <a:ln w="6350">
            <a:solidFill>
              <a:srgbClr val="E1DED5"/>
            </a:solidFill>
            <a:prstDash val="solid"/>
          </a:ln>
        </p:spPr>
      </p:sp>
      <p:sp>
        <p:nvSpPr>
          <p:cNvPr id="4" name="Text 2"/>
          <p:cNvSpPr/>
          <p:nvPr/>
        </p:nvSpPr>
        <p:spPr>
          <a:xfrm>
            <a:off x="1072409" y="1748049"/>
            <a:ext cx="480225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A8"/>
                </a:solidFill>
                <a:latin typeface="IBM Plex Sans" pitchFamily="34" charset="0"/>
                <a:ea typeface="IBM Plex Sans" pitchFamily="34" charset="-122"/>
                <a:cs typeface="IBM Plex Sans" pitchFamily="34" charset="-120"/>
              </a:rPr>
              <a:t>SESSION 1 · 9:30 – 12:30</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083628" y="2074227"/>
          <a:ext cx="4651163" cy="2863427"/>
        </p:xfrm>
        <a:graphic>
          <a:graphicData uri="http://schemas.openxmlformats.org/drawingml/2006/table">
            <a:tbl>
              <a:tblPr/>
              <a:tblGrid>
                <a:gridCol w="1023256"/>
                <a:gridCol w="3627907"/>
              </a:tblGrid>
              <a:tr h="357928">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Time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What we 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9:30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Hook: hack the college website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9:38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How the web works (role-play)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9:53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Network tab detective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10:18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HTML build-along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11:12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CSS, box model, Flexbox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12:08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Responsive + Bootstrap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12:22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Rapid-fire recap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6200775" y="1517015"/>
            <a:ext cx="5175250" cy="3651673"/>
          </a:xfrm>
          <a:prstGeom prst="roundRect">
            <a:avLst>
              <a:gd name="adj" fmla="val 2695"/>
            </a:avLst>
          </a:prstGeom>
          <a:solidFill>
            <a:srgbClr val="FFFFFF"/>
          </a:solidFill>
          <a:ln w="6350">
            <a:solidFill>
              <a:srgbClr val="E1DED5"/>
            </a:solidFill>
            <a:prstDash val="solid"/>
          </a:ln>
        </p:spPr>
      </p:sp>
      <p:sp>
        <p:nvSpPr>
          <p:cNvPr id="7" name="Text 4"/>
          <p:cNvSpPr/>
          <p:nvPr/>
        </p:nvSpPr>
        <p:spPr>
          <a:xfrm>
            <a:off x="6457209" y="1748049"/>
            <a:ext cx="480225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SESSION 2 · 1:30 – 4:30</a:t>
            </a:r>
            <a:endParaRPr lang="en-US" sz="12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468427" y="2074227"/>
          <a:ext cx="4651163" cy="2863427"/>
        </p:xfrm>
        <a:graphic>
          <a:graphicData uri="http://schemas.openxmlformats.org/drawingml/2006/table">
            <a:tbl>
              <a:tblPr/>
              <a:tblGrid>
                <a:gridCol w="1023256"/>
                <a:gridCol w="3627907"/>
              </a:tblGrid>
              <a:tr h="357928">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Time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What we 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1:30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Why version control?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1:55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First commits on your page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2:25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Portfolio sprint (pairs)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3:05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Branches: the vanishing act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3:35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Mini challenge sprint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4:05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Live demos + feedback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4:20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Exit ticket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Day 1 · Web Foundations &amp; Git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2236"/>
                </a:solidFill>
                <a:latin typeface="Space Grotesk" pitchFamily="34" charset="0"/>
                <a:ea typeface="Space Grotesk" pitchFamily="34" charset="-122"/>
                <a:cs typeface="Space Grotesk" pitchFamily="34" charset="-120"/>
              </a:rPr>
              <a:t>By 4:30 PM, you will be able to…</a:t>
            </a:r>
            <a:endParaRPr lang="en-US" sz="3200" dirty="0"/>
          </a:p>
        </p:txBody>
      </p:sp>
      <p:sp>
        <p:nvSpPr>
          <p:cNvPr id="3" name="Shape 1"/>
          <p:cNvSpPr/>
          <p:nvPr/>
        </p:nvSpPr>
        <p:spPr>
          <a:xfrm>
            <a:off x="812800" y="2161434"/>
            <a:ext cx="10566400" cy="0"/>
          </a:xfrm>
          <a:prstGeom prst="line">
            <a:avLst/>
          </a:prstGeom>
          <a:noFill/>
          <a:ln w="6350">
            <a:solidFill>
              <a:srgbClr val="DCD8CD"/>
            </a:solidFill>
            <a:prstDash val="solid"/>
          </a:ln>
        </p:spPr>
      </p:sp>
      <p:sp>
        <p:nvSpPr>
          <p:cNvPr id="4" name="Text 2"/>
          <p:cNvSpPr/>
          <p:nvPr/>
        </p:nvSpPr>
        <p:spPr>
          <a:xfrm>
            <a:off x="812800" y="1640839"/>
            <a:ext cx="558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FA8"/>
                </a:solidFill>
                <a:latin typeface="Space Grotesk" pitchFamily="34" charset="0"/>
                <a:ea typeface="Space Grotesk" pitchFamily="34" charset="-122"/>
                <a:cs typeface="Space Grotesk" pitchFamily="34" charset="-120"/>
              </a:rPr>
              <a:t>01</a:t>
            </a:r>
            <a:endParaRPr lang="en-US" sz="2200" dirty="0"/>
          </a:p>
        </p:txBody>
      </p:sp>
      <p:sp>
        <p:nvSpPr>
          <p:cNvPr id="5" name="Text 3"/>
          <p:cNvSpPr/>
          <p:nvPr/>
        </p:nvSpPr>
        <p:spPr>
          <a:xfrm>
            <a:off x="1524000" y="1694180"/>
            <a:ext cx="701814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2236"/>
                </a:solidFill>
                <a:latin typeface="IBM Plex Sans" pitchFamily="34" charset="0"/>
                <a:ea typeface="IBM Plex Sans" pitchFamily="34" charset="-122"/>
                <a:cs typeface="IBM Plex Sans" pitchFamily="34" charset="-120"/>
              </a:rPr>
              <a:t>Explain client, server and database using real DevTools evidence</a:t>
            </a:r>
            <a:endParaRPr lang="en-US" sz="1600" dirty="0"/>
          </a:p>
        </p:txBody>
      </p:sp>
      <p:sp>
        <p:nvSpPr>
          <p:cNvPr id="6" name="Shape 4"/>
          <p:cNvSpPr/>
          <p:nvPr/>
        </p:nvSpPr>
        <p:spPr>
          <a:xfrm>
            <a:off x="812800" y="2812203"/>
            <a:ext cx="10566400" cy="0"/>
          </a:xfrm>
          <a:prstGeom prst="line">
            <a:avLst/>
          </a:prstGeom>
          <a:noFill/>
          <a:ln w="6350">
            <a:solidFill>
              <a:srgbClr val="DCD8CD"/>
            </a:solidFill>
            <a:prstDash val="solid"/>
          </a:ln>
        </p:spPr>
      </p:sp>
      <p:sp>
        <p:nvSpPr>
          <p:cNvPr id="7" name="Text 5"/>
          <p:cNvSpPr/>
          <p:nvPr/>
        </p:nvSpPr>
        <p:spPr>
          <a:xfrm>
            <a:off x="812800" y="2291609"/>
            <a:ext cx="558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FA8"/>
                </a:solidFill>
                <a:latin typeface="Space Grotesk" pitchFamily="34" charset="0"/>
                <a:ea typeface="Space Grotesk" pitchFamily="34" charset="-122"/>
                <a:cs typeface="Space Grotesk" pitchFamily="34" charset="-120"/>
              </a:rPr>
              <a:t>02</a:t>
            </a:r>
            <a:endParaRPr lang="en-US" sz="2200" dirty="0"/>
          </a:p>
        </p:txBody>
      </p:sp>
      <p:sp>
        <p:nvSpPr>
          <p:cNvPr id="8" name="Text 6"/>
          <p:cNvSpPr/>
          <p:nvPr/>
        </p:nvSpPr>
        <p:spPr>
          <a:xfrm>
            <a:off x="1524000" y="2344950"/>
            <a:ext cx="759904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2236"/>
                </a:solidFill>
                <a:latin typeface="IBM Plex Sans" pitchFamily="34" charset="0"/>
                <a:ea typeface="IBM Plex Sans" pitchFamily="34" charset="-122"/>
                <a:cs typeface="IBM Plex Sans" pitchFamily="34" charset="-120"/>
              </a:rPr>
              <a:t>Build a semantic HTML5 page with lists, image, table, links and a form</a:t>
            </a:r>
            <a:endParaRPr lang="en-US" sz="1600" dirty="0"/>
          </a:p>
        </p:txBody>
      </p:sp>
      <p:sp>
        <p:nvSpPr>
          <p:cNvPr id="9" name="Shape 7"/>
          <p:cNvSpPr/>
          <p:nvPr/>
        </p:nvSpPr>
        <p:spPr>
          <a:xfrm>
            <a:off x="812800" y="3462973"/>
            <a:ext cx="10566400" cy="0"/>
          </a:xfrm>
          <a:prstGeom prst="line">
            <a:avLst/>
          </a:prstGeom>
          <a:noFill/>
          <a:ln w="6350">
            <a:solidFill>
              <a:srgbClr val="DCD8CD"/>
            </a:solidFill>
            <a:prstDash val="solid"/>
          </a:ln>
        </p:spPr>
      </p:sp>
      <p:sp>
        <p:nvSpPr>
          <p:cNvPr id="10" name="Text 8"/>
          <p:cNvSpPr/>
          <p:nvPr/>
        </p:nvSpPr>
        <p:spPr>
          <a:xfrm>
            <a:off x="812800" y="2942379"/>
            <a:ext cx="558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FA8"/>
                </a:solidFill>
                <a:latin typeface="Space Grotesk" pitchFamily="34" charset="0"/>
                <a:ea typeface="Space Grotesk" pitchFamily="34" charset="-122"/>
                <a:cs typeface="Space Grotesk" pitchFamily="34" charset="-120"/>
              </a:rPr>
              <a:t>03</a:t>
            </a:r>
            <a:endParaRPr lang="en-US" sz="2200" dirty="0"/>
          </a:p>
        </p:txBody>
      </p:sp>
      <p:sp>
        <p:nvSpPr>
          <p:cNvPr id="11" name="Text 9"/>
          <p:cNvSpPr/>
          <p:nvPr/>
        </p:nvSpPr>
        <p:spPr>
          <a:xfrm>
            <a:off x="1524000" y="2995718"/>
            <a:ext cx="651090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2236"/>
                </a:solidFill>
                <a:latin typeface="IBM Plex Sans" pitchFamily="34" charset="0"/>
                <a:ea typeface="IBM Plex Sans" pitchFamily="34" charset="-122"/>
                <a:cs typeface="IBM Plex Sans" pitchFamily="34" charset="-120"/>
              </a:rPr>
              <a:t>Style it with external CSS: selectors, box model and Flexbox</a:t>
            </a:r>
            <a:endParaRPr lang="en-US" sz="1600" dirty="0"/>
          </a:p>
        </p:txBody>
      </p:sp>
      <p:sp>
        <p:nvSpPr>
          <p:cNvPr id="12" name="Shape 10"/>
          <p:cNvSpPr/>
          <p:nvPr/>
        </p:nvSpPr>
        <p:spPr>
          <a:xfrm>
            <a:off x="812800" y="4113742"/>
            <a:ext cx="10566400" cy="0"/>
          </a:xfrm>
          <a:prstGeom prst="line">
            <a:avLst/>
          </a:prstGeom>
          <a:noFill/>
          <a:ln w="6350">
            <a:solidFill>
              <a:srgbClr val="DCD8CD"/>
            </a:solidFill>
            <a:prstDash val="solid"/>
          </a:ln>
        </p:spPr>
      </p:sp>
      <p:sp>
        <p:nvSpPr>
          <p:cNvPr id="13" name="Text 11"/>
          <p:cNvSpPr/>
          <p:nvPr/>
        </p:nvSpPr>
        <p:spPr>
          <a:xfrm>
            <a:off x="812800" y="3593148"/>
            <a:ext cx="558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FA8"/>
                </a:solidFill>
                <a:latin typeface="Space Grotesk" pitchFamily="34" charset="0"/>
                <a:ea typeface="Space Grotesk" pitchFamily="34" charset="-122"/>
                <a:cs typeface="Space Grotesk" pitchFamily="34" charset="-120"/>
              </a:rPr>
              <a:t>04</a:t>
            </a:r>
            <a:endParaRPr lang="en-US" sz="2200" dirty="0"/>
          </a:p>
        </p:txBody>
      </p:sp>
      <p:sp>
        <p:nvSpPr>
          <p:cNvPr id="14" name="Text 12"/>
          <p:cNvSpPr/>
          <p:nvPr/>
        </p:nvSpPr>
        <p:spPr>
          <a:xfrm>
            <a:off x="1524000" y="3646488"/>
            <a:ext cx="703135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2236"/>
                </a:solidFill>
                <a:latin typeface="IBM Plex Sans" pitchFamily="34" charset="0"/>
                <a:ea typeface="IBM Plex Sans" pitchFamily="34" charset="-122"/>
                <a:cs typeface="IBM Plex Sans" pitchFamily="34" charset="-120"/>
              </a:rPr>
              <a:t>Make it responsive with a media query and test it in device mode</a:t>
            </a:r>
            <a:endParaRPr lang="en-US" sz="1600" dirty="0"/>
          </a:p>
        </p:txBody>
      </p:sp>
      <p:sp>
        <p:nvSpPr>
          <p:cNvPr id="15" name="Text 13"/>
          <p:cNvSpPr/>
          <p:nvPr/>
        </p:nvSpPr>
        <p:spPr>
          <a:xfrm>
            <a:off x="812800" y="4243916"/>
            <a:ext cx="558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4531A"/>
                </a:solidFill>
                <a:latin typeface="Space Grotesk" pitchFamily="34" charset="0"/>
                <a:ea typeface="Space Grotesk" pitchFamily="34" charset="-122"/>
                <a:cs typeface="Space Grotesk" pitchFamily="34" charset="-120"/>
              </a:rPr>
              <a:t>05</a:t>
            </a:r>
            <a:endParaRPr lang="en-US" sz="2200" dirty="0"/>
          </a:p>
        </p:txBody>
      </p:sp>
      <p:sp>
        <p:nvSpPr>
          <p:cNvPr id="16" name="Text 14"/>
          <p:cNvSpPr/>
          <p:nvPr/>
        </p:nvSpPr>
        <p:spPr>
          <a:xfrm>
            <a:off x="1524000" y="4297257"/>
            <a:ext cx="695477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2236"/>
                </a:solidFill>
                <a:latin typeface="IBM Plex Sans" pitchFamily="34" charset="0"/>
                <a:ea typeface="IBM Plex Sans" pitchFamily="34" charset="-122"/>
                <a:cs typeface="IBM Plex Sans" pitchFamily="34" charset="-120"/>
              </a:rPr>
              <a:t>Track it with Git: init, add, commit, log, branch, checkout, merge</a:t>
            </a:r>
            <a:endParaRPr lang="en-US" sz="1600" dirty="0"/>
          </a:p>
        </p:txBody>
      </p:sp>
      <p:sp>
        <p:nvSpPr>
          <p:cNvPr id="17" name="Text 1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Day 1 · Covers CO1 and CO2 · Feeds CIE Project 1 (20 marks)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2236"/>
                </a:solidFill>
                <a:latin typeface="Space Grotesk" pitchFamily="34" charset="0"/>
                <a:ea typeface="Space Grotesk" pitchFamily="34" charset="-122"/>
                <a:cs typeface="Space Grotesk" pitchFamily="34" charset="-120"/>
              </a:rPr>
              <a:t>How today works: learn a little, build a lot</a:t>
            </a:r>
            <a:endParaRPr lang="en-US" sz="3200" dirty="0"/>
          </a:p>
        </p:txBody>
      </p:sp>
      <p:sp>
        <p:nvSpPr>
          <p:cNvPr id="3" name="Shape 1"/>
          <p:cNvSpPr/>
          <p:nvPr/>
        </p:nvSpPr>
        <p:spPr>
          <a:xfrm>
            <a:off x="812800" y="1564639"/>
            <a:ext cx="5181600" cy="2021523"/>
          </a:xfrm>
          <a:prstGeom prst="roundRect">
            <a:avLst>
              <a:gd name="adj" fmla="val 5026"/>
            </a:avLst>
          </a:prstGeom>
          <a:solidFill>
            <a:srgbClr val="FFFFFF"/>
          </a:solidFill>
          <a:ln/>
        </p:spPr>
      </p:sp>
      <p:sp>
        <p:nvSpPr>
          <p:cNvPr id="4" name="Shape 2"/>
          <p:cNvSpPr/>
          <p:nvPr/>
        </p:nvSpPr>
        <p:spPr>
          <a:xfrm>
            <a:off x="812800" y="1564639"/>
            <a:ext cx="5181600" cy="2021523"/>
          </a:xfrm>
          <a:custGeom>
            <a:avLst/>
            <a:gdLst/>
            <a:ahLst/>
            <a:cxnLst/>
            <a:rect l="l" t="t" r="r" b="b"/>
            <a:pathLst>
              <a:path w="5181600" h="2021523">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2F5FA8"/>
          </a:solidFill>
          <a:ln/>
        </p:spPr>
      </p:sp>
      <p:sp>
        <p:nvSpPr>
          <p:cNvPr id="5" name="Text 3"/>
          <p:cNvSpPr/>
          <p:nvPr/>
        </p:nvSpPr>
        <p:spPr>
          <a:xfrm>
            <a:off x="1092200" y="1894523"/>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6" name="Text 4"/>
          <p:cNvSpPr/>
          <p:nvPr/>
        </p:nvSpPr>
        <p:spPr>
          <a:xfrm>
            <a:off x="1092200" y="2311082"/>
            <a:ext cx="476148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A2236"/>
                </a:solidFill>
                <a:latin typeface="Space Grotesk" pitchFamily="34" charset="0"/>
                <a:ea typeface="Space Grotesk" pitchFamily="34" charset="-122"/>
                <a:cs typeface="Space Grotesk" pitchFamily="34" charset="-120"/>
              </a:rPr>
              <a:t>Light slides = theory</a:t>
            </a:r>
            <a:endParaRPr lang="en-US" sz="2200" dirty="0"/>
          </a:p>
        </p:txBody>
      </p:sp>
      <p:sp>
        <p:nvSpPr>
          <p:cNvPr id="7" name="Text 5"/>
          <p:cNvSpPr/>
          <p:nvPr/>
        </p:nvSpPr>
        <p:spPr>
          <a:xfrm>
            <a:off x="1092200" y="2773363"/>
            <a:ext cx="47614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266"/>
                </a:solidFill>
                <a:latin typeface="IBM Plex Sans" pitchFamily="34" charset="0"/>
                <a:ea typeface="IBM Plex Sans" pitchFamily="34" charset="-122"/>
                <a:cs typeface="IBM Plex Sans" pitchFamily="34" charset="-120"/>
              </a:rPr>
              <a:t>Never more than 7 minutes. One idea, one analogy, then straight to the keyboard.</a:t>
            </a:r>
            <a:endParaRPr lang="en-US" sz="1500" dirty="0"/>
          </a:p>
        </p:txBody>
      </p:sp>
      <p:sp>
        <p:nvSpPr>
          <p:cNvPr id="8" name="Shape 6"/>
          <p:cNvSpPr/>
          <p:nvPr/>
        </p:nvSpPr>
        <p:spPr>
          <a:xfrm>
            <a:off x="6197600" y="1564639"/>
            <a:ext cx="5181600" cy="2021523"/>
          </a:xfrm>
          <a:prstGeom prst="roundRect">
            <a:avLst>
              <a:gd name="adj" fmla="val 5026"/>
            </a:avLst>
          </a:prstGeom>
          <a:solidFill>
            <a:srgbClr val="141B2D"/>
          </a:solidFill>
          <a:ln/>
        </p:spPr>
      </p:sp>
      <p:sp>
        <p:nvSpPr>
          <p:cNvPr id="9" name="Shape 7"/>
          <p:cNvSpPr/>
          <p:nvPr/>
        </p:nvSpPr>
        <p:spPr>
          <a:xfrm>
            <a:off x="6197600" y="1564639"/>
            <a:ext cx="5181600" cy="2021523"/>
          </a:xfrm>
          <a:custGeom>
            <a:avLst/>
            <a:gdLst/>
            <a:ahLst/>
            <a:cxnLst/>
            <a:rect l="l" t="t" r="r" b="b"/>
            <a:pathLst>
              <a:path w="5181600" h="2021523">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F2994A"/>
          </a:solidFill>
          <a:ln/>
        </p:spPr>
      </p:sp>
      <p:sp>
        <p:nvSpPr>
          <p:cNvPr id="10" name="Text 8"/>
          <p:cNvSpPr/>
          <p:nvPr/>
        </p:nvSpPr>
        <p:spPr>
          <a:xfrm>
            <a:off x="6477000" y="1894523"/>
            <a:ext cx="1166072" cy="289560"/>
          </a:xfrm>
          <a:custGeom>
            <a:avLst/>
            <a:gdLst/>
            <a:ahLst/>
            <a:cxnLst/>
            <a:rect l="l" t="t" r="r" b="b"/>
            <a:pathLst>
              <a:path w="1166072" h="289560">
                <a:moveTo>
                  <a:pt x="144780" y="0"/>
                </a:moveTo>
                <a:lnTo>
                  <a:pt x="1021292" y="0"/>
                </a:lnTo>
                <a:arcTo hR="144780" wR="144780" stAng="16200000" swAng="5400000"/>
                <a:lnTo>
                  <a:pt x="1166072"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a:t>
            </a:r>
            <a:endParaRPr lang="en-US" sz="1200" dirty="0"/>
          </a:p>
        </p:txBody>
      </p:sp>
      <p:sp>
        <p:nvSpPr>
          <p:cNvPr id="11" name="Text 9"/>
          <p:cNvSpPr/>
          <p:nvPr/>
        </p:nvSpPr>
        <p:spPr>
          <a:xfrm>
            <a:off x="6477000" y="2311082"/>
            <a:ext cx="476148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1EA"/>
                </a:solidFill>
                <a:latin typeface="Space Grotesk" pitchFamily="34" charset="0"/>
                <a:ea typeface="Space Grotesk" pitchFamily="34" charset="-122"/>
                <a:cs typeface="Space Grotesk" pitchFamily="34" charset="-120"/>
              </a:rPr>
              <a:t>Dark slides = hands-on</a:t>
            </a:r>
            <a:endParaRPr lang="en-US" sz="2200" dirty="0"/>
          </a:p>
        </p:txBody>
      </p:sp>
      <p:sp>
        <p:nvSpPr>
          <p:cNvPr id="12" name="Text 10"/>
          <p:cNvSpPr/>
          <p:nvPr/>
        </p:nvSpPr>
        <p:spPr>
          <a:xfrm>
            <a:off x="6477000" y="2773363"/>
            <a:ext cx="47614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2D3"/>
                </a:solidFill>
                <a:latin typeface="IBM Plex Sans" pitchFamily="34" charset="0"/>
                <a:ea typeface="IBM Plex Sans" pitchFamily="34" charset="-122"/>
                <a:cs typeface="IBM Plex Sans" pitchFamily="34" charset="-120"/>
              </a:rPr>
              <a:t>Steps on the left, code on the right. Type it, save it, refresh it.</a:t>
            </a:r>
            <a:endParaRPr lang="en-US" sz="1500" dirty="0"/>
          </a:p>
        </p:txBody>
      </p:sp>
      <p:sp>
        <p:nvSpPr>
          <p:cNvPr id="13" name="Text 11"/>
          <p:cNvSpPr/>
          <p:nvPr/>
        </p:nvSpPr>
        <p:spPr>
          <a:xfrm>
            <a:off x="812800" y="3890962"/>
            <a:ext cx="3386667" cy="751840"/>
          </a:xfrm>
          <a:prstGeom prst="roundRect">
            <a:avLst>
              <a:gd name="adj" fmla="val 10135"/>
            </a:avLst>
          </a:prstGeom>
          <a:solidFill>
            <a:srgbClr val="E4F2E6"/>
          </a:solidFill>
          <a:ln/>
        </p:spPr>
        <p:txBody>
          <a:bodyPr wrap="square" lIns="155482" tIns="104682" rIns="64550" bIns="79282" rtlCol="0" anchor="t">
            <a:normAutofit/>
          </a:bodyPr>
          <a:lstStyle/>
          <a:p>
            <a:pPr algn="l"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Green sticky note</a:t>
            </a:r>
            <a:r>
              <a:rPr lang="en-US" sz="1400" dirty="0">
                <a:solidFill>
                  <a:srgbClr val="1A2236"/>
                </a:solidFill>
                <a:latin typeface="IBM Plex Sans" pitchFamily="34" charset="0"/>
                <a:ea typeface="IBM Plex Sans" pitchFamily="34" charset="-122"/>
                <a:cs typeface="IBM Plex Sans" pitchFamily="34" charset="-120"/>
              </a:rPr>
              <a:t> = I’m done</a:t>
            </a:r>
            <a:endParaRPr lang="en-US" sz="1400" dirty="0"/>
          </a:p>
        </p:txBody>
      </p:sp>
      <p:sp>
        <p:nvSpPr>
          <p:cNvPr id="14" name="Text 12"/>
          <p:cNvSpPr/>
          <p:nvPr/>
        </p:nvSpPr>
        <p:spPr>
          <a:xfrm>
            <a:off x="4402667" y="3890962"/>
            <a:ext cx="3386667" cy="751840"/>
          </a:xfrm>
          <a:prstGeom prst="roundRect">
            <a:avLst>
              <a:gd name="adj" fmla="val 10135"/>
            </a:avLst>
          </a:prstGeom>
          <a:solidFill>
            <a:srgbClr val="F8E1DC"/>
          </a:solidFill>
          <a:ln/>
        </p:spPr>
        <p:txBody>
          <a:bodyPr wrap="square" lIns="155482" tIns="104682" rIns="64550" bIns="79282" rtlCol="0" anchor="t">
            <a:normAutofit/>
          </a:bodyPr>
          <a:lstStyle/>
          <a:p>
            <a:pPr algn="l"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Red sticky note</a:t>
            </a:r>
            <a:r>
              <a:rPr lang="en-US" sz="1400" dirty="0">
                <a:solidFill>
                  <a:srgbClr val="1A2236"/>
                </a:solidFill>
                <a:latin typeface="IBM Plex Sans" pitchFamily="34" charset="0"/>
                <a:ea typeface="IBM Plex Sans" pitchFamily="34" charset="-122"/>
                <a:cs typeface="IBM Plex Sans" pitchFamily="34" charset="-120"/>
              </a:rPr>
              <a:t> = I’m stuck, help me</a:t>
            </a:r>
            <a:endParaRPr lang="en-US" sz="1400" dirty="0"/>
          </a:p>
        </p:txBody>
      </p:sp>
      <p:sp>
        <p:nvSpPr>
          <p:cNvPr id="15" name="Text 13"/>
          <p:cNvSpPr/>
          <p:nvPr/>
        </p:nvSpPr>
        <p:spPr>
          <a:xfrm>
            <a:off x="7992533" y="3890962"/>
            <a:ext cx="3386667" cy="751840"/>
          </a:xfrm>
          <a:prstGeom prst="roundRect">
            <a:avLst>
              <a:gd name="adj" fmla="val 10135"/>
            </a:avLst>
          </a:prstGeom>
          <a:solidFill>
            <a:srgbClr val="E3E9F5"/>
          </a:solidFill>
          <a:ln/>
        </p:spPr>
        <p:txBody>
          <a:bodyPr wrap="square" lIns="155482" tIns="104682" rIns="64550" bIns="79282" rtlCol="0" anchor="t">
            <a:normAutofit/>
          </a:bodyPr>
          <a:lstStyle/>
          <a:p>
            <a:pPr algn="l"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Predict, then run</a:t>
            </a:r>
            <a:r>
              <a:rPr lang="en-US" sz="1400" dirty="0">
                <a:solidFill>
                  <a:srgbClr val="1A2236"/>
                </a:solidFill>
                <a:latin typeface="IBM Plex Sans" pitchFamily="34" charset="0"/>
                <a:ea typeface="IBM Plex Sans" pitchFamily="34" charset="-122"/>
                <a:cs typeface="IBM Plex Sans" pitchFamily="34" charset="-120"/>
              </a:rPr>
              <a:t> before every change</a:t>
            </a:r>
            <a:endParaRPr lang="en-US" sz="140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Day 1 · Web Foundations &amp; Git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1166072" cy="289560"/>
          </a:xfrm>
          <a:custGeom>
            <a:avLst/>
            <a:gdLst/>
            <a:ahLst/>
            <a:cxnLst/>
            <a:rect l="l" t="t" r="r" b="b"/>
            <a:pathLst>
              <a:path w="1166072" h="289560">
                <a:moveTo>
                  <a:pt x="144780" y="0"/>
                </a:moveTo>
                <a:lnTo>
                  <a:pt x="1021292" y="0"/>
                </a:lnTo>
                <a:arcTo hR="144780" wR="144780" stAng="16200000" swAng="5400000"/>
                <a:lnTo>
                  <a:pt x="1166072"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a:t>
            </a:r>
            <a:endParaRPr lang="en-US" sz="1200" dirty="0"/>
          </a:p>
        </p:txBody>
      </p:sp>
      <p:sp>
        <p:nvSpPr>
          <p:cNvPr id="3" name="Text 1"/>
          <p:cNvSpPr/>
          <p:nvPr/>
        </p:nvSpPr>
        <p:spPr>
          <a:xfrm>
            <a:off x="2105872" y="850900"/>
            <a:ext cx="191693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9:30 AM · 8 min · Hook</a:t>
            </a:r>
            <a:endParaRPr lang="en-US" sz="1200" dirty="0"/>
          </a:p>
        </p:txBody>
      </p:sp>
      <p:sp>
        <p:nvSpPr>
          <p:cNvPr id="4" name="Text 2"/>
          <p:cNvSpPr/>
          <p:nvPr>
            <p:ph type="title"/>
          </p:nvPr>
        </p:nvSpPr>
        <p:spPr>
          <a:xfrm>
            <a:off x="812800" y="13309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3F1EA"/>
                </a:solidFill>
                <a:latin typeface="Space Grotesk" pitchFamily="34" charset="0"/>
                <a:ea typeface="Space Grotesk" pitchFamily="34" charset="-122"/>
                <a:cs typeface="Space Grotesk" pitchFamily="34" charset="-120"/>
              </a:rPr>
              <a:t>Hack the college website (legally)</a:t>
            </a:r>
            <a:endParaRPr lang="en-US" sz="3000" dirty="0"/>
          </a:p>
        </p:txBody>
      </p:sp>
      <p:sp>
        <p:nvSpPr>
          <p:cNvPr id="5" name="Text 3"/>
          <p:cNvSpPr/>
          <p:nvPr/>
        </p:nvSpPr>
        <p:spPr>
          <a:xfrm>
            <a:off x="855663" y="1978661"/>
            <a:ext cx="4920298" cy="1739900"/>
          </a:xfrm>
          <a:prstGeom prst="rect">
            <a:avLst/>
          </a:prstGeom>
          <a:noFill/>
          <a:ln/>
        </p:spPr>
        <p:txBody>
          <a:bodyPr wrap="square" lIns="0" tIns="0" rIns="0" bIns="0" rtlCol="0" anchor="t">
            <a:normAutofit/>
          </a:bodyPr>
          <a:lstStyle/>
          <a:p>
            <a:pPr algn="l" marL="211138" indent="-211138">
              <a:lnSpc>
                <a:spcPts val="2250"/>
              </a:lnSpc>
              <a:buSzPct val="100000"/>
              <a:buFontTx/>
              <a:buAutoNum type="arabicPeriod" startAt="1"/>
            </a:pPr>
            <a:r>
              <a:rPr lang="en-US" sz="1500" dirty="0">
                <a:solidFill>
                  <a:srgbClr val="E3E8F1"/>
                </a:solidFill>
                <a:latin typeface="IBM Plex Sans" pitchFamily="34" charset="0"/>
                <a:ea typeface="IBM Plex Sans" pitchFamily="34" charset="-122"/>
                <a:cs typeface="IBM Plex Sans" pitchFamily="34" charset="-120"/>
              </a:rPr>
              <a:t>Open </a:t>
            </a:r>
            <a:r>
              <a:rPr lang="en-US" sz="1500" b="1" dirty="0">
                <a:solidFill>
                  <a:srgbClr val="E3E8F1"/>
                </a:solidFill>
                <a:latin typeface="IBM Plex Sans" pitchFamily="34" charset="0"/>
                <a:ea typeface="IBM Plex Sans" pitchFamily="34" charset="-122"/>
                <a:cs typeface="IBM Plex Sans" pitchFamily="34" charset="-120"/>
              </a:rPr>
              <a:t>rvce.edu.in</a:t>
            </a:r>
            <a:r>
              <a:rPr lang="en-US" sz="1500" dirty="0">
                <a:solidFill>
                  <a:srgbClr val="E3E8F1"/>
                </a:solidFill>
                <a:latin typeface="IBM Plex Sans" pitchFamily="34" charset="0"/>
                <a:ea typeface="IBM Plex Sans" pitchFamily="34" charset="-122"/>
                <a:cs typeface="IBM Plex Sans" pitchFamily="34" charset="-120"/>
              </a:rPr>
              <a:t> in Chrome</a:t>
            </a:r>
            <a:endParaRPr lang="en-US" sz="1500" dirty="0"/>
          </a:p>
          <a:p>
            <a:pPr algn="l" marL="211138" indent="-211138">
              <a:lnSpc>
                <a:spcPts val="2250"/>
              </a:lnSpc>
              <a:buSzPct val="100000"/>
              <a:buFontTx/>
              <a:buAutoNum type="arabicPeriod" startAt="1"/>
            </a:pPr>
            <a:r>
              <a:rPr lang="en-US" sz="1500" dirty="0">
                <a:solidFill>
                  <a:srgbClr val="E3E8F1"/>
                </a:solidFill>
                <a:latin typeface="IBM Plex Sans" pitchFamily="34" charset="0"/>
                <a:ea typeface="IBM Plex Sans" pitchFamily="34" charset="-122"/>
                <a:cs typeface="IBM Plex Sans" pitchFamily="34" charset="-120"/>
              </a:rPr>
              <a:t>Right-click any heading → </a:t>
            </a:r>
            <a:r>
              <a:rPr lang="en-US" sz="1500" b="1" dirty="0">
                <a:solidFill>
                  <a:srgbClr val="E3E8F1"/>
                </a:solidFill>
                <a:latin typeface="IBM Plex Sans" pitchFamily="34" charset="0"/>
                <a:ea typeface="IBM Plex Sans" pitchFamily="34" charset="-122"/>
                <a:cs typeface="IBM Plex Sans" pitchFamily="34" charset="-120"/>
              </a:rPr>
              <a:t>Inspect</a:t>
            </a:r>
            <a:endParaRPr lang="en-US" sz="1500" dirty="0"/>
          </a:p>
          <a:p>
            <a:pPr algn="l" marL="211138" indent="-211138">
              <a:lnSpc>
                <a:spcPts val="2250"/>
              </a:lnSpc>
              <a:buSzPct val="100000"/>
              <a:buFontTx/>
              <a:buAutoNum type="arabicPeriod" startAt="1"/>
            </a:pPr>
            <a:r>
              <a:rPr lang="en-US" sz="1500" dirty="0">
                <a:solidFill>
                  <a:srgbClr val="E3E8F1"/>
                </a:solidFill>
                <a:latin typeface="IBM Plex Sans" pitchFamily="34" charset="0"/>
                <a:ea typeface="IBM Plex Sans" pitchFamily="34" charset="-122"/>
                <a:cs typeface="IBM Plex Sans" pitchFamily="34" charset="-120"/>
              </a:rPr>
              <a:t>In the Elements panel, double-click the heading text</a:t>
            </a:r>
            <a:endParaRPr lang="en-US" sz="1500" dirty="0"/>
          </a:p>
          <a:p>
            <a:pPr algn="l" marL="211138" indent="-211138">
              <a:lnSpc>
                <a:spcPts val="2250"/>
              </a:lnSpc>
              <a:buSzPct val="100000"/>
              <a:buFontTx/>
              <a:buAutoNum type="arabicPeriod" startAt="1"/>
            </a:pPr>
            <a:r>
              <a:rPr lang="en-US" sz="1500" dirty="0">
                <a:solidFill>
                  <a:srgbClr val="E3E8F1"/>
                </a:solidFill>
                <a:latin typeface="IBM Plex Sans" pitchFamily="34" charset="0"/>
                <a:ea typeface="IBM Plex Sans" pitchFamily="34" charset="-122"/>
                <a:cs typeface="IBM Plex Sans" pitchFamily="34" charset="-120"/>
              </a:rPr>
              <a:t>Type </a:t>
            </a:r>
            <a:r>
              <a:rPr lang="en-US" sz="1500" b="1" dirty="0">
                <a:solidFill>
                  <a:srgbClr val="E3E8F1"/>
                </a:solidFill>
                <a:latin typeface="IBM Plex Sans" pitchFamily="34" charset="0"/>
                <a:ea typeface="IBM Plex Sans" pitchFamily="34" charset="-122"/>
                <a:cs typeface="IBM Plex Sans" pitchFamily="34" charset="-120"/>
              </a:rPr>
              <a:t>Welcome to Full Stack Day!</a:t>
            </a:r>
            <a:r>
              <a:rPr lang="en-US" sz="1500" dirty="0">
                <a:solidFill>
                  <a:srgbClr val="E3E8F1"/>
                </a:solidFill>
                <a:latin typeface="IBM Plex Sans" pitchFamily="34" charset="0"/>
                <a:ea typeface="IBM Plex Sans" pitchFamily="34" charset="-122"/>
                <a:cs typeface="IBM Plex Sans" pitchFamily="34" charset="-120"/>
              </a:rPr>
              <a:t> and press Enter</a:t>
            </a:r>
            <a:endParaRPr lang="en-US" sz="1500" dirty="0"/>
          </a:p>
          <a:p>
            <a:pPr algn="l" marL="211138" indent="-211138">
              <a:lnSpc>
                <a:spcPts val="2250"/>
              </a:lnSpc>
              <a:buSzPct val="100000"/>
              <a:buFontTx/>
              <a:buAutoNum type="arabicPeriod" startAt="1"/>
            </a:pPr>
            <a:r>
              <a:rPr lang="en-US" sz="1500" dirty="0">
                <a:solidFill>
                  <a:srgbClr val="E3E8F1"/>
                </a:solidFill>
                <a:latin typeface="IBM Plex Sans" pitchFamily="34" charset="0"/>
                <a:ea typeface="IBM Plex Sans" pitchFamily="34" charset="-122"/>
                <a:cs typeface="IBM Plex Sans" pitchFamily="34" charset="-120"/>
              </a:rPr>
              <a:t>Look at the page. You changed it!</a:t>
            </a:r>
            <a:endParaRPr lang="en-US" sz="1500" dirty="0"/>
          </a:p>
          <a:p>
            <a:pPr algn="l" marL="211138" indent="-211138">
              <a:lnSpc>
                <a:spcPts val="2250"/>
              </a:lnSpc>
              <a:buSzPct val="100000"/>
              <a:buFontTx/>
              <a:buAutoNum type="arabicPeriod" startAt="1"/>
            </a:pPr>
            <a:r>
              <a:rPr lang="en-US" sz="1500" dirty="0">
                <a:solidFill>
                  <a:srgbClr val="E3E8F1"/>
                </a:solidFill>
                <a:latin typeface="IBM Plex Sans" pitchFamily="34" charset="0"/>
                <a:ea typeface="IBM Plex Sans" pitchFamily="34" charset="-122"/>
                <a:cs typeface="IBM Plex Sans" pitchFamily="34" charset="-120"/>
              </a:rPr>
              <a:t>Now press </a:t>
            </a:r>
            <a:r>
              <a:rPr lang="en-US" sz="1500" b="1" dirty="0">
                <a:solidFill>
                  <a:srgbClr val="E3E8F1"/>
                </a:solidFill>
                <a:latin typeface="IBM Plex Sans" pitchFamily="34" charset="0"/>
                <a:ea typeface="IBM Plex Sans" pitchFamily="34" charset="-122"/>
                <a:cs typeface="IBM Plex Sans" pitchFamily="34" charset="-120"/>
              </a:rPr>
              <a:t>F5</a:t>
            </a:r>
            <a:r>
              <a:rPr lang="en-US" sz="1500" dirty="0">
                <a:solidFill>
                  <a:srgbClr val="E3E8F1"/>
                </a:solidFill>
                <a:latin typeface="IBM Plex Sans" pitchFamily="34" charset="0"/>
                <a:ea typeface="IBM Plex Sans" pitchFamily="34" charset="-122"/>
                <a:cs typeface="IBM Plex Sans" pitchFamily="34" charset="-120"/>
              </a:rPr>
              <a:t> to refresh</a:t>
            </a:r>
            <a:endParaRPr lang="en-US" sz="1500" dirty="0"/>
          </a:p>
        </p:txBody>
      </p:sp>
      <p:sp>
        <p:nvSpPr>
          <p:cNvPr id="6" name="Shape 4"/>
          <p:cNvSpPr/>
          <p:nvPr/>
        </p:nvSpPr>
        <p:spPr>
          <a:xfrm>
            <a:off x="5946775" y="1981836"/>
            <a:ext cx="5429250" cy="2897928"/>
          </a:xfrm>
          <a:prstGeom prst="roundRect">
            <a:avLst>
              <a:gd name="adj" fmla="val 3396"/>
            </a:avLst>
          </a:prstGeom>
          <a:solidFill>
            <a:srgbClr val="0D1220"/>
          </a:solidFill>
          <a:ln w="6350">
            <a:solidFill>
              <a:srgbClr val="2A3550"/>
            </a:solidFill>
            <a:prstDash val="solid"/>
          </a:ln>
        </p:spPr>
      </p:sp>
      <p:sp>
        <p:nvSpPr>
          <p:cNvPr id="7" name="Text 5"/>
          <p:cNvSpPr/>
          <p:nvPr/>
        </p:nvSpPr>
        <p:spPr>
          <a:xfrm>
            <a:off x="6177809" y="2212870"/>
            <a:ext cx="51161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BA3"/>
                </a:solidFill>
                <a:latin typeface="IBM Plex Sans" pitchFamily="34" charset="0"/>
                <a:ea typeface="IBM Plex Sans" pitchFamily="34" charset="-122"/>
                <a:cs typeface="IBM Plex Sans" pitchFamily="34" charset="-120"/>
              </a:rPr>
              <a:t>ELEMENTS PANEL</a:t>
            </a:r>
            <a:endParaRPr lang="en-US" sz="1200" dirty="0"/>
          </a:p>
        </p:txBody>
      </p:sp>
      <p:sp>
        <p:nvSpPr>
          <p:cNvPr id="8" name="Text 6"/>
          <p:cNvSpPr/>
          <p:nvPr/>
        </p:nvSpPr>
        <p:spPr>
          <a:xfrm>
            <a:off x="6177809" y="2553230"/>
            <a:ext cx="5116197"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3E8F1"/>
                </a:solidFill>
                <a:latin typeface="JetBrains Mono" pitchFamily="49" charset="0"/>
                <a:ea typeface="JetBrains Mono" pitchFamily="49" charset="-122"/>
                <a:cs typeface="JetBrains Mono" pitchFamily="49" charset="-120"/>
              </a:rPr>
              <a:t>&lt;h1 class="title"&gt;</a:t>
            </a:r>
            <a:endParaRPr lang="en-US" sz="1300" dirty="0"/>
          </a:p>
          <a:p>
            <a:pPr algn="l" indent="0" marL="0">
              <a:lnSpc>
                <a:spcPts val="1950"/>
              </a:lnSpc>
              <a:buNone/>
            </a:pPr>
            <a:r>
              <a:rPr lang="en-US" sz="1300" dirty="0">
                <a:solidFill>
                  <a:srgbClr val="E3E8F1"/>
                </a:solidFill>
                <a:latin typeface="JetBrains Mono" pitchFamily="49" charset="0"/>
                <a:ea typeface="JetBrains Mono" pitchFamily="49" charset="-122"/>
                <a:cs typeface="JetBrains Mono" pitchFamily="49" charset="-120"/>
              </a:rPr>
              <a:t>  </a:t>
            </a:r>
            <a:r>
              <a:rPr lang="en-US" sz="1300" dirty="0">
                <a:solidFill>
                  <a:srgbClr val="7F8BA3"/>
                </a:solidFill>
                <a:latin typeface="JetBrains Mono" pitchFamily="49" charset="0"/>
                <a:ea typeface="JetBrains Mono" pitchFamily="49" charset="-122"/>
                <a:cs typeface="JetBrains Mono" pitchFamily="49" charset="-120"/>
              </a:rPr>
              <a:t>RV College of Engineering</a:t>
            </a:r>
            <a:endParaRPr lang="en-US" sz="1300" dirty="0"/>
          </a:p>
          <a:p>
            <a:pPr algn="l" indent="0" marL="0">
              <a:lnSpc>
                <a:spcPts val="1950"/>
              </a:lnSpc>
              <a:buNone/>
            </a:pPr>
            <a:r>
              <a:rPr lang="en-US" sz="1300" dirty="0">
                <a:solidFill>
                  <a:srgbClr val="E3E8F1"/>
                </a:solidFill>
                <a:latin typeface="JetBrains Mono" pitchFamily="49" charset="0"/>
                <a:ea typeface="JetBrains Mono" pitchFamily="49" charset="-122"/>
                <a:cs typeface="JetBrains Mono" pitchFamily="49" charset="-120"/>
              </a:rPr>
              <a:t>&lt;/h1&gt;</a:t>
            </a:r>
            <a:endParaRPr lang="en-US" sz="1300" dirty="0"/>
          </a:p>
        </p:txBody>
      </p:sp>
      <p:pic>
        <p:nvPicPr>
          <p:cNvPr id="9" name="Image 0" descr="Lightning">    </p:cNvPr>
          <p:cNvPicPr>
            <a:picLocks noChangeAspect="1"/>
          </p:cNvPicPr>
          <p:nvPr/>
        </p:nvPicPr>
        <p:blipFill>
          <a:blip r:embed="rId1"/>
          <a:srcRect l="0" r="0" t="0" b="0"/>
          <a:stretch/>
        </p:blipFill>
        <p:spPr>
          <a:xfrm>
            <a:off x="6177809" y="3423180"/>
            <a:ext cx="355600" cy="355600"/>
          </a:xfrm>
          <a:prstGeom prst="rect">
            <a:avLst/>
          </a:prstGeom>
        </p:spPr>
      </p:pic>
      <p:sp>
        <p:nvSpPr>
          <p:cNvPr id="10" name="Text 7"/>
          <p:cNvSpPr/>
          <p:nvPr/>
        </p:nvSpPr>
        <p:spPr>
          <a:xfrm>
            <a:off x="6177809" y="3905780"/>
            <a:ext cx="5116197"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3E8F1"/>
                </a:solidFill>
                <a:latin typeface="JetBrains Mono" pitchFamily="49" charset="0"/>
                <a:ea typeface="JetBrains Mono" pitchFamily="49" charset="-122"/>
                <a:cs typeface="JetBrains Mono" pitchFamily="49" charset="-120"/>
              </a:rPr>
              <a:t>&lt;h1 class="title"&gt;</a:t>
            </a:r>
            <a:endParaRPr lang="en-US" sz="1300" dirty="0"/>
          </a:p>
          <a:p>
            <a:pPr algn="l" indent="0" marL="0">
              <a:lnSpc>
                <a:spcPts val="1950"/>
              </a:lnSpc>
              <a:buNone/>
            </a:pPr>
            <a:r>
              <a:rPr lang="en-US" sz="1300" dirty="0">
                <a:solidFill>
                  <a:srgbClr val="E3E8F1"/>
                </a:solidFill>
                <a:latin typeface="JetBrains Mono" pitchFamily="49" charset="0"/>
                <a:ea typeface="JetBrains Mono" pitchFamily="49" charset="-122"/>
                <a:cs typeface="JetBrains Mono" pitchFamily="49" charset="-120"/>
              </a:rPr>
              <a:t>  </a:t>
            </a:r>
            <a:r>
              <a:rPr lang="en-US" sz="1300" dirty="0">
                <a:solidFill>
                  <a:srgbClr val="F2994A"/>
                </a:solidFill>
                <a:latin typeface="JetBrains Mono" pitchFamily="49" charset="0"/>
                <a:ea typeface="JetBrains Mono" pitchFamily="49" charset="-122"/>
                <a:cs typeface="JetBrains Mono" pitchFamily="49" charset="-120"/>
              </a:rPr>
              <a:t>Welcome to Full Stack Day!</a:t>
            </a:r>
            <a:endParaRPr lang="en-US" sz="1300" dirty="0"/>
          </a:p>
          <a:p>
            <a:pPr algn="l" indent="0" marL="0">
              <a:lnSpc>
                <a:spcPts val="1950"/>
              </a:lnSpc>
              <a:buNone/>
            </a:pPr>
            <a:r>
              <a:rPr lang="en-US" sz="1300" dirty="0">
                <a:solidFill>
                  <a:srgbClr val="E3E8F1"/>
                </a:solidFill>
                <a:latin typeface="JetBrains Mono" pitchFamily="49" charset="0"/>
                <a:ea typeface="JetBrains Mono" pitchFamily="49" charset="-122"/>
                <a:cs typeface="JetBrains Mono" pitchFamily="49" charset="-120"/>
              </a:rPr>
              <a:t>&lt;/h1&gt;</a:t>
            </a:r>
            <a:endParaRPr lang="en-US" sz="1300" dirty="0"/>
          </a:p>
        </p:txBody>
      </p:sp>
      <p:sp>
        <p:nvSpPr>
          <p:cNvPr id="11" name="Text 8"/>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Shortcut: F12 or Ctrl+Shift+I opens Developer Tools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994A"/>
        </a:solidFill>
      </p:bgPr>
    </p:bg>
    <p:spTree>
      <p:nvGrpSpPr>
        <p:cNvPr id="1" name=""/>
        <p:cNvGrpSpPr/>
        <p:nvPr/>
      </p:nvGrpSpPr>
      <p:grpSpPr>
        <a:xfrm>
          <a:off x="0" y="0"/>
          <a:ext cx="0" cy="0"/>
          <a:chOff x="0" y="0"/>
          <a:chExt cx="0" cy="0"/>
        </a:xfrm>
      </p:grpSpPr>
      <p:sp>
        <p:nvSpPr>
          <p:cNvPr id="2" name="Text 0"/>
          <p:cNvSpPr/>
          <p:nvPr>
            <p:ph type="title"/>
          </p:nvPr>
        </p:nvSpPr>
        <p:spPr>
          <a:xfrm>
            <a:off x="812800" y="262890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41B2D"/>
                </a:solidFill>
                <a:latin typeface="Space Grotesk" pitchFamily="34" charset="0"/>
                <a:ea typeface="Space Grotesk" pitchFamily="34" charset="-122"/>
                <a:cs typeface="Space Grotesk" pitchFamily="34" charset="-120"/>
              </a:rPr>
              <a:t>Why did my hack</a:t>
            </a:r>
            <a:endParaRPr lang="en-US" sz="6000" dirty="0"/>
          </a:p>
          <a:p>
            <a:pPr algn="l" indent="0" marL="0">
              <a:lnSpc>
                <a:spcPts val="6300"/>
              </a:lnSpc>
              <a:buNone/>
            </a:pPr>
            <a:r>
              <a:rPr lang="en-US" sz="6000" b="1" i="0" dirty="0">
                <a:solidFill>
                  <a:srgbClr val="141B2D"/>
                </a:solidFill>
                <a:latin typeface="Space Grotesk" pitchFamily="34" charset="0"/>
                <a:ea typeface="Space Grotesk" pitchFamily="34" charset="-122"/>
                <a:cs typeface="Space Grotesk" pitchFamily="34" charset="-120"/>
              </a:rPr>
              <a:t>disappear?</a:t>
            </a:r>
            <a:endParaRPr lang="en-US" sz="6000" dirty="0"/>
          </a:p>
        </p:txBody>
      </p:sp>
      <p:sp>
        <p:nvSpPr>
          <p:cNvPr id="3" name="Shape 1"/>
          <p:cNvSpPr/>
          <p:nvPr/>
        </p:nvSpPr>
        <p:spPr>
          <a:xfrm>
            <a:off x="812800" y="4064000"/>
            <a:ext cx="5181600" cy="1397000"/>
          </a:xfrm>
          <a:prstGeom prst="roundRect">
            <a:avLst>
              <a:gd name="adj" fmla="val 7273"/>
            </a:avLst>
          </a:prstGeom>
          <a:solidFill>
            <a:srgbClr val="141B2D"/>
          </a:solidFill>
          <a:ln/>
        </p:spPr>
      </p:sp>
      <p:sp>
        <p:nvSpPr>
          <p:cNvPr id="4" name="Text 2"/>
          <p:cNvSpPr/>
          <p:nvPr/>
        </p:nvSpPr>
        <p:spPr>
          <a:xfrm>
            <a:off x="1066800" y="4267200"/>
            <a:ext cx="48138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94A"/>
                </a:solidFill>
                <a:latin typeface="IBM Plex Sans" pitchFamily="34" charset="0"/>
                <a:ea typeface="IBM Plex Sans" pitchFamily="34" charset="-122"/>
                <a:cs typeface="IBM Plex Sans" pitchFamily="34" charset="-120"/>
              </a:rPr>
              <a:t>WHAT YOU EDITED</a:t>
            </a:r>
            <a:endParaRPr lang="en-US" sz="1200" dirty="0"/>
          </a:p>
        </p:txBody>
      </p:sp>
      <p:sp>
        <p:nvSpPr>
          <p:cNvPr id="5" name="Text 3"/>
          <p:cNvSpPr/>
          <p:nvPr/>
        </p:nvSpPr>
        <p:spPr>
          <a:xfrm>
            <a:off x="1066800" y="4531361"/>
            <a:ext cx="4813808"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3F1EA"/>
                </a:solidFill>
                <a:latin typeface="IBM Plex Sans" pitchFamily="34" charset="0"/>
                <a:ea typeface="IBM Plex Sans" pitchFamily="34" charset="-122"/>
                <a:cs typeface="IBM Plex Sans" pitchFamily="34" charset="-120"/>
              </a:rPr>
              <a:t>Your browser’s copy of the page: the </a:t>
            </a:r>
            <a:r>
              <a:rPr lang="en-US" sz="1700" b="1" dirty="0">
                <a:solidFill>
                  <a:srgbClr val="F3F1EA"/>
                </a:solidFill>
                <a:latin typeface="IBM Plex Sans" pitchFamily="34" charset="0"/>
                <a:ea typeface="IBM Plex Sans" pitchFamily="34" charset="-122"/>
                <a:cs typeface="IBM Plex Sans" pitchFamily="34" charset="-120"/>
              </a:rPr>
              <a:t>client</a:t>
            </a:r>
            <a:endParaRPr lang="en-US" sz="1700" dirty="0"/>
          </a:p>
        </p:txBody>
      </p:sp>
      <p:sp>
        <p:nvSpPr>
          <p:cNvPr id="6" name="Shape 4"/>
          <p:cNvSpPr/>
          <p:nvPr/>
        </p:nvSpPr>
        <p:spPr>
          <a:xfrm>
            <a:off x="6197600" y="4064000"/>
            <a:ext cx="5181600" cy="1397000"/>
          </a:xfrm>
          <a:prstGeom prst="roundRect">
            <a:avLst>
              <a:gd name="adj" fmla="val 7273"/>
            </a:avLst>
          </a:prstGeom>
          <a:solidFill>
            <a:srgbClr val="141B2D"/>
          </a:solidFill>
          <a:ln/>
        </p:spPr>
      </p:sp>
      <p:sp>
        <p:nvSpPr>
          <p:cNvPr id="7" name="Text 5"/>
          <p:cNvSpPr/>
          <p:nvPr/>
        </p:nvSpPr>
        <p:spPr>
          <a:xfrm>
            <a:off x="6451600" y="4267200"/>
            <a:ext cx="48138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94A"/>
                </a:solidFill>
                <a:latin typeface="IBM Plex Sans" pitchFamily="34" charset="0"/>
                <a:ea typeface="IBM Plex Sans" pitchFamily="34" charset="-122"/>
                <a:cs typeface="IBM Plex Sans" pitchFamily="34" charset="-120"/>
              </a:rPr>
              <a:t>WHERE THE REAL PAGE LIVES</a:t>
            </a:r>
            <a:endParaRPr lang="en-US" sz="1200" dirty="0"/>
          </a:p>
        </p:txBody>
      </p:sp>
      <p:sp>
        <p:nvSpPr>
          <p:cNvPr id="8" name="Text 6"/>
          <p:cNvSpPr/>
          <p:nvPr/>
        </p:nvSpPr>
        <p:spPr>
          <a:xfrm>
            <a:off x="6451600" y="4531361"/>
            <a:ext cx="4813808"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3F1EA"/>
                </a:solidFill>
                <a:latin typeface="IBM Plex Sans" pitchFamily="34" charset="0"/>
                <a:ea typeface="IBM Plex Sans" pitchFamily="34" charset="-122"/>
                <a:cs typeface="IBM Plex Sans" pitchFamily="34" charset="-120"/>
              </a:rPr>
              <a:t>On RVCE’s computer: the </a:t>
            </a:r>
            <a:r>
              <a:rPr lang="en-US" sz="1700" b="1" dirty="0">
                <a:solidFill>
                  <a:srgbClr val="F3F1EA"/>
                </a:solidFill>
                <a:latin typeface="IBM Plex Sans" pitchFamily="34" charset="0"/>
                <a:ea typeface="IBM Plex Sans" pitchFamily="34" charset="-122"/>
                <a:cs typeface="IBM Plex Sans" pitchFamily="34" charset="-120"/>
              </a:rPr>
              <a:t>server</a:t>
            </a:r>
            <a:r>
              <a:rPr lang="en-US" sz="1700" dirty="0">
                <a:solidFill>
                  <a:srgbClr val="F3F1EA"/>
                </a:solidFill>
                <a:latin typeface="IBM Plex Sans" pitchFamily="34" charset="0"/>
                <a:ea typeface="IBM Plex Sans" pitchFamily="34" charset="-122"/>
                <a:cs typeface="IBM Plex Sans" pitchFamily="34" charset="-120"/>
              </a:rPr>
              <a:t>. Refresh = ask again.</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290245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9:38 AM · Full-stack = three layers</a:t>
            </a:r>
            <a:endParaRPr lang="en-US" sz="1200" dirty="0"/>
          </a:p>
        </p:txBody>
      </p:sp>
      <p:sp>
        <p:nvSpPr>
          <p:cNvPr id="4" name="Text 2"/>
          <p:cNvSpPr/>
          <p:nvPr>
            <p:ph type="title"/>
          </p:nvPr>
        </p:nvSpPr>
        <p:spPr>
          <a:xfrm>
            <a:off x="812800" y="13309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A full-stack app has three layers</a:t>
            </a:r>
            <a:endParaRPr lang="en-US" sz="3000" dirty="0"/>
          </a:p>
        </p:txBody>
      </p:sp>
      <p:sp>
        <p:nvSpPr>
          <p:cNvPr id="5" name="Shape 3"/>
          <p:cNvSpPr/>
          <p:nvPr/>
        </p:nvSpPr>
        <p:spPr>
          <a:xfrm>
            <a:off x="815975" y="1981836"/>
            <a:ext cx="3397250" cy="2572808"/>
          </a:xfrm>
          <a:prstGeom prst="roundRect">
            <a:avLst>
              <a:gd name="adj" fmla="val 3826"/>
            </a:avLst>
          </a:prstGeom>
          <a:solidFill>
            <a:srgbClr val="FFFFFF"/>
          </a:solidFill>
          <a:ln w="6350">
            <a:solidFill>
              <a:srgbClr val="E1DED5"/>
            </a:solidFill>
            <a:prstDash val="solid"/>
          </a:ln>
        </p:spPr>
      </p:sp>
      <p:pic>
        <p:nvPicPr>
          <p:cNvPr id="6" name="Image 0" descr="Globe">    </p:cNvPr>
          <p:cNvPicPr>
            <a:picLocks noChangeAspect="1"/>
          </p:cNvPicPr>
          <p:nvPr/>
        </p:nvPicPr>
        <p:blipFill>
          <a:blip r:embed="rId1"/>
          <a:srcRect l="0" r="0" t="0" b="0"/>
          <a:stretch/>
        </p:blipFill>
        <p:spPr>
          <a:xfrm>
            <a:off x="1072409" y="2238270"/>
            <a:ext cx="406400" cy="406400"/>
          </a:xfrm>
          <a:prstGeom prst="rect">
            <a:avLst/>
          </a:prstGeom>
        </p:spPr>
      </p:pic>
      <p:sp>
        <p:nvSpPr>
          <p:cNvPr id="7" name="Text 4"/>
          <p:cNvSpPr/>
          <p:nvPr/>
        </p:nvSpPr>
        <p:spPr>
          <a:xfrm>
            <a:off x="1072409" y="2746270"/>
            <a:ext cx="29709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A2236"/>
                </a:solidFill>
                <a:latin typeface="Space Grotesk" pitchFamily="34" charset="0"/>
                <a:ea typeface="Space Grotesk" pitchFamily="34" charset="-122"/>
                <a:cs typeface="Space Grotesk" pitchFamily="34" charset="-120"/>
              </a:rPr>
              <a:t>Front end</a:t>
            </a:r>
            <a:endParaRPr lang="en-US" sz="2000" dirty="0"/>
          </a:p>
        </p:txBody>
      </p:sp>
      <p:sp>
        <p:nvSpPr>
          <p:cNvPr id="8" name="Text 5"/>
          <p:cNvSpPr/>
          <p:nvPr/>
        </p:nvSpPr>
        <p:spPr>
          <a:xfrm>
            <a:off x="1072409" y="3152670"/>
            <a:ext cx="29709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6"/>
                </a:solidFill>
                <a:latin typeface="IBM Plex Sans" pitchFamily="34" charset="0"/>
                <a:ea typeface="IBM Plex Sans" pitchFamily="34" charset="-122"/>
                <a:cs typeface="IBM Plex Sans" pitchFamily="34" charset="-120"/>
              </a:rPr>
              <a:t>What the user sees and clicks, in the browser</a:t>
            </a:r>
            <a:endParaRPr lang="en-US" sz="1400" dirty="0"/>
          </a:p>
        </p:txBody>
      </p:sp>
      <p:sp>
        <p:nvSpPr>
          <p:cNvPr id="9" name="Text 6"/>
          <p:cNvSpPr/>
          <p:nvPr/>
        </p:nvSpPr>
        <p:spPr>
          <a:xfrm>
            <a:off x="1072409" y="3752109"/>
            <a:ext cx="297091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FA8"/>
                </a:solidFill>
                <a:latin typeface="IBM Plex Sans" pitchFamily="34" charset="0"/>
                <a:ea typeface="IBM Plex Sans" pitchFamily="34" charset="-122"/>
                <a:cs typeface="IBM Plex Sans" pitchFamily="34" charset="-120"/>
              </a:rPr>
              <a:t>HTML · CSS · JavaScript</a:t>
            </a:r>
            <a:endParaRPr lang="en-US" sz="1300" dirty="0"/>
          </a:p>
        </p:txBody>
      </p:sp>
      <p:sp>
        <p:nvSpPr>
          <p:cNvPr id="10" name="Text 7"/>
          <p:cNvSpPr/>
          <p:nvPr/>
        </p:nvSpPr>
        <p:spPr>
          <a:xfrm>
            <a:off x="1072409" y="4084848"/>
            <a:ext cx="29709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1A"/>
                </a:solidFill>
                <a:latin typeface="IBM Plex Sans" pitchFamily="34" charset="0"/>
                <a:ea typeface="IBM Plex Sans" pitchFamily="34" charset="-122"/>
                <a:cs typeface="IBM Plex Sans" pitchFamily="34" charset="-120"/>
              </a:rPr>
              <a:t>Day 1–2</a:t>
            </a:r>
            <a:endParaRPr lang="en-US" sz="1200" dirty="0"/>
          </a:p>
        </p:txBody>
      </p:sp>
      <p:sp>
        <p:nvSpPr>
          <p:cNvPr id="11" name="Shape 8"/>
          <p:cNvSpPr/>
          <p:nvPr/>
        </p:nvSpPr>
        <p:spPr>
          <a:xfrm>
            <a:off x="4397375" y="1981836"/>
            <a:ext cx="3397250" cy="2572808"/>
          </a:xfrm>
          <a:prstGeom prst="roundRect">
            <a:avLst>
              <a:gd name="adj" fmla="val 3826"/>
            </a:avLst>
          </a:prstGeom>
          <a:solidFill>
            <a:srgbClr val="FFFFFF"/>
          </a:solidFill>
          <a:ln w="6350">
            <a:solidFill>
              <a:srgbClr val="E1DED5"/>
            </a:solidFill>
            <a:prstDash val="solid"/>
          </a:ln>
        </p:spPr>
      </p:sp>
      <p:pic>
        <p:nvPicPr>
          <p:cNvPr id="12" name="Image 1" descr="Settings">    </p:cNvPr>
          <p:cNvPicPr>
            <a:picLocks noChangeAspect="1"/>
          </p:cNvPicPr>
          <p:nvPr/>
        </p:nvPicPr>
        <p:blipFill>
          <a:blip r:embed="rId2"/>
          <a:srcRect l="0" r="0" t="0" b="0"/>
          <a:stretch/>
        </p:blipFill>
        <p:spPr>
          <a:xfrm>
            <a:off x="4653809" y="2238270"/>
            <a:ext cx="406400" cy="406400"/>
          </a:xfrm>
          <a:prstGeom prst="rect">
            <a:avLst/>
          </a:prstGeom>
        </p:spPr>
      </p:pic>
      <p:sp>
        <p:nvSpPr>
          <p:cNvPr id="13" name="Text 9"/>
          <p:cNvSpPr/>
          <p:nvPr/>
        </p:nvSpPr>
        <p:spPr>
          <a:xfrm>
            <a:off x="4653809" y="2746270"/>
            <a:ext cx="29709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A2236"/>
                </a:solidFill>
                <a:latin typeface="Space Grotesk" pitchFamily="34" charset="0"/>
                <a:ea typeface="Space Grotesk" pitchFamily="34" charset="-122"/>
                <a:cs typeface="Space Grotesk" pitchFamily="34" charset="-120"/>
              </a:rPr>
              <a:t>Back end</a:t>
            </a:r>
            <a:endParaRPr lang="en-US" sz="2000" dirty="0"/>
          </a:p>
        </p:txBody>
      </p:sp>
      <p:sp>
        <p:nvSpPr>
          <p:cNvPr id="14" name="Text 10"/>
          <p:cNvSpPr/>
          <p:nvPr/>
        </p:nvSpPr>
        <p:spPr>
          <a:xfrm>
            <a:off x="4653809" y="3152670"/>
            <a:ext cx="29709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6"/>
                </a:solidFill>
                <a:latin typeface="IBM Plex Sans" pitchFamily="34" charset="0"/>
                <a:ea typeface="IBM Plex Sans" pitchFamily="34" charset="-122"/>
                <a:cs typeface="IBM Plex Sans" pitchFamily="34" charset="-120"/>
              </a:rPr>
              <a:t>Logic, login and APIs, running on a server</a:t>
            </a:r>
            <a:endParaRPr lang="en-US" sz="1400" dirty="0"/>
          </a:p>
        </p:txBody>
      </p:sp>
      <p:sp>
        <p:nvSpPr>
          <p:cNvPr id="15" name="Text 11"/>
          <p:cNvSpPr/>
          <p:nvPr/>
        </p:nvSpPr>
        <p:spPr>
          <a:xfrm>
            <a:off x="4653809" y="3752109"/>
            <a:ext cx="297091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FA8"/>
                </a:solidFill>
                <a:latin typeface="IBM Plex Sans" pitchFamily="34" charset="0"/>
                <a:ea typeface="IBM Plex Sans" pitchFamily="34" charset="-122"/>
                <a:cs typeface="IBM Plex Sans" pitchFamily="34" charset="-120"/>
              </a:rPr>
              <a:t>Node.js · Express</a:t>
            </a:r>
            <a:endParaRPr lang="en-US" sz="1300" dirty="0"/>
          </a:p>
        </p:txBody>
      </p:sp>
      <p:sp>
        <p:nvSpPr>
          <p:cNvPr id="16" name="Text 12"/>
          <p:cNvSpPr/>
          <p:nvPr/>
        </p:nvSpPr>
        <p:spPr>
          <a:xfrm>
            <a:off x="4653809" y="4084848"/>
            <a:ext cx="29709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1A"/>
                </a:solidFill>
                <a:latin typeface="IBM Plex Sans" pitchFamily="34" charset="0"/>
                <a:ea typeface="IBM Plex Sans" pitchFamily="34" charset="-122"/>
                <a:cs typeface="IBM Plex Sans" pitchFamily="34" charset="-120"/>
              </a:rPr>
              <a:t>Day 3</a:t>
            </a:r>
            <a:endParaRPr lang="en-US" sz="1200" dirty="0"/>
          </a:p>
        </p:txBody>
      </p:sp>
      <p:sp>
        <p:nvSpPr>
          <p:cNvPr id="17" name="Shape 13"/>
          <p:cNvSpPr/>
          <p:nvPr/>
        </p:nvSpPr>
        <p:spPr>
          <a:xfrm>
            <a:off x="7978775" y="1981836"/>
            <a:ext cx="3397250" cy="2572808"/>
          </a:xfrm>
          <a:prstGeom prst="roundRect">
            <a:avLst>
              <a:gd name="adj" fmla="val 3826"/>
            </a:avLst>
          </a:prstGeom>
          <a:solidFill>
            <a:srgbClr val="FFFFFF"/>
          </a:solidFill>
          <a:ln w="6350">
            <a:solidFill>
              <a:srgbClr val="E1DED5"/>
            </a:solidFill>
            <a:prstDash val="solid"/>
          </a:ln>
        </p:spPr>
      </p:sp>
      <p:pic>
        <p:nvPicPr>
          <p:cNvPr id="18" name="Image 2" descr="Database">    </p:cNvPr>
          <p:cNvPicPr>
            <a:picLocks noChangeAspect="1"/>
          </p:cNvPicPr>
          <p:nvPr/>
        </p:nvPicPr>
        <p:blipFill>
          <a:blip r:embed="rId3"/>
          <a:srcRect l="0" r="0" t="0" b="0"/>
          <a:stretch/>
        </p:blipFill>
        <p:spPr>
          <a:xfrm>
            <a:off x="8235209" y="2238270"/>
            <a:ext cx="406400" cy="406400"/>
          </a:xfrm>
          <a:prstGeom prst="rect">
            <a:avLst/>
          </a:prstGeom>
        </p:spPr>
      </p:pic>
      <p:sp>
        <p:nvSpPr>
          <p:cNvPr id="19" name="Text 14"/>
          <p:cNvSpPr/>
          <p:nvPr/>
        </p:nvSpPr>
        <p:spPr>
          <a:xfrm>
            <a:off x="8235209" y="2746270"/>
            <a:ext cx="29709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A2236"/>
                </a:solidFill>
                <a:latin typeface="Space Grotesk" pitchFamily="34" charset="0"/>
                <a:ea typeface="Space Grotesk" pitchFamily="34" charset="-122"/>
                <a:cs typeface="Space Grotesk" pitchFamily="34" charset="-120"/>
              </a:rPr>
              <a:t>Database</a:t>
            </a:r>
            <a:endParaRPr lang="en-US" sz="2000" dirty="0"/>
          </a:p>
        </p:txBody>
      </p:sp>
      <p:sp>
        <p:nvSpPr>
          <p:cNvPr id="20" name="Text 15"/>
          <p:cNvSpPr/>
          <p:nvPr/>
        </p:nvSpPr>
        <p:spPr>
          <a:xfrm>
            <a:off x="8235209" y="3152670"/>
            <a:ext cx="297091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6"/>
                </a:solidFill>
                <a:latin typeface="IBM Plex Sans" pitchFamily="34" charset="0"/>
                <a:ea typeface="IBM Plex Sans" pitchFamily="34" charset="-122"/>
                <a:cs typeface="IBM Plex Sans" pitchFamily="34" charset="-120"/>
              </a:rPr>
              <a:t>Stores and returns the app’s data</a:t>
            </a:r>
            <a:endParaRPr lang="en-US" sz="1400" dirty="0"/>
          </a:p>
        </p:txBody>
      </p:sp>
      <p:sp>
        <p:nvSpPr>
          <p:cNvPr id="21" name="Text 16"/>
          <p:cNvSpPr/>
          <p:nvPr/>
        </p:nvSpPr>
        <p:spPr>
          <a:xfrm>
            <a:off x="8235209" y="3503188"/>
            <a:ext cx="297091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FA8"/>
                </a:solidFill>
                <a:latin typeface="IBM Plex Sans" pitchFamily="34" charset="0"/>
                <a:ea typeface="IBM Plex Sans" pitchFamily="34" charset="-122"/>
                <a:cs typeface="IBM Plex Sans" pitchFamily="34" charset="-120"/>
              </a:rPr>
              <a:t>MongoDB · MySQL</a:t>
            </a:r>
            <a:endParaRPr lang="en-US" sz="1300" dirty="0"/>
          </a:p>
        </p:txBody>
      </p:sp>
      <p:sp>
        <p:nvSpPr>
          <p:cNvPr id="22" name="Text 17"/>
          <p:cNvSpPr/>
          <p:nvPr/>
        </p:nvSpPr>
        <p:spPr>
          <a:xfrm>
            <a:off x="8235209" y="3835930"/>
            <a:ext cx="29709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1A"/>
                </a:solidFill>
                <a:latin typeface="IBM Plex Sans" pitchFamily="34" charset="0"/>
                <a:ea typeface="IBM Plex Sans" pitchFamily="34" charset="-122"/>
                <a:cs typeface="IBM Plex Sans" pitchFamily="34" charset="-120"/>
              </a:rPr>
              <a:t>Day 4</a:t>
            </a:r>
            <a:endParaRPr lang="en-US" sz="1200" dirty="0"/>
          </a:p>
        </p:txBody>
      </p:sp>
      <p:sp>
        <p:nvSpPr>
          <p:cNvPr id="23" name="Text 18"/>
          <p:cNvSpPr/>
          <p:nvPr/>
        </p:nvSpPr>
        <p:spPr>
          <a:xfrm>
            <a:off x="812800" y="478641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A </a:t>
            </a:r>
            <a:r>
              <a:rPr lang="en-US" sz="1500" b="1" dirty="0">
                <a:solidFill>
                  <a:srgbClr val="1A2236"/>
                </a:solidFill>
                <a:latin typeface="IBM Plex Sans" pitchFamily="34" charset="0"/>
                <a:ea typeface="IBM Plex Sans" pitchFamily="34" charset="-122"/>
                <a:cs typeface="IBM Plex Sans" pitchFamily="34" charset="-120"/>
              </a:rPr>
              <a:t>full-stack developer</a:t>
            </a:r>
            <a:r>
              <a:rPr lang="en-US" sz="1500" dirty="0">
                <a:solidFill>
                  <a:srgbClr val="1A2236"/>
                </a:solidFill>
                <a:latin typeface="IBM Plex Sans" pitchFamily="34" charset="0"/>
                <a:ea typeface="IBM Plex Sans" pitchFamily="34" charset="-122"/>
                <a:cs typeface="IBM Plex Sans" pitchFamily="34" charset="-120"/>
              </a:rPr>
              <a:t> can build and connect all three. Today we build the front end.</a:t>
            </a:r>
            <a:endParaRPr lang="en-US" sz="1500" dirty="0"/>
          </a:p>
        </p:txBody>
      </p:sp>
      <p:sp>
        <p:nvSpPr>
          <p:cNvPr id="24" name="Text 19"/>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p.10 · Layer table and Figure 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940666" cy="289560"/>
          </a:xfrm>
          <a:custGeom>
            <a:avLst/>
            <a:gdLst/>
            <a:ahLst/>
            <a:cxnLst/>
            <a:rect l="l" t="t" r="r" b="b"/>
            <a:pathLst>
              <a:path w="1940666" h="289560">
                <a:moveTo>
                  <a:pt x="144780" y="0"/>
                </a:moveTo>
                <a:lnTo>
                  <a:pt x="1795886" y="0"/>
                </a:lnTo>
                <a:arcTo hR="144780" wR="144780" stAng="16200000" swAng="5400000"/>
                <a:lnTo>
                  <a:pt x="194066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 + ACT IT OUT</a:t>
            </a:r>
            <a:endParaRPr lang="en-US" sz="1200" dirty="0"/>
          </a:p>
        </p:txBody>
      </p:sp>
      <p:sp>
        <p:nvSpPr>
          <p:cNvPr id="3" name="Text 1"/>
          <p:cNvSpPr/>
          <p:nvPr/>
        </p:nvSpPr>
        <p:spPr>
          <a:xfrm>
            <a:off x="2880466" y="850900"/>
            <a:ext cx="318300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9:40 AM · Role-play with 4 volunteers</a:t>
            </a:r>
            <a:endParaRPr lang="en-US" sz="1200" dirty="0"/>
          </a:p>
        </p:txBody>
      </p:sp>
      <p:sp>
        <p:nvSpPr>
          <p:cNvPr id="4" name="Text 2"/>
          <p:cNvSpPr/>
          <p:nvPr>
            <p:ph type="title"/>
          </p:nvPr>
        </p:nvSpPr>
        <p:spPr>
          <a:xfrm>
            <a:off x="812800" y="13055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The web is a restaurant</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018" y="1939079"/>
          <a:ext cx="7126182" cy="3076787"/>
        </p:xfrm>
        <a:graphic>
          <a:graphicData uri="http://schemas.openxmlformats.org/drawingml/2006/table">
            <a:tbl>
              <a:tblPr/>
              <a:tblGrid>
                <a:gridCol w="2422902"/>
                <a:gridCol w="2351640"/>
                <a:gridCol w="2351640"/>
              </a:tblGrid>
              <a:tr h="384598">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In the restaurant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On the web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Volunteer card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Customer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Browser (client)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Student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Order slip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HTTP request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“GET /dosa”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Waiter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Internet / HTTP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Student 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Chef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Server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Student 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Pantry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Database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Student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Menu</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API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What you can order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Plate served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Response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HTML, CSS, JSON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6" name="Text 3"/>
          <p:cNvSpPr/>
          <p:nvPr/>
        </p:nvSpPr>
        <p:spPr>
          <a:xfrm>
            <a:off x="8204200" y="1927861"/>
            <a:ext cx="32702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WAITER’S REPLIES = STATUS CODES</a:t>
            </a:r>
            <a:endParaRPr lang="en-US" sz="1200" dirty="0"/>
          </a:p>
        </p:txBody>
      </p:sp>
      <p:sp>
        <p:nvSpPr>
          <p:cNvPr id="7" name="Text 4"/>
          <p:cNvSpPr/>
          <p:nvPr/>
        </p:nvSpPr>
        <p:spPr>
          <a:xfrm>
            <a:off x="8204200" y="2242821"/>
            <a:ext cx="3175000" cy="452120"/>
          </a:xfrm>
          <a:prstGeom prst="roundRect">
            <a:avLst>
              <a:gd name="adj" fmla="val 16854"/>
            </a:avLst>
          </a:prstGeom>
          <a:solidFill>
            <a:srgbClr val="E4F2E6"/>
          </a:solidFill>
          <a:ln/>
        </p:spPr>
        <p:txBody>
          <a:bodyPr wrap="square" lIns="130082" tIns="79282" rIns="43976" bIns="53882" rtlCol="0" anchor="t">
            <a:normAutofit/>
          </a:bodyPr>
          <a:lstStyle/>
          <a:p>
            <a:pPr algn="l"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200</a:t>
            </a:r>
            <a:r>
              <a:rPr lang="en-US" sz="1400" dirty="0">
                <a:solidFill>
                  <a:srgbClr val="1A2236"/>
                </a:solidFill>
                <a:latin typeface="IBM Plex Sans" pitchFamily="34" charset="0"/>
                <a:ea typeface="IBM Plex Sans" pitchFamily="34" charset="-122"/>
                <a:cs typeface="IBM Plex Sans" pitchFamily="34" charset="-120"/>
              </a:rPr>
              <a:t> “Here’s your dosa”</a:t>
            </a:r>
            <a:endParaRPr lang="en-US" sz="1400" dirty="0"/>
          </a:p>
        </p:txBody>
      </p:sp>
      <p:sp>
        <p:nvSpPr>
          <p:cNvPr id="8" name="Text 5"/>
          <p:cNvSpPr/>
          <p:nvPr/>
        </p:nvSpPr>
        <p:spPr>
          <a:xfrm>
            <a:off x="8204200" y="2796539"/>
            <a:ext cx="3175000" cy="452120"/>
          </a:xfrm>
          <a:prstGeom prst="roundRect">
            <a:avLst>
              <a:gd name="adj" fmla="val 16854"/>
            </a:avLst>
          </a:prstGeom>
          <a:solidFill>
            <a:srgbClr val="E4F2E6"/>
          </a:solidFill>
          <a:ln/>
        </p:spPr>
        <p:txBody>
          <a:bodyPr wrap="square" lIns="130082" tIns="79282" rIns="43976" bIns="53882" rtlCol="0" anchor="t">
            <a:normAutofit/>
          </a:bodyPr>
          <a:lstStyle/>
          <a:p>
            <a:pPr algn="l"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201</a:t>
            </a:r>
            <a:r>
              <a:rPr lang="en-US" sz="1400" dirty="0">
                <a:solidFill>
                  <a:srgbClr val="1A2236"/>
                </a:solidFill>
                <a:latin typeface="IBM Plex Sans" pitchFamily="34" charset="0"/>
                <a:ea typeface="IBM Plex Sans" pitchFamily="34" charset="-122"/>
                <a:cs typeface="IBM Plex Sans" pitchFamily="34" charset="-120"/>
              </a:rPr>
              <a:t> “New order created”</a:t>
            </a:r>
            <a:endParaRPr lang="en-US" sz="1400" dirty="0"/>
          </a:p>
        </p:txBody>
      </p:sp>
      <p:sp>
        <p:nvSpPr>
          <p:cNvPr id="9" name="Text 6"/>
          <p:cNvSpPr/>
          <p:nvPr/>
        </p:nvSpPr>
        <p:spPr>
          <a:xfrm>
            <a:off x="8204200" y="3350261"/>
            <a:ext cx="3175000" cy="452120"/>
          </a:xfrm>
          <a:prstGeom prst="roundRect">
            <a:avLst>
              <a:gd name="adj" fmla="val 16854"/>
            </a:avLst>
          </a:prstGeom>
          <a:solidFill>
            <a:srgbClr val="FCEFD9"/>
          </a:solidFill>
          <a:ln/>
        </p:spPr>
        <p:txBody>
          <a:bodyPr wrap="square" lIns="130082" tIns="79282" rIns="43976" bIns="53882" rtlCol="0" anchor="t">
            <a:normAutofit/>
          </a:bodyPr>
          <a:lstStyle/>
          <a:p>
            <a:pPr algn="l"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404</a:t>
            </a:r>
            <a:r>
              <a:rPr lang="en-US" sz="1400" dirty="0">
                <a:solidFill>
                  <a:srgbClr val="1A2236"/>
                </a:solidFill>
                <a:latin typeface="IBM Plex Sans" pitchFamily="34" charset="0"/>
                <a:ea typeface="IBM Plex Sans" pitchFamily="34" charset="-122"/>
                <a:cs typeface="IBM Plex Sans" pitchFamily="34" charset="-120"/>
              </a:rPr>
              <a:t> “Not on the menu”</a:t>
            </a:r>
            <a:endParaRPr lang="en-US" sz="1400" dirty="0"/>
          </a:p>
        </p:txBody>
      </p:sp>
      <p:sp>
        <p:nvSpPr>
          <p:cNvPr id="10" name="Text 7"/>
          <p:cNvSpPr/>
          <p:nvPr/>
        </p:nvSpPr>
        <p:spPr>
          <a:xfrm>
            <a:off x="8204200" y="3903979"/>
            <a:ext cx="3175000" cy="452120"/>
          </a:xfrm>
          <a:prstGeom prst="roundRect">
            <a:avLst>
              <a:gd name="adj" fmla="val 16854"/>
            </a:avLst>
          </a:prstGeom>
          <a:solidFill>
            <a:srgbClr val="FCEFD9"/>
          </a:solidFill>
          <a:ln/>
        </p:spPr>
        <p:txBody>
          <a:bodyPr wrap="square" lIns="130082" tIns="79282" rIns="43976" bIns="53882" rtlCol="0" anchor="t">
            <a:normAutofit/>
          </a:bodyPr>
          <a:lstStyle/>
          <a:p>
            <a:pPr algn="l"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400</a:t>
            </a:r>
            <a:r>
              <a:rPr lang="en-US" sz="1400" dirty="0">
                <a:solidFill>
                  <a:srgbClr val="1A2236"/>
                </a:solidFill>
                <a:latin typeface="IBM Plex Sans" pitchFamily="34" charset="0"/>
                <a:ea typeface="IBM Plex Sans" pitchFamily="34" charset="-122"/>
                <a:cs typeface="IBM Plex Sans" pitchFamily="34" charset="-120"/>
              </a:rPr>
              <a:t> “I can’t read your order”</a:t>
            </a:r>
            <a:endParaRPr lang="en-US" sz="1400" dirty="0"/>
          </a:p>
        </p:txBody>
      </p:sp>
      <p:sp>
        <p:nvSpPr>
          <p:cNvPr id="11" name="Text 8"/>
          <p:cNvSpPr/>
          <p:nvPr/>
        </p:nvSpPr>
        <p:spPr>
          <a:xfrm>
            <a:off x="8204200" y="4457700"/>
            <a:ext cx="3175000" cy="452120"/>
          </a:xfrm>
          <a:prstGeom prst="roundRect">
            <a:avLst>
              <a:gd name="adj" fmla="val 16854"/>
            </a:avLst>
          </a:prstGeom>
          <a:solidFill>
            <a:srgbClr val="F8E1DC"/>
          </a:solidFill>
          <a:ln/>
        </p:spPr>
        <p:txBody>
          <a:bodyPr wrap="square" lIns="130082" tIns="79282" rIns="43976" bIns="53882" rtlCol="0" anchor="t">
            <a:normAutofit/>
          </a:bodyPr>
          <a:lstStyle/>
          <a:p>
            <a:pPr algn="l"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500</a:t>
            </a:r>
            <a:r>
              <a:rPr lang="en-US" sz="1400" dirty="0">
                <a:solidFill>
                  <a:srgbClr val="1A2236"/>
                </a:solidFill>
                <a:latin typeface="IBM Plex Sans" pitchFamily="34" charset="0"/>
                <a:ea typeface="IBM Plex Sans" pitchFamily="34" charset="-122"/>
                <a:cs typeface="IBM Plex Sans" pitchFamily="34" charset="-120"/>
              </a:rPr>
              <a:t> “Kitchen is on fire”</a:t>
            </a:r>
            <a:endParaRPr lang="en-US" sz="1400" dirty="0"/>
          </a:p>
        </p:txBody>
      </p:sp>
      <p:sp>
        <p:nvSpPr>
          <p:cNvPr id="12" name="Text 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p.11 · Client-server architecture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30746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9:48 AM · Client–server architecture</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Client asks, server answers</a:t>
            </a:r>
            <a:endParaRPr lang="en-US" sz="3000" dirty="0"/>
          </a:p>
        </p:txBody>
      </p:sp>
      <p:sp>
        <p:nvSpPr>
          <p:cNvPr id="5" name="Shape 3"/>
          <p:cNvSpPr/>
          <p:nvPr/>
        </p:nvSpPr>
        <p:spPr>
          <a:xfrm>
            <a:off x="819150" y="2673350"/>
            <a:ext cx="2400300" cy="1384300"/>
          </a:xfrm>
          <a:prstGeom prst="roundRect">
            <a:avLst>
              <a:gd name="adj" fmla="val 6881"/>
            </a:avLst>
          </a:prstGeom>
          <a:solidFill>
            <a:srgbClr val="FFFFFF"/>
          </a:solidFill>
          <a:ln w="12700">
            <a:solidFill>
              <a:srgbClr val="2F5FA8"/>
            </a:solidFill>
            <a:prstDash val="solid"/>
          </a:ln>
        </p:spPr>
      </p:sp>
      <p:pic>
        <p:nvPicPr>
          <p:cNvPr id="6" name="Image 0" descr="Globe">    </p:cNvPr>
          <p:cNvPicPr>
            <a:picLocks noChangeAspect="1"/>
          </p:cNvPicPr>
          <p:nvPr/>
        </p:nvPicPr>
        <p:blipFill>
          <a:blip r:embed="rId1"/>
          <a:srcRect l="0" r="0" t="0" b="0"/>
          <a:stretch/>
        </p:blipFill>
        <p:spPr>
          <a:xfrm>
            <a:off x="1841500" y="2862579"/>
            <a:ext cx="355600" cy="355600"/>
          </a:xfrm>
          <a:prstGeom prst="rect">
            <a:avLst/>
          </a:prstGeom>
        </p:spPr>
      </p:pic>
      <p:sp>
        <p:nvSpPr>
          <p:cNvPr id="7" name="Text 4"/>
          <p:cNvSpPr/>
          <p:nvPr/>
        </p:nvSpPr>
        <p:spPr>
          <a:xfrm>
            <a:off x="1686433" y="3294379"/>
            <a:ext cx="665734"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A2236"/>
                </a:solidFill>
                <a:latin typeface="IBM Plex Sans" pitchFamily="34" charset="0"/>
                <a:ea typeface="IBM Plex Sans" pitchFamily="34" charset="-122"/>
                <a:cs typeface="IBM Plex Sans" pitchFamily="34" charset="-120"/>
              </a:rPr>
              <a:t>Client</a:t>
            </a:r>
            <a:endParaRPr lang="en-US" sz="1600" dirty="0"/>
          </a:p>
        </p:txBody>
      </p:sp>
      <p:sp>
        <p:nvSpPr>
          <p:cNvPr id="8" name="Text 5"/>
          <p:cNvSpPr/>
          <p:nvPr/>
        </p:nvSpPr>
        <p:spPr>
          <a:xfrm>
            <a:off x="1203463" y="3655058"/>
            <a:ext cx="1631569"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266"/>
                </a:solidFill>
                <a:latin typeface="IBM Plex Sans" pitchFamily="34" charset="0"/>
                <a:ea typeface="IBM Plex Sans" pitchFamily="34" charset="-122"/>
                <a:cs typeface="IBM Plex Sans" pitchFamily="34" charset="-120"/>
              </a:rPr>
              <a:t>Browser, phone app</a:t>
            </a:r>
            <a:endParaRPr lang="en-US" sz="1200" dirty="0"/>
          </a:p>
        </p:txBody>
      </p:sp>
      <p:sp>
        <p:nvSpPr>
          <p:cNvPr id="9" name="Shape 6"/>
          <p:cNvSpPr/>
          <p:nvPr/>
        </p:nvSpPr>
        <p:spPr>
          <a:xfrm>
            <a:off x="4895850" y="2673350"/>
            <a:ext cx="2400300" cy="1384300"/>
          </a:xfrm>
          <a:prstGeom prst="roundRect">
            <a:avLst>
              <a:gd name="adj" fmla="val 6881"/>
            </a:avLst>
          </a:prstGeom>
          <a:solidFill>
            <a:srgbClr val="FFFFFF"/>
          </a:solidFill>
          <a:ln w="12700">
            <a:solidFill>
              <a:srgbClr val="2F5FA8"/>
            </a:solidFill>
            <a:prstDash val="solid"/>
          </a:ln>
        </p:spPr>
      </p:sp>
      <p:pic>
        <p:nvPicPr>
          <p:cNvPr id="10" name="Image 1" descr="Settings">    </p:cNvPr>
          <p:cNvPicPr>
            <a:picLocks noChangeAspect="1"/>
          </p:cNvPicPr>
          <p:nvPr/>
        </p:nvPicPr>
        <p:blipFill>
          <a:blip r:embed="rId2"/>
          <a:srcRect l="0" r="0" t="0" b="0"/>
          <a:stretch/>
        </p:blipFill>
        <p:spPr>
          <a:xfrm>
            <a:off x="5918200" y="2862579"/>
            <a:ext cx="355600" cy="355600"/>
          </a:xfrm>
          <a:prstGeom prst="rect">
            <a:avLst/>
          </a:prstGeom>
        </p:spPr>
      </p:pic>
      <p:sp>
        <p:nvSpPr>
          <p:cNvPr id="11" name="Text 7"/>
          <p:cNvSpPr/>
          <p:nvPr/>
        </p:nvSpPr>
        <p:spPr>
          <a:xfrm>
            <a:off x="5725795" y="3294379"/>
            <a:ext cx="74041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A2236"/>
                </a:solidFill>
                <a:latin typeface="IBM Plex Sans" pitchFamily="34" charset="0"/>
                <a:ea typeface="IBM Plex Sans" pitchFamily="34" charset="-122"/>
                <a:cs typeface="IBM Plex Sans" pitchFamily="34" charset="-120"/>
              </a:rPr>
              <a:t>Server</a:t>
            </a:r>
            <a:endParaRPr lang="en-US" sz="1600" dirty="0"/>
          </a:p>
        </p:txBody>
      </p:sp>
      <p:sp>
        <p:nvSpPr>
          <p:cNvPr id="12" name="Text 8"/>
          <p:cNvSpPr/>
          <p:nvPr/>
        </p:nvSpPr>
        <p:spPr>
          <a:xfrm>
            <a:off x="5297689" y="3655058"/>
            <a:ext cx="159651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266"/>
                </a:solidFill>
                <a:latin typeface="IBM Plex Sans" pitchFamily="34" charset="0"/>
                <a:ea typeface="IBM Plex Sans" pitchFamily="34" charset="-122"/>
                <a:cs typeface="IBM Plex Sans" pitchFamily="34" charset="-120"/>
              </a:rPr>
              <a:t>Processes requests</a:t>
            </a:r>
            <a:endParaRPr lang="en-US" sz="1200" dirty="0"/>
          </a:p>
        </p:txBody>
      </p:sp>
      <p:sp>
        <p:nvSpPr>
          <p:cNvPr id="13" name="Shape 9"/>
          <p:cNvSpPr/>
          <p:nvPr/>
        </p:nvSpPr>
        <p:spPr>
          <a:xfrm>
            <a:off x="8972550" y="2673350"/>
            <a:ext cx="2400300" cy="1384300"/>
          </a:xfrm>
          <a:prstGeom prst="roundRect">
            <a:avLst>
              <a:gd name="adj" fmla="val 6881"/>
            </a:avLst>
          </a:prstGeom>
          <a:solidFill>
            <a:srgbClr val="FFFFFF"/>
          </a:solidFill>
          <a:ln w="12700">
            <a:solidFill>
              <a:srgbClr val="2F5FA8"/>
            </a:solidFill>
            <a:prstDash val="solid"/>
          </a:ln>
        </p:spPr>
      </p:sp>
      <p:pic>
        <p:nvPicPr>
          <p:cNvPr id="14" name="Image 2" descr="Database">    </p:cNvPr>
          <p:cNvPicPr>
            <a:picLocks noChangeAspect="1"/>
          </p:cNvPicPr>
          <p:nvPr/>
        </p:nvPicPr>
        <p:blipFill>
          <a:blip r:embed="rId3"/>
          <a:srcRect l="0" r="0" t="0" b="0"/>
          <a:stretch/>
        </p:blipFill>
        <p:spPr>
          <a:xfrm>
            <a:off x="9994900" y="2862579"/>
            <a:ext cx="355600" cy="355600"/>
          </a:xfrm>
          <a:prstGeom prst="rect">
            <a:avLst/>
          </a:prstGeom>
        </p:spPr>
      </p:pic>
      <p:sp>
        <p:nvSpPr>
          <p:cNvPr id="15" name="Text 10"/>
          <p:cNvSpPr/>
          <p:nvPr/>
        </p:nvSpPr>
        <p:spPr>
          <a:xfrm>
            <a:off x="9637152" y="3294379"/>
            <a:ext cx="1070991"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A2236"/>
                </a:solidFill>
                <a:latin typeface="IBM Plex Sans" pitchFamily="34" charset="0"/>
                <a:ea typeface="IBM Plex Sans" pitchFamily="34" charset="-122"/>
                <a:cs typeface="IBM Plex Sans" pitchFamily="34" charset="-120"/>
              </a:rPr>
              <a:t>Database</a:t>
            </a:r>
            <a:endParaRPr lang="en-US" sz="1600" dirty="0"/>
          </a:p>
        </p:txBody>
      </p:sp>
      <p:sp>
        <p:nvSpPr>
          <p:cNvPr id="16" name="Text 11"/>
          <p:cNvSpPr/>
          <p:nvPr/>
        </p:nvSpPr>
        <p:spPr>
          <a:xfrm>
            <a:off x="9704451" y="3655058"/>
            <a:ext cx="93649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266"/>
                </a:solidFill>
                <a:latin typeface="IBM Plex Sans" pitchFamily="34" charset="0"/>
                <a:ea typeface="IBM Plex Sans" pitchFamily="34" charset="-122"/>
                <a:cs typeface="IBM Plex Sans" pitchFamily="34" charset="-120"/>
              </a:rPr>
              <a:t>Stores data</a:t>
            </a:r>
            <a:endParaRPr lang="en-US" sz="1200" dirty="0"/>
          </a:p>
        </p:txBody>
      </p:sp>
      <p:pic>
        <p:nvPicPr>
          <p:cNvPr id="17" name="Image 3" descr="connector">    </p:cNvPr>
          <p:cNvPicPr>
            <a:picLocks noChangeAspect="1"/>
          </p:cNvPicPr>
          <p:nvPr/>
        </p:nvPicPr>
        <p:blipFill>
          <a:blip r:embed="rId4"/>
          <a:srcRect l="0" r="0" t="0" b="0"/>
          <a:stretch/>
        </p:blipFill>
        <p:spPr>
          <a:xfrm>
            <a:off x="3238500" y="3048000"/>
            <a:ext cx="1638300" cy="127000"/>
          </a:xfrm>
          <a:prstGeom prst="rect">
            <a:avLst/>
          </a:prstGeom>
        </p:spPr>
      </p:pic>
      <p:pic>
        <p:nvPicPr>
          <p:cNvPr id="18" name="Image 4" descr="connector">    </p:cNvPr>
          <p:cNvPicPr>
            <a:picLocks noChangeAspect="1"/>
          </p:cNvPicPr>
          <p:nvPr/>
        </p:nvPicPr>
        <p:blipFill>
          <a:blip r:embed="rId5"/>
          <a:srcRect l="0" r="0" t="0" b="0"/>
          <a:stretch/>
        </p:blipFill>
        <p:spPr>
          <a:xfrm>
            <a:off x="3238500" y="3587750"/>
            <a:ext cx="1638300" cy="127000"/>
          </a:xfrm>
          <a:prstGeom prst="rect">
            <a:avLst/>
          </a:prstGeom>
        </p:spPr>
      </p:pic>
      <p:pic>
        <p:nvPicPr>
          <p:cNvPr id="19" name="Image 5" descr="connector">    </p:cNvPr>
          <p:cNvPicPr>
            <a:picLocks noChangeAspect="1"/>
          </p:cNvPicPr>
          <p:nvPr/>
        </p:nvPicPr>
        <p:blipFill>
          <a:blip r:embed="rId6"/>
          <a:srcRect l="0" r="0" t="0" b="0"/>
          <a:stretch/>
        </p:blipFill>
        <p:spPr>
          <a:xfrm>
            <a:off x="7315200" y="3048000"/>
            <a:ext cx="1638300" cy="127000"/>
          </a:xfrm>
          <a:prstGeom prst="rect">
            <a:avLst/>
          </a:prstGeom>
        </p:spPr>
      </p:pic>
      <p:pic>
        <p:nvPicPr>
          <p:cNvPr id="20" name="Image 6" descr="connector">    </p:cNvPr>
          <p:cNvPicPr>
            <a:picLocks noChangeAspect="1"/>
          </p:cNvPicPr>
          <p:nvPr/>
        </p:nvPicPr>
        <p:blipFill>
          <a:blip r:embed="rId7"/>
          <a:srcRect l="0" r="0" t="0" b="0"/>
          <a:stretch/>
        </p:blipFill>
        <p:spPr>
          <a:xfrm>
            <a:off x="7315200" y="3587750"/>
            <a:ext cx="1638300" cy="127000"/>
          </a:xfrm>
          <a:prstGeom prst="rect">
            <a:avLst/>
          </a:prstGeom>
        </p:spPr>
      </p:pic>
      <p:sp>
        <p:nvSpPr>
          <p:cNvPr id="21" name="Text 12"/>
          <p:cNvSpPr/>
          <p:nvPr/>
        </p:nvSpPr>
        <p:spPr>
          <a:xfrm>
            <a:off x="3276600" y="2768600"/>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531A"/>
                </a:solidFill>
                <a:latin typeface="IBM Plex Sans" pitchFamily="34" charset="0"/>
                <a:ea typeface="IBM Plex Sans" pitchFamily="34" charset="-122"/>
                <a:cs typeface="IBM Plex Sans" pitchFamily="34" charset="-120"/>
              </a:rPr>
              <a:t>request</a:t>
            </a:r>
            <a:endParaRPr lang="en-US" sz="1200" dirty="0"/>
          </a:p>
        </p:txBody>
      </p:sp>
      <p:sp>
        <p:nvSpPr>
          <p:cNvPr id="22" name="Text 13"/>
          <p:cNvSpPr/>
          <p:nvPr/>
        </p:nvSpPr>
        <p:spPr>
          <a:xfrm>
            <a:off x="3276600" y="3733800"/>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response</a:t>
            </a:r>
            <a:endParaRPr lang="en-US" sz="1200" dirty="0"/>
          </a:p>
        </p:txBody>
      </p:sp>
      <p:sp>
        <p:nvSpPr>
          <p:cNvPr id="23" name="Text 14"/>
          <p:cNvSpPr/>
          <p:nvPr/>
        </p:nvSpPr>
        <p:spPr>
          <a:xfrm>
            <a:off x="7353300" y="2768600"/>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531A"/>
                </a:solidFill>
                <a:latin typeface="IBM Plex Sans" pitchFamily="34" charset="0"/>
                <a:ea typeface="IBM Plex Sans" pitchFamily="34" charset="-122"/>
                <a:cs typeface="IBM Plex Sans" pitchFamily="34" charset="-120"/>
              </a:rPr>
              <a:t>query</a:t>
            </a:r>
            <a:endParaRPr lang="en-US" sz="1200" dirty="0"/>
          </a:p>
        </p:txBody>
      </p:sp>
      <p:sp>
        <p:nvSpPr>
          <p:cNvPr id="24" name="Text 15"/>
          <p:cNvSpPr/>
          <p:nvPr/>
        </p:nvSpPr>
        <p:spPr>
          <a:xfrm>
            <a:off x="7353300" y="3733800"/>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data</a:t>
            </a:r>
            <a:endParaRPr lang="en-US" sz="1200" dirty="0"/>
          </a:p>
        </p:txBody>
      </p:sp>
      <p:sp>
        <p:nvSpPr>
          <p:cNvPr id="25" name="Text 16"/>
          <p:cNvSpPr/>
          <p:nvPr/>
        </p:nvSpPr>
        <p:spPr>
          <a:xfrm>
            <a:off x="812800" y="4572000"/>
            <a:ext cx="5194300" cy="502920"/>
          </a:xfrm>
          <a:prstGeom prst="roundRect">
            <a:avLst>
              <a:gd name="adj" fmla="val 15152"/>
            </a:avLst>
          </a:prstGeom>
          <a:solidFill>
            <a:srgbClr val="E3E9F5"/>
          </a:solidFill>
          <a:ln/>
        </p:spPr>
        <p:txBody>
          <a:bodyPr wrap="square" lIns="155482" tIns="104682" rIns="10321" bIns="79282"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Many clients can talk to </a:t>
            </a:r>
            <a:r>
              <a:rPr lang="en-US" sz="1400" b="1" dirty="0">
                <a:solidFill>
                  <a:srgbClr val="1A2236"/>
                </a:solidFill>
                <a:latin typeface="IBM Plex Sans" pitchFamily="34" charset="0"/>
                <a:ea typeface="IBM Plex Sans" pitchFamily="34" charset="-122"/>
                <a:cs typeface="IBM Plex Sans" pitchFamily="34" charset="-120"/>
              </a:rPr>
              <a:t>one</a:t>
            </a:r>
            <a:r>
              <a:rPr lang="en-US" sz="1400" dirty="0">
                <a:solidFill>
                  <a:srgbClr val="1A2236"/>
                </a:solidFill>
                <a:latin typeface="IBM Plex Sans" pitchFamily="34" charset="0"/>
                <a:ea typeface="IBM Plex Sans" pitchFamily="34" charset="-122"/>
                <a:cs typeface="IBM Plex Sans" pitchFamily="34" charset="-120"/>
              </a:rPr>
              <a:t> server at the same time</a:t>
            </a:r>
            <a:endParaRPr lang="en-US" sz="1400" dirty="0"/>
          </a:p>
        </p:txBody>
      </p:sp>
      <p:sp>
        <p:nvSpPr>
          <p:cNvPr id="26" name="Text 17"/>
          <p:cNvSpPr/>
          <p:nvPr/>
        </p:nvSpPr>
        <p:spPr>
          <a:xfrm>
            <a:off x="6184900" y="4572000"/>
            <a:ext cx="5194300" cy="502920"/>
          </a:xfrm>
          <a:prstGeom prst="roundRect">
            <a:avLst>
              <a:gd name="adj" fmla="val 15152"/>
            </a:avLst>
          </a:prstGeom>
          <a:solidFill>
            <a:srgbClr val="E3E9F5"/>
          </a:solidFill>
          <a:ln/>
        </p:spPr>
        <p:txBody>
          <a:bodyPr wrap="square" lIns="155482" tIns="104682" rIns="10321" bIns="79282"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The client </a:t>
            </a:r>
            <a:r>
              <a:rPr lang="en-US" sz="1400" b="1" dirty="0">
                <a:solidFill>
                  <a:srgbClr val="1A2236"/>
                </a:solidFill>
                <a:latin typeface="IBM Plex Sans" pitchFamily="34" charset="0"/>
                <a:ea typeface="IBM Plex Sans" pitchFamily="34" charset="-122"/>
                <a:cs typeface="IBM Plex Sans" pitchFamily="34" charset="-120"/>
              </a:rPr>
              <a:t>never</a:t>
            </a:r>
            <a:r>
              <a:rPr lang="en-US" sz="1400" dirty="0">
                <a:solidFill>
                  <a:srgbClr val="1A2236"/>
                </a:solidFill>
                <a:latin typeface="IBM Plex Sans" pitchFamily="34" charset="0"/>
                <a:ea typeface="IBM Plex Sans" pitchFamily="34" charset="-122"/>
                <a:cs typeface="IBM Plex Sans" pitchFamily="34" charset="-120"/>
              </a:rPr>
              <a:t> talks to the database directly</a:t>
            </a:r>
            <a:endParaRPr lang="en-US" sz="1400" dirty="0"/>
          </a:p>
        </p:txBody>
      </p:sp>
      <p:sp>
        <p:nvSpPr>
          <p:cNvPr id="27" name="Text 1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p.11 · Figure 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291642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9:50 AM · Request–response cycle</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What happens when you press Enter</a:t>
            </a:r>
            <a:endParaRPr lang="en-US" sz="3000" dirty="0"/>
          </a:p>
        </p:txBody>
      </p:sp>
      <p:sp>
        <p:nvSpPr>
          <p:cNvPr id="5" name="Shape 3"/>
          <p:cNvSpPr/>
          <p:nvPr/>
        </p:nvSpPr>
        <p:spPr>
          <a:xfrm>
            <a:off x="815975" y="1931033"/>
            <a:ext cx="2520950" cy="1376468"/>
          </a:xfrm>
          <a:prstGeom prst="roundRect">
            <a:avLst>
              <a:gd name="adj" fmla="val 7151"/>
            </a:avLst>
          </a:prstGeom>
          <a:solidFill>
            <a:srgbClr val="FFFFFF"/>
          </a:solidFill>
          <a:ln w="6350">
            <a:solidFill>
              <a:srgbClr val="E1DED5"/>
            </a:solidFill>
            <a:prstDash val="solid"/>
          </a:ln>
        </p:spPr>
      </p:sp>
      <p:sp>
        <p:nvSpPr>
          <p:cNvPr id="6" name="Text 4"/>
          <p:cNvSpPr/>
          <p:nvPr/>
        </p:nvSpPr>
        <p:spPr>
          <a:xfrm>
            <a:off x="1021609" y="2136670"/>
            <a:ext cx="217297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4531A"/>
                </a:solidFill>
                <a:latin typeface="Space Grotesk" pitchFamily="34" charset="0"/>
                <a:ea typeface="Space Grotesk" pitchFamily="34" charset="-122"/>
                <a:cs typeface="Space Grotesk" pitchFamily="34" charset="-120"/>
              </a:rPr>
              <a:t>1</a:t>
            </a:r>
            <a:endParaRPr lang="en-US" sz="2200" dirty="0"/>
          </a:p>
        </p:txBody>
      </p:sp>
      <p:sp>
        <p:nvSpPr>
          <p:cNvPr id="7" name="Text 5"/>
          <p:cNvSpPr/>
          <p:nvPr/>
        </p:nvSpPr>
        <p:spPr>
          <a:xfrm>
            <a:off x="1021609" y="2604027"/>
            <a:ext cx="231214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Browser creates a request</a:t>
            </a:r>
            <a:endParaRPr lang="en-US" sz="1400" dirty="0"/>
          </a:p>
        </p:txBody>
      </p:sp>
      <p:sp>
        <p:nvSpPr>
          <p:cNvPr id="8" name="Shape 6"/>
          <p:cNvSpPr/>
          <p:nvPr/>
        </p:nvSpPr>
        <p:spPr>
          <a:xfrm>
            <a:off x="3495675" y="1931033"/>
            <a:ext cx="2520950" cy="1376468"/>
          </a:xfrm>
          <a:prstGeom prst="roundRect">
            <a:avLst>
              <a:gd name="adj" fmla="val 7151"/>
            </a:avLst>
          </a:prstGeom>
          <a:solidFill>
            <a:srgbClr val="FFFFFF"/>
          </a:solidFill>
          <a:ln w="6350">
            <a:solidFill>
              <a:srgbClr val="E1DED5"/>
            </a:solidFill>
            <a:prstDash val="solid"/>
          </a:ln>
        </p:spPr>
      </p:sp>
      <p:sp>
        <p:nvSpPr>
          <p:cNvPr id="9" name="Text 7"/>
          <p:cNvSpPr/>
          <p:nvPr/>
        </p:nvSpPr>
        <p:spPr>
          <a:xfrm>
            <a:off x="3701309" y="2136670"/>
            <a:ext cx="217297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4531A"/>
                </a:solidFill>
                <a:latin typeface="Space Grotesk" pitchFamily="34" charset="0"/>
                <a:ea typeface="Space Grotesk" pitchFamily="34" charset="-122"/>
                <a:cs typeface="Space Grotesk" pitchFamily="34" charset="-120"/>
              </a:rPr>
              <a:t>2</a:t>
            </a:r>
            <a:endParaRPr lang="en-US" sz="2200" dirty="0"/>
          </a:p>
        </p:txBody>
      </p:sp>
      <p:sp>
        <p:nvSpPr>
          <p:cNvPr id="10" name="Text 8"/>
          <p:cNvSpPr/>
          <p:nvPr/>
        </p:nvSpPr>
        <p:spPr>
          <a:xfrm>
            <a:off x="3701309" y="2604027"/>
            <a:ext cx="217297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Request travels to the server</a:t>
            </a:r>
            <a:endParaRPr lang="en-US" sz="1400" dirty="0"/>
          </a:p>
        </p:txBody>
      </p:sp>
      <p:sp>
        <p:nvSpPr>
          <p:cNvPr id="11" name="Shape 9"/>
          <p:cNvSpPr/>
          <p:nvPr/>
        </p:nvSpPr>
        <p:spPr>
          <a:xfrm>
            <a:off x="6175375" y="1931033"/>
            <a:ext cx="2520950" cy="1376468"/>
          </a:xfrm>
          <a:prstGeom prst="roundRect">
            <a:avLst>
              <a:gd name="adj" fmla="val 7151"/>
            </a:avLst>
          </a:prstGeom>
          <a:solidFill>
            <a:srgbClr val="FFFFFF"/>
          </a:solidFill>
          <a:ln w="6350">
            <a:solidFill>
              <a:srgbClr val="E1DED5"/>
            </a:solidFill>
            <a:prstDash val="solid"/>
          </a:ln>
        </p:spPr>
      </p:sp>
      <p:sp>
        <p:nvSpPr>
          <p:cNvPr id="12" name="Text 10"/>
          <p:cNvSpPr/>
          <p:nvPr/>
        </p:nvSpPr>
        <p:spPr>
          <a:xfrm>
            <a:off x="6381009" y="2136670"/>
            <a:ext cx="217297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4531A"/>
                </a:solidFill>
                <a:latin typeface="Space Grotesk" pitchFamily="34" charset="0"/>
                <a:ea typeface="Space Grotesk" pitchFamily="34" charset="-122"/>
                <a:cs typeface="Space Grotesk" pitchFamily="34" charset="-120"/>
              </a:rPr>
              <a:t>3</a:t>
            </a:r>
            <a:endParaRPr lang="en-US" sz="2200" dirty="0"/>
          </a:p>
        </p:txBody>
      </p:sp>
      <p:sp>
        <p:nvSpPr>
          <p:cNvPr id="13" name="Text 11"/>
          <p:cNvSpPr/>
          <p:nvPr/>
        </p:nvSpPr>
        <p:spPr>
          <a:xfrm>
            <a:off x="6381009" y="2604027"/>
            <a:ext cx="217297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Server processes it</a:t>
            </a:r>
            <a:endParaRPr lang="en-US" sz="1400" dirty="0"/>
          </a:p>
        </p:txBody>
      </p:sp>
      <p:sp>
        <p:nvSpPr>
          <p:cNvPr id="14" name="Shape 12"/>
          <p:cNvSpPr/>
          <p:nvPr/>
        </p:nvSpPr>
        <p:spPr>
          <a:xfrm>
            <a:off x="8855075" y="1931033"/>
            <a:ext cx="2520950" cy="1376468"/>
          </a:xfrm>
          <a:prstGeom prst="roundRect">
            <a:avLst>
              <a:gd name="adj" fmla="val 7151"/>
            </a:avLst>
          </a:prstGeom>
          <a:solidFill>
            <a:srgbClr val="FFFFFF"/>
          </a:solidFill>
          <a:ln w="6350">
            <a:solidFill>
              <a:srgbClr val="E1DED5"/>
            </a:solidFill>
            <a:prstDash val="solid"/>
          </a:ln>
        </p:spPr>
      </p:sp>
      <p:sp>
        <p:nvSpPr>
          <p:cNvPr id="15" name="Text 13"/>
          <p:cNvSpPr/>
          <p:nvPr/>
        </p:nvSpPr>
        <p:spPr>
          <a:xfrm>
            <a:off x="9060709" y="2136670"/>
            <a:ext cx="217297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4531A"/>
                </a:solidFill>
                <a:latin typeface="Space Grotesk" pitchFamily="34" charset="0"/>
                <a:ea typeface="Space Grotesk" pitchFamily="34" charset="-122"/>
                <a:cs typeface="Space Grotesk" pitchFamily="34" charset="-120"/>
              </a:rPr>
              <a:t>4</a:t>
            </a:r>
            <a:endParaRPr lang="en-US" sz="2200" dirty="0"/>
          </a:p>
        </p:txBody>
      </p:sp>
      <p:sp>
        <p:nvSpPr>
          <p:cNvPr id="16" name="Text 14"/>
          <p:cNvSpPr/>
          <p:nvPr/>
        </p:nvSpPr>
        <p:spPr>
          <a:xfrm>
            <a:off x="9060709" y="2604027"/>
            <a:ext cx="217297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Server may query the database</a:t>
            </a:r>
            <a:endParaRPr lang="en-US" sz="1400" dirty="0"/>
          </a:p>
        </p:txBody>
      </p:sp>
      <p:sp>
        <p:nvSpPr>
          <p:cNvPr id="17" name="Shape 15"/>
          <p:cNvSpPr/>
          <p:nvPr/>
        </p:nvSpPr>
        <p:spPr>
          <a:xfrm>
            <a:off x="815975" y="3466250"/>
            <a:ext cx="2520950" cy="1376468"/>
          </a:xfrm>
          <a:prstGeom prst="roundRect">
            <a:avLst>
              <a:gd name="adj" fmla="val 7151"/>
            </a:avLst>
          </a:prstGeom>
          <a:solidFill>
            <a:srgbClr val="FFFFFF"/>
          </a:solidFill>
          <a:ln w="6350">
            <a:solidFill>
              <a:srgbClr val="E1DED5"/>
            </a:solidFill>
            <a:prstDash val="solid"/>
          </a:ln>
        </p:spPr>
      </p:sp>
      <p:sp>
        <p:nvSpPr>
          <p:cNvPr id="18" name="Text 16"/>
          <p:cNvSpPr/>
          <p:nvPr/>
        </p:nvSpPr>
        <p:spPr>
          <a:xfrm>
            <a:off x="1021609" y="3671888"/>
            <a:ext cx="217297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FA8"/>
                </a:solidFill>
                <a:latin typeface="Space Grotesk" pitchFamily="34" charset="0"/>
                <a:ea typeface="Space Grotesk" pitchFamily="34" charset="-122"/>
                <a:cs typeface="Space Grotesk" pitchFamily="34" charset="-120"/>
              </a:rPr>
              <a:t>5</a:t>
            </a:r>
            <a:endParaRPr lang="en-US" sz="2200" dirty="0"/>
          </a:p>
        </p:txBody>
      </p:sp>
      <p:sp>
        <p:nvSpPr>
          <p:cNvPr id="19" name="Text 17"/>
          <p:cNvSpPr/>
          <p:nvPr/>
        </p:nvSpPr>
        <p:spPr>
          <a:xfrm>
            <a:off x="1021609" y="4139245"/>
            <a:ext cx="217297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Server builds a response</a:t>
            </a:r>
            <a:endParaRPr lang="en-US" sz="1400" dirty="0"/>
          </a:p>
        </p:txBody>
      </p:sp>
      <p:sp>
        <p:nvSpPr>
          <p:cNvPr id="20" name="Shape 18"/>
          <p:cNvSpPr/>
          <p:nvPr/>
        </p:nvSpPr>
        <p:spPr>
          <a:xfrm>
            <a:off x="3495675" y="3466250"/>
            <a:ext cx="2520950" cy="1376468"/>
          </a:xfrm>
          <a:prstGeom prst="roundRect">
            <a:avLst>
              <a:gd name="adj" fmla="val 7151"/>
            </a:avLst>
          </a:prstGeom>
          <a:solidFill>
            <a:srgbClr val="FFFFFF"/>
          </a:solidFill>
          <a:ln w="6350">
            <a:solidFill>
              <a:srgbClr val="E1DED5"/>
            </a:solidFill>
            <a:prstDash val="solid"/>
          </a:ln>
        </p:spPr>
      </p:sp>
      <p:sp>
        <p:nvSpPr>
          <p:cNvPr id="21" name="Text 19"/>
          <p:cNvSpPr/>
          <p:nvPr/>
        </p:nvSpPr>
        <p:spPr>
          <a:xfrm>
            <a:off x="3701309" y="3671888"/>
            <a:ext cx="217297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FA8"/>
                </a:solidFill>
                <a:latin typeface="Space Grotesk" pitchFamily="34" charset="0"/>
                <a:ea typeface="Space Grotesk" pitchFamily="34" charset="-122"/>
                <a:cs typeface="Space Grotesk" pitchFamily="34" charset="-120"/>
              </a:rPr>
              <a:t>6</a:t>
            </a:r>
            <a:endParaRPr lang="en-US" sz="2200" dirty="0"/>
          </a:p>
        </p:txBody>
      </p:sp>
      <p:sp>
        <p:nvSpPr>
          <p:cNvPr id="22" name="Text 20"/>
          <p:cNvSpPr/>
          <p:nvPr/>
        </p:nvSpPr>
        <p:spPr>
          <a:xfrm>
            <a:off x="3701309" y="4139245"/>
            <a:ext cx="217297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Response returns to the browser</a:t>
            </a:r>
            <a:endParaRPr lang="en-US" sz="1400" dirty="0"/>
          </a:p>
        </p:txBody>
      </p:sp>
      <p:sp>
        <p:nvSpPr>
          <p:cNvPr id="23" name="Shape 21"/>
          <p:cNvSpPr/>
          <p:nvPr/>
        </p:nvSpPr>
        <p:spPr>
          <a:xfrm>
            <a:off x="6175375" y="3466250"/>
            <a:ext cx="2520950" cy="1376468"/>
          </a:xfrm>
          <a:prstGeom prst="roundRect">
            <a:avLst>
              <a:gd name="adj" fmla="val 7151"/>
            </a:avLst>
          </a:prstGeom>
          <a:solidFill>
            <a:srgbClr val="FFFFFF"/>
          </a:solidFill>
          <a:ln w="6350">
            <a:solidFill>
              <a:srgbClr val="E1DED5"/>
            </a:solidFill>
            <a:prstDash val="solid"/>
          </a:ln>
        </p:spPr>
      </p:sp>
      <p:sp>
        <p:nvSpPr>
          <p:cNvPr id="24" name="Text 22"/>
          <p:cNvSpPr/>
          <p:nvPr/>
        </p:nvSpPr>
        <p:spPr>
          <a:xfrm>
            <a:off x="6381009" y="3671888"/>
            <a:ext cx="217297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FA8"/>
                </a:solidFill>
                <a:latin typeface="Space Grotesk" pitchFamily="34" charset="0"/>
                <a:ea typeface="Space Grotesk" pitchFamily="34" charset="-122"/>
                <a:cs typeface="Space Grotesk" pitchFamily="34" charset="-120"/>
              </a:rPr>
              <a:t>7</a:t>
            </a:r>
            <a:endParaRPr lang="en-US" sz="2200" dirty="0"/>
          </a:p>
        </p:txBody>
      </p:sp>
      <p:sp>
        <p:nvSpPr>
          <p:cNvPr id="25" name="Text 23"/>
          <p:cNvSpPr/>
          <p:nvPr/>
        </p:nvSpPr>
        <p:spPr>
          <a:xfrm>
            <a:off x="6381009" y="4139245"/>
            <a:ext cx="231214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Browser renders the page</a:t>
            </a:r>
            <a:endParaRPr lang="en-US" sz="1400" dirty="0"/>
          </a:p>
        </p:txBody>
      </p:sp>
      <p:sp>
        <p:nvSpPr>
          <p:cNvPr id="26" name="Text 24"/>
          <p:cNvSpPr/>
          <p:nvPr/>
        </p:nvSpPr>
        <p:spPr>
          <a:xfrm>
            <a:off x="8851900" y="3463075"/>
            <a:ext cx="2527300" cy="1382818"/>
          </a:xfrm>
          <a:prstGeom prst="roundRect">
            <a:avLst>
              <a:gd name="adj" fmla="val 7347"/>
            </a:avLst>
          </a:prstGeom>
          <a:solidFill>
            <a:srgbClr val="141B2D"/>
          </a:solidFill>
          <a:ln/>
        </p:spPr>
        <p:txBody>
          <a:bodyPr wrap="square" lIns="173442" tIns="173442" rIns="109815" bIns="173442" rtlCol="0" anchor="ctr">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One page load = </a:t>
            </a:r>
            <a:r>
              <a:rPr lang="en-US" sz="1400" b="1" dirty="0">
                <a:solidFill>
                  <a:srgbClr val="F3F1EA"/>
                </a:solidFill>
                <a:latin typeface="IBM Plex Sans" pitchFamily="34" charset="0"/>
                <a:ea typeface="IBM Plex Sans" pitchFamily="34" charset="-122"/>
                <a:cs typeface="IBM Plex Sans" pitchFamily="34" charset="-120"/>
              </a:rPr>
              <a:t>dozens</a:t>
            </a:r>
            <a:r>
              <a:rPr lang="en-US" sz="1400" dirty="0">
                <a:solidFill>
                  <a:srgbClr val="F3F1EA"/>
                </a:solidFill>
                <a:latin typeface="IBM Plex Sans" pitchFamily="34" charset="0"/>
                <a:ea typeface="IBM Plex Sans" pitchFamily="34" charset="-122"/>
                <a:cs typeface="IBM Plex Sans" pitchFamily="34" charset="-120"/>
              </a:rPr>
              <a:t> of these cycles. Let’s prove it →</a:t>
            </a:r>
            <a:endParaRPr lang="en-US" sz="1400" dirty="0"/>
          </a:p>
        </p:txBody>
      </p:sp>
      <p:sp>
        <p:nvSpPr>
          <p:cNvPr id="27" name="Text 2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p.11 · Orange = going to the server · Blue = coming back</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332219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9:51 AM · REST APIs (preview of Day 3)</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REST API: a menu with four verbs</a:t>
            </a:r>
            <a:endParaRPr lang="en-US" sz="3000" dirty="0"/>
          </a:p>
        </p:txBody>
      </p:sp>
      <p:sp>
        <p:nvSpPr>
          <p:cNvPr id="5" name="Text 3"/>
          <p:cNvSpPr/>
          <p:nvPr/>
        </p:nvSpPr>
        <p:spPr>
          <a:xfrm>
            <a:off x="812800" y="192785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266"/>
                </a:solidFill>
                <a:latin typeface="IBM Plex Sans" pitchFamily="34" charset="0"/>
                <a:ea typeface="IBM Plex Sans" pitchFamily="34" charset="-122"/>
                <a:cs typeface="IBM Plex Sans" pitchFamily="34" charset="-120"/>
              </a:rPr>
              <a:t>A REST API treats data as </a:t>
            </a:r>
            <a:r>
              <a:rPr lang="en-US" sz="1500" b="1" dirty="0">
                <a:solidFill>
                  <a:srgbClr val="4A5266"/>
                </a:solidFill>
                <a:latin typeface="IBM Plex Sans" pitchFamily="34" charset="0"/>
                <a:ea typeface="IBM Plex Sans" pitchFamily="34" charset="-122"/>
                <a:cs typeface="IBM Plex Sans" pitchFamily="34" charset="-120"/>
              </a:rPr>
              <a:t>resources</a:t>
            </a:r>
            <a:r>
              <a:rPr lang="en-US" sz="1500" dirty="0">
                <a:solidFill>
                  <a:srgbClr val="4A5266"/>
                </a:solidFill>
                <a:latin typeface="IBM Plex Sans" pitchFamily="34" charset="0"/>
                <a:ea typeface="IBM Plex Sans" pitchFamily="34" charset="-122"/>
                <a:cs typeface="IBM Plex Sans" pitchFamily="34" charset="-120"/>
              </a:rPr>
              <a:t> (like /students) and uses standard HTTP methods on them.</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4018" y="2408976"/>
          <a:ext cx="10555182" cy="2056342"/>
        </p:xfrm>
        <a:graphic>
          <a:graphicData uri="http://schemas.openxmlformats.org/drawingml/2006/table">
            <a:tbl>
              <a:tblPr/>
              <a:tblGrid>
                <a:gridCol w="1688829"/>
                <a:gridCol w="1688829"/>
                <a:gridCol w="3166554"/>
                <a:gridCol w="4010969"/>
              </a:tblGrid>
              <a:tr h="411268">
                <a:tc>
                  <a:txBody>
                    <a:bodyPr/>
                    <a:lstStyle/>
                    <a:p>
                      <a:pPr indent="0" marL="0">
                        <a:lnSpc>
                          <a:spcPts val="2100"/>
                        </a:lnSpc>
                        <a:buNone/>
                      </a:pPr>
                      <a:r>
                        <a:rPr lang="en-US" sz="1500" b="1" dirty="0">
                          <a:solidFill>
                            <a:srgbClr val="1A2236"/>
                          </a:solidFill>
                          <a:latin typeface="IBM Plex Sans" pitchFamily="34" charset="0"/>
                          <a:ea typeface="IBM Plex Sans" pitchFamily="34" charset="-122"/>
                          <a:cs typeface="IBM Plex Sans" pitchFamily="34" charset="-120"/>
                        </a:rPr>
                        <a:t>Method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2100"/>
                        </a:lnSpc>
                        <a:buNone/>
                      </a:pPr>
                      <a:r>
                        <a:rPr lang="en-US" sz="1500" b="1" dirty="0">
                          <a:solidFill>
                            <a:srgbClr val="1A2236"/>
                          </a:solidFill>
                          <a:latin typeface="IBM Plex Sans" pitchFamily="34" charset="0"/>
                          <a:ea typeface="IBM Plex Sans" pitchFamily="34" charset="-122"/>
                          <a:cs typeface="IBM Plex Sans" pitchFamily="34" charset="-120"/>
                        </a:rPr>
                        <a:t>CRUD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2100"/>
                        </a:lnSpc>
                        <a:buNone/>
                      </a:pPr>
                      <a:r>
                        <a:rPr lang="en-US" sz="1500" b="1" dirty="0">
                          <a:solidFill>
                            <a:srgbClr val="1A2236"/>
                          </a:solidFill>
                          <a:latin typeface="IBM Plex Sans" pitchFamily="34" charset="0"/>
                          <a:ea typeface="IBM Plex Sans" pitchFamily="34" charset="-122"/>
                          <a:cs typeface="IBM Plex Sans" pitchFamily="34" charset="-120"/>
                        </a:rPr>
                        <a:t>Example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2100"/>
                        </a:lnSpc>
                        <a:buNone/>
                      </a:pPr>
                      <a:r>
                        <a:rPr lang="en-US" sz="1500" b="1" dirty="0">
                          <a:solidFill>
                            <a:srgbClr val="1A2236"/>
                          </a:solidFill>
                          <a:latin typeface="IBM Plex Sans" pitchFamily="34" charset="0"/>
                          <a:ea typeface="IBM Plex Sans" pitchFamily="34" charset="-122"/>
                          <a:cs typeface="IBM Plex Sans" pitchFamily="34" charset="-120"/>
                        </a:rPr>
                        <a:t>In the restaurant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411268">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GET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Read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GET /students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“Show me the menu”</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11268">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POST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Create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POST /students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“Place a new order”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11268">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PUT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Update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PUT /students/2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“Change order 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11268">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DELETE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Delete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DELETE /students/2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“Cancel order 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7" name="Text 4"/>
          <p:cNvSpPr/>
          <p:nvPr/>
        </p:nvSpPr>
        <p:spPr>
          <a:xfrm>
            <a:off x="812800" y="4668521"/>
            <a:ext cx="10566400" cy="502920"/>
          </a:xfrm>
          <a:prstGeom prst="roundRect">
            <a:avLst>
              <a:gd name="adj" fmla="val 15152"/>
            </a:avLst>
          </a:prstGeom>
          <a:solidFill>
            <a:srgbClr val="FCEFD9"/>
          </a:solidFill>
          <a:ln/>
        </p:spPr>
        <p:txBody>
          <a:bodyPr wrap="square" lIns="155482" tIns="104682" rIns="0" bIns="79282"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Same URL, different method = different action. GET /students and POST /students do different things.</a:t>
            </a:r>
            <a:endParaRPr lang="en-US" sz="1400" dirty="0"/>
          </a:p>
        </p:txBody>
      </p:sp>
      <p:sp>
        <p:nvSpPr>
          <p:cNvPr id="8"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p.39, 42 · Built hands-on on Day 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1166072" cy="289560"/>
          </a:xfrm>
          <a:custGeom>
            <a:avLst/>
            <a:gdLst/>
            <a:ahLst/>
            <a:cxnLst/>
            <a:rect l="l" t="t" r="r" b="b"/>
            <a:pathLst>
              <a:path w="1166072" h="289560">
                <a:moveTo>
                  <a:pt x="144780" y="0"/>
                </a:moveTo>
                <a:lnTo>
                  <a:pt x="1021292" y="0"/>
                </a:lnTo>
                <a:arcTo hR="144780" wR="144780" stAng="16200000" swAng="5400000"/>
                <a:lnTo>
                  <a:pt x="1166072"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a:t>
            </a:r>
            <a:endParaRPr lang="en-US" sz="1200" dirty="0"/>
          </a:p>
        </p:txBody>
      </p:sp>
      <p:sp>
        <p:nvSpPr>
          <p:cNvPr id="3" name="Text 1"/>
          <p:cNvSpPr/>
          <p:nvPr/>
        </p:nvSpPr>
        <p:spPr>
          <a:xfrm>
            <a:off x="2105872" y="850900"/>
            <a:ext cx="347179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9:53 AM · 15 min · Network tab detective</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3F1EA"/>
                </a:solidFill>
                <a:latin typeface="Space Grotesk" pitchFamily="34" charset="0"/>
                <a:ea typeface="Space Grotesk" pitchFamily="34" charset="-122"/>
                <a:cs typeface="Space Grotesk" pitchFamily="34" charset="-120"/>
              </a:rPr>
              <a:t>Catch the requests in the act</a:t>
            </a:r>
            <a:endParaRPr lang="en-US" sz="3000" dirty="0"/>
          </a:p>
        </p:txBody>
      </p:sp>
      <p:sp>
        <p:nvSpPr>
          <p:cNvPr id="5" name="Text 3"/>
          <p:cNvSpPr/>
          <p:nvPr/>
        </p:nvSpPr>
        <p:spPr>
          <a:xfrm>
            <a:off x="869738" y="1927858"/>
            <a:ext cx="3990552" cy="1892300"/>
          </a:xfrm>
          <a:prstGeom prst="rect">
            <a:avLst/>
          </a:prstGeom>
          <a:noFill/>
          <a:ln/>
        </p:spPr>
        <p:txBody>
          <a:bodyPr wrap="square" lIns="0" tIns="0" rIns="0" bIns="0" rtlCol="0" anchor="t">
            <a:normAutofit/>
          </a:bodyPr>
          <a:lstStyle/>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Open any website, press </a:t>
            </a:r>
            <a:r>
              <a:rPr lang="en-US" sz="1400" b="1" dirty="0">
                <a:solidFill>
                  <a:srgbClr val="E3E8F1"/>
                </a:solidFill>
                <a:latin typeface="IBM Plex Sans" pitchFamily="34" charset="0"/>
                <a:ea typeface="IBM Plex Sans" pitchFamily="34" charset="-122"/>
                <a:cs typeface="IBM Plex Sans" pitchFamily="34" charset="-120"/>
              </a:rPr>
              <a:t>F12</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Click the </a:t>
            </a:r>
            <a:r>
              <a:rPr lang="en-US" sz="1400" b="1" dirty="0">
                <a:solidFill>
                  <a:srgbClr val="E3E8F1"/>
                </a:solidFill>
                <a:latin typeface="IBM Plex Sans" pitchFamily="34" charset="0"/>
                <a:ea typeface="IBM Plex Sans" pitchFamily="34" charset="-122"/>
                <a:cs typeface="IBM Plex Sans" pitchFamily="34" charset="-120"/>
              </a:rPr>
              <a:t>Network</a:t>
            </a:r>
            <a:r>
              <a:rPr lang="en-US" sz="1400" dirty="0">
                <a:solidFill>
                  <a:srgbClr val="E3E8F1"/>
                </a:solidFill>
                <a:latin typeface="IBM Plex Sans" pitchFamily="34" charset="0"/>
                <a:ea typeface="IBM Plex Sans" pitchFamily="34" charset="-122"/>
                <a:cs typeface="IBM Plex Sans" pitchFamily="34" charset="-120"/>
              </a:rPr>
              <a:t> tab</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Press </a:t>
            </a:r>
            <a:r>
              <a:rPr lang="en-US" sz="1400" b="1" dirty="0">
                <a:solidFill>
                  <a:srgbClr val="E3E8F1"/>
                </a:solidFill>
                <a:latin typeface="IBM Plex Sans" pitchFamily="34" charset="0"/>
                <a:ea typeface="IBM Plex Sans" pitchFamily="34" charset="-122"/>
                <a:cs typeface="IBM Plex Sans" pitchFamily="34" charset="-120"/>
              </a:rPr>
              <a:t>Ctrl+R</a:t>
            </a:r>
            <a:r>
              <a:rPr lang="en-US" sz="1400" dirty="0">
                <a:solidFill>
                  <a:srgbClr val="E3E8F1"/>
                </a:solidFill>
                <a:latin typeface="IBM Plex Sans" pitchFamily="34" charset="0"/>
                <a:ea typeface="IBM Plex Sans" pitchFamily="34" charset="-122"/>
                <a:cs typeface="IBM Plex Sans" pitchFamily="34" charset="-120"/>
              </a:rPr>
              <a:t> to reload</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Click the first row (the HTML document)</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Read </a:t>
            </a:r>
            <a:r>
              <a:rPr lang="en-US" sz="1400" b="1" dirty="0">
                <a:solidFill>
                  <a:srgbClr val="E3E8F1"/>
                </a:solidFill>
                <a:latin typeface="IBM Plex Sans" pitchFamily="34" charset="0"/>
                <a:ea typeface="IBM Plex Sans" pitchFamily="34" charset="-122"/>
                <a:cs typeface="IBM Plex Sans" pitchFamily="34" charset="-120"/>
              </a:rPr>
              <a:t>Headers</a:t>
            </a:r>
            <a:r>
              <a:rPr lang="en-US" sz="1400" dirty="0">
                <a:solidFill>
                  <a:srgbClr val="E3E8F1"/>
                </a:solidFill>
                <a:latin typeface="IBM Plex Sans" pitchFamily="34" charset="0"/>
                <a:ea typeface="IBM Plex Sans" pitchFamily="34" charset="-122"/>
                <a:cs typeface="IBM Plex Sans" pitchFamily="34" charset="-120"/>
              </a:rPr>
              <a:t>: URL, method, status</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Click </a:t>
            </a:r>
            <a:r>
              <a:rPr lang="en-US" sz="1400" b="1" dirty="0">
                <a:solidFill>
                  <a:srgbClr val="E3E8F1"/>
                </a:solidFill>
                <a:latin typeface="IBM Plex Sans" pitchFamily="34" charset="0"/>
                <a:ea typeface="IBM Plex Sans" pitchFamily="34" charset="-122"/>
                <a:cs typeface="IBM Plex Sans" pitchFamily="34" charset="-120"/>
              </a:rPr>
              <a:t>Response</a:t>
            </a:r>
            <a:r>
              <a:rPr lang="en-US" sz="1400" dirty="0">
                <a:solidFill>
                  <a:srgbClr val="E3E8F1"/>
                </a:solidFill>
                <a:latin typeface="IBM Plex Sans" pitchFamily="34" charset="0"/>
                <a:ea typeface="IBM Plex Sans" pitchFamily="34" charset="-122"/>
                <a:cs typeface="IBM Plex Sans" pitchFamily="34" charset="-120"/>
              </a:rPr>
              <a:t>: that’s the HTML!</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Use the filter: Doc, CSS, JS, Img</a:t>
            </a:r>
            <a:endParaRPr lang="en-US" sz="1400" dirty="0"/>
          </a:p>
        </p:txBody>
      </p:sp>
      <p:sp>
        <p:nvSpPr>
          <p:cNvPr id="6" name="Text 4"/>
          <p:cNvSpPr/>
          <p:nvPr/>
        </p:nvSpPr>
        <p:spPr>
          <a:xfrm>
            <a:off x="812800" y="3896358"/>
            <a:ext cx="405511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994A"/>
                </a:solidFill>
                <a:latin typeface="IBM Plex Sans" pitchFamily="34" charset="0"/>
                <a:ea typeface="IBM Plex Sans" pitchFamily="34" charset="-122"/>
                <a:cs typeface="IBM Plex Sans" pitchFamily="34" charset="-120"/>
              </a:rPr>
              <a:t>How many requests in total? Check the bottom bar.</a:t>
            </a:r>
            <a:endParaRPr lang="en-US" sz="1300" dirty="0"/>
          </a:p>
        </p:txBody>
      </p:sp>
      <p:sp>
        <p:nvSpPr>
          <p:cNvPr id="7" name="Shape 5"/>
          <p:cNvSpPr/>
          <p:nvPr/>
        </p:nvSpPr>
        <p:spPr>
          <a:xfrm>
            <a:off x="5054600" y="1927858"/>
            <a:ext cx="6324600" cy="2854960"/>
          </a:xfrm>
          <a:prstGeom prst="roundRect">
            <a:avLst>
              <a:gd name="adj" fmla="val 3559"/>
            </a:avLst>
          </a:prstGeom>
          <a:solidFill>
            <a:srgbClr val="F5F3EE"/>
          </a:solidFill>
          <a:ln/>
        </p:spPr>
      </p:sp>
      <p:sp>
        <p:nvSpPr>
          <p:cNvPr id="8" name="Text 6"/>
          <p:cNvSpPr/>
          <p:nvPr/>
        </p:nvSpPr>
        <p:spPr>
          <a:xfrm>
            <a:off x="5257800" y="2131058"/>
            <a:ext cx="609574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DETECTIVE SHEET · fill all 4 rows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269018" y="2457240"/>
          <a:ext cx="5906982" cy="1789642"/>
        </p:xfrm>
        <a:graphic>
          <a:graphicData uri="http://schemas.openxmlformats.org/drawingml/2006/table">
            <a:tbl>
              <a:tblPr/>
              <a:tblGrid>
                <a:gridCol w="1299536"/>
                <a:gridCol w="1772094"/>
                <a:gridCol w="945117"/>
                <a:gridCol w="945117"/>
                <a:gridCol w="945117"/>
              </a:tblGrid>
              <a:tr h="357928">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Type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solidFill>
                      <a:srgbClr val="F5F3EF"/>
                    </a:solidFill>
                  </a:tcPr>
                </a:tc>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File name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solidFill>
                      <a:srgbClr val="F5F3EF"/>
                    </a:solidFill>
                  </a:tcPr>
                </a:tc>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Method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solidFill>
                      <a:srgbClr val="F5F3EF"/>
                    </a:solidFill>
                  </a:tcPr>
                </a:tc>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Status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solidFill>
                      <a:srgbClr val="F5F3EF"/>
                    </a:solidFill>
                  </a:tcPr>
                </a:tc>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Size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solidFill>
                      <a:srgbClr val="F5F3EF"/>
                    </a:solidFill>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HTML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CSS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JS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Image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F6F4F0"/>
                      </a:solidFill>
                      <a:prstDash val="solid"/>
                      <a:round/>
                      <a:headEnd type="none" w="med" len="med"/>
                      <a:tailEnd type="none" w="med" len="med"/>
                    </a:lnL>
                    <a:lnR w="12700" cap="flat" cmpd="sng" algn="ctr">
                      <a:solidFill>
                        <a:srgbClr val="F6F4F0"/>
                      </a:solidFill>
                      <a:prstDash val="solid"/>
                      <a:round/>
                      <a:headEnd type="none" w="med" len="med"/>
                      <a:tailEnd type="none" w="med" len="med"/>
                    </a:lnR>
                    <a:lnT w="12700" cap="flat" cmpd="sng" algn="ctr">
                      <a:solidFill>
                        <a:srgbClr val="F6F4F0"/>
                      </a:solidFill>
                      <a:prstDash val="solid"/>
                      <a:round/>
                      <a:headEnd type="none" w="med" len="med"/>
                      <a:tailEnd type="none" w="med" len="med"/>
                    </a:lnT>
                    <a:lnB w="12700" cap="flat" cmpd="sng" algn="ctr">
                      <a:solidFill>
                        <a:srgbClr val="F6F4F0"/>
                      </a:solidFill>
                      <a:prstDash val="solid"/>
                      <a:round/>
                      <a:headEnd type="none" w="med" len="med"/>
                      <a:tailEnd type="none" w="med" len="med"/>
                    </a:lnB>
                  </a:tcPr>
                </a:tc>
              </a:tr>
            </a:tbl>
          </a:graphicData>
        </a:graphic>
      </p:graphicFrame>
      <p:sp>
        <p:nvSpPr>
          <p:cNvPr id="10" name="Text 7"/>
          <p:cNvSpPr/>
          <p:nvPr/>
        </p:nvSpPr>
        <p:spPr>
          <a:xfrm>
            <a:off x="5257800" y="4348479"/>
            <a:ext cx="609574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6"/>
                </a:solidFill>
                <a:latin typeface="IBM Plex Sans" pitchFamily="34" charset="0"/>
                <a:ea typeface="IBM Plex Sans" pitchFamily="34" charset="-122"/>
                <a:cs typeface="IBM Plex Sans" pitchFamily="34" charset="-120"/>
              </a:rPr>
              <a:t>Bonus: type a fake page like </a:t>
            </a:r>
            <a:r>
              <a:rPr lang="en-US" sz="1300" b="1" dirty="0">
                <a:solidFill>
                  <a:srgbClr val="4A5266"/>
                </a:solidFill>
                <a:latin typeface="IBM Plex Sans" pitchFamily="34" charset="0"/>
                <a:ea typeface="IBM Plex Sans" pitchFamily="34" charset="-122"/>
                <a:cs typeface="IBM Plex Sans" pitchFamily="34" charset="-120"/>
              </a:rPr>
              <a:t>/hello123</a:t>
            </a:r>
            <a:r>
              <a:rPr lang="en-US" sz="1300" dirty="0">
                <a:solidFill>
                  <a:srgbClr val="4A5266"/>
                </a:solidFill>
                <a:latin typeface="IBM Plex Sans" pitchFamily="34" charset="0"/>
                <a:ea typeface="IBM Plex Sans" pitchFamily="34" charset="-122"/>
                <a:cs typeface="IBM Plex Sans" pitchFamily="34" charset="-120"/>
              </a:rPr>
              <a:t> after the URL. What status do you get?</a:t>
            </a:r>
            <a:endParaRPr lang="en-US" sz="1300" dirty="0"/>
          </a:p>
        </p:txBody>
      </p:sp>
      <p:sp>
        <p:nvSpPr>
          <p:cNvPr id="11" name="Text 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Manual p.11 · Tasks to be performed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1166072" cy="289560"/>
          </a:xfrm>
          <a:custGeom>
            <a:avLst/>
            <a:gdLst/>
            <a:ahLst/>
            <a:cxnLst/>
            <a:rect l="l" t="t" r="r" b="b"/>
            <a:pathLst>
              <a:path w="1166072" h="289560">
                <a:moveTo>
                  <a:pt x="144780" y="0"/>
                </a:moveTo>
                <a:lnTo>
                  <a:pt x="1021292" y="0"/>
                </a:lnTo>
                <a:arcTo hR="144780" wR="144780" stAng="16200000" swAng="5400000"/>
                <a:lnTo>
                  <a:pt x="1166072"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a:t>
            </a:r>
            <a:endParaRPr lang="en-US" sz="1200" dirty="0"/>
          </a:p>
        </p:txBody>
      </p:sp>
      <p:sp>
        <p:nvSpPr>
          <p:cNvPr id="3" name="Text 1"/>
          <p:cNvSpPr/>
          <p:nvPr/>
        </p:nvSpPr>
        <p:spPr>
          <a:xfrm>
            <a:off x="2105872" y="850900"/>
            <a:ext cx="300367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10:08 AM · 10 min · Tool check race</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3F1EA"/>
                </a:solidFill>
                <a:latin typeface="Space Grotesk" pitchFamily="34" charset="0"/>
                <a:ea typeface="Space Grotesk" pitchFamily="34" charset="-122"/>
                <a:cs typeface="Space Grotesk" pitchFamily="34" charset="-120"/>
              </a:rPr>
              <a:t>Check your toolkit: first to three versions wins</a:t>
            </a:r>
            <a:endParaRPr lang="en-US" sz="3000" dirty="0"/>
          </a:p>
        </p:txBody>
      </p:sp>
      <p:sp>
        <p:nvSpPr>
          <p:cNvPr id="5" name="Text 3"/>
          <p:cNvSpPr/>
          <p:nvPr/>
        </p:nvSpPr>
        <p:spPr>
          <a:xfrm>
            <a:off x="869738" y="1927858"/>
            <a:ext cx="4121362" cy="1625600"/>
          </a:xfrm>
          <a:prstGeom prst="rect">
            <a:avLst/>
          </a:prstGeom>
          <a:noFill/>
          <a:ln/>
        </p:spPr>
        <p:txBody>
          <a:bodyPr wrap="square" lIns="0" tIns="0" rIns="0" bIns="0" rtlCol="0" anchor="t">
            <a:normAutofit/>
          </a:bodyPr>
          <a:lstStyle/>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Open </a:t>
            </a:r>
            <a:r>
              <a:rPr lang="en-US" sz="1400" b="1" dirty="0">
                <a:solidFill>
                  <a:srgbClr val="E3E8F1"/>
                </a:solidFill>
                <a:latin typeface="IBM Plex Sans" pitchFamily="34" charset="0"/>
                <a:ea typeface="IBM Plex Sans" pitchFamily="34" charset="-122"/>
                <a:cs typeface="IBM Plex Sans" pitchFamily="34" charset="-120"/>
              </a:rPr>
              <a:t>VS Code</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Menu: </a:t>
            </a:r>
            <a:r>
              <a:rPr lang="en-US" sz="1400" b="1" dirty="0">
                <a:solidFill>
                  <a:srgbClr val="E3E8F1"/>
                </a:solidFill>
                <a:latin typeface="IBM Plex Sans" pitchFamily="34" charset="0"/>
                <a:ea typeface="IBM Plex Sans" pitchFamily="34" charset="-122"/>
                <a:cs typeface="IBM Plex Sans" pitchFamily="34" charset="-120"/>
              </a:rPr>
              <a:t>Terminal → New Terminal</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Run the three commands →</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Extensions (Ctrl+Shift+X): search </a:t>
            </a:r>
            <a:r>
              <a:rPr lang="en-US" sz="1400" b="1" dirty="0">
                <a:solidFill>
                  <a:srgbClr val="E3E8F1"/>
                </a:solidFill>
                <a:latin typeface="IBM Plex Sans" pitchFamily="34" charset="0"/>
                <a:ea typeface="IBM Plex Sans" pitchFamily="34" charset="-122"/>
                <a:cs typeface="IBM Plex Sans" pitchFamily="34" charset="-120"/>
              </a:rPr>
              <a:t>Live Server</a:t>
            </a:r>
            <a:r>
              <a:rPr lang="en-US" sz="1400" dirty="0">
                <a:solidFill>
                  <a:srgbClr val="E3E8F1"/>
                </a:solidFill>
                <a:latin typeface="IBM Plex Sans" pitchFamily="34" charset="0"/>
                <a:ea typeface="IBM Plex Sans" pitchFamily="34" charset="-122"/>
                <a:cs typeface="IBM Plex Sans" pitchFamily="34" charset="-120"/>
              </a:rPr>
              <a:t> → Install</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All four done? Green sticky note</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4018" y="3640876"/>
          <a:ext cx="4052782" cy="1325033"/>
        </p:xfrm>
        <a:graphic>
          <a:graphicData uri="http://schemas.openxmlformats.org/drawingml/2006/table">
            <a:tbl>
              <a:tblPr/>
              <a:tblGrid>
                <a:gridCol w="1215834"/>
                <a:gridCol w="2836947"/>
              </a:tblGrid>
              <a:tr h="331258">
                <a:tc>
                  <a:txBody>
                    <a:bodyPr/>
                    <a:lstStyle/>
                    <a:p>
                      <a:pPr indent="0" marL="0">
                        <a:lnSpc>
                          <a:spcPts val="1680"/>
                        </a:lnSpc>
                        <a:buNone/>
                      </a:pPr>
                      <a:r>
                        <a:rPr lang="en-US" sz="1200" b="1" dirty="0">
                          <a:solidFill>
                            <a:srgbClr val="E3E8F1"/>
                          </a:solidFill>
                          <a:latin typeface="IBM Plex Sans" pitchFamily="34" charset="0"/>
                          <a:ea typeface="IBM Plex Sans" pitchFamily="34" charset="-122"/>
                          <a:cs typeface="IBM Plex Sans" pitchFamily="34" charset="-120"/>
                        </a:rPr>
                        <a:t>Tool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4C59"/>
                      </a:solidFill>
                      <a:prstDash val="solid"/>
                      <a:round/>
                      <a:headEnd type="none" w="med" len="med"/>
                      <a:tailEnd type="none" w="med" len="med"/>
                    </a:lnL>
                    <a:lnR w="12700" cap="flat" cmpd="sng" algn="ctr">
                      <a:solidFill>
                        <a:srgbClr val="555A65"/>
                      </a:solidFill>
                      <a:prstDash val="solid"/>
                      <a:round/>
                      <a:headEnd type="none" w="med" len="med"/>
                      <a:tailEnd type="none" w="med" len="med"/>
                    </a:lnR>
                    <a:lnT w="12700" cap="flat" cmpd="sng" algn="ctr">
                      <a:solidFill>
                        <a:srgbClr val="474C59"/>
                      </a:solidFill>
                      <a:prstDash val="solid"/>
                      <a:round/>
                      <a:headEnd type="none" w="med" len="med"/>
                      <a:tailEnd type="none" w="med" len="med"/>
                    </a:lnT>
                    <a:lnB w="12700" cap="flat" cmpd="sng" algn="ctr">
                      <a:solidFill>
                        <a:srgbClr val="555A65"/>
                      </a:solidFill>
                      <a:prstDash val="solid"/>
                      <a:round/>
                      <a:headEnd type="none" w="med" len="med"/>
                      <a:tailEnd type="none" w="med" len="med"/>
                    </a:lnB>
                    <a:solidFill>
                      <a:srgbClr val="262D3D"/>
                    </a:solidFill>
                  </a:tcPr>
                </a:tc>
                <a:tc>
                  <a:txBody>
                    <a:bodyPr/>
                    <a:lstStyle/>
                    <a:p>
                      <a:pPr indent="0" marL="0">
                        <a:lnSpc>
                          <a:spcPts val="1680"/>
                        </a:lnSpc>
                        <a:buNone/>
                      </a:pPr>
                      <a:r>
                        <a:rPr lang="en-US" sz="1200" b="1" dirty="0">
                          <a:solidFill>
                            <a:srgbClr val="E3E8F1"/>
                          </a:solidFill>
                          <a:latin typeface="IBM Plex Sans" pitchFamily="34" charset="0"/>
                          <a:ea typeface="IBM Plex Sans" pitchFamily="34" charset="-122"/>
                          <a:cs typeface="IBM Plex Sans" pitchFamily="34" charset="-120"/>
                        </a:rPr>
                        <a:t>Why we need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555A65"/>
                      </a:solidFill>
                      <a:prstDash val="solid"/>
                      <a:round/>
                      <a:headEnd type="none" w="med" len="med"/>
                      <a:tailEnd type="none" w="med" len="med"/>
                    </a:lnL>
                    <a:lnR w="12700" cap="flat" cmpd="sng" algn="ctr">
                      <a:solidFill>
                        <a:srgbClr val="555A65"/>
                      </a:solidFill>
                      <a:prstDash val="solid"/>
                      <a:round/>
                      <a:headEnd type="none" w="med" len="med"/>
                      <a:tailEnd type="none" w="med" len="med"/>
                    </a:lnR>
                    <a:lnT w="12700" cap="flat" cmpd="sng" algn="ctr">
                      <a:solidFill>
                        <a:srgbClr val="474C59"/>
                      </a:solidFill>
                      <a:prstDash val="solid"/>
                      <a:round/>
                      <a:headEnd type="none" w="med" len="med"/>
                      <a:tailEnd type="none" w="med" len="med"/>
                    </a:lnT>
                    <a:lnB w="12700" cap="flat" cmpd="sng" algn="ctr">
                      <a:solidFill>
                        <a:srgbClr val="555A65"/>
                      </a:solidFill>
                      <a:prstDash val="solid"/>
                      <a:round/>
                      <a:headEnd type="none" w="med" len="med"/>
                      <a:tailEnd type="none" w="med" len="med"/>
                    </a:lnB>
                    <a:solidFill>
                      <a:srgbClr val="262D3D"/>
                    </a:solidFill>
                  </a:tcPr>
                </a:tc>
              </a:tr>
              <a:tr h="331258">
                <a:tc>
                  <a:txBody>
                    <a:bodyPr/>
                    <a:lstStyle/>
                    <a:p>
                      <a:pPr indent="0" marL="0">
                        <a:lnSpc>
                          <a:spcPts val="1680"/>
                        </a:lnSpc>
                        <a:buNone/>
                      </a:pPr>
                      <a:r>
                        <a:rPr lang="en-US" sz="1200" dirty="0">
                          <a:solidFill>
                            <a:srgbClr val="E3E8F1"/>
                          </a:solidFill>
                          <a:latin typeface="IBM Plex Sans" pitchFamily="34" charset="0"/>
                          <a:ea typeface="IBM Plex Sans" pitchFamily="34" charset="-122"/>
                          <a:cs typeface="IBM Plex Sans" pitchFamily="34" charset="-120"/>
                        </a:rPr>
                        <a:t>VS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4C59"/>
                      </a:solidFill>
                      <a:prstDash val="solid"/>
                      <a:round/>
                      <a:headEnd type="none" w="med" len="med"/>
                      <a:tailEnd type="none" w="med" len="med"/>
                    </a:lnL>
                    <a:lnR w="12700" cap="flat" cmpd="sng" algn="ctr">
                      <a:solidFill>
                        <a:srgbClr val="474C59"/>
                      </a:solidFill>
                      <a:prstDash val="solid"/>
                      <a:round/>
                      <a:headEnd type="none" w="med" len="med"/>
                      <a:tailEnd type="none" w="med" len="med"/>
                    </a:lnR>
                    <a:lnT w="12700" cap="flat" cmpd="sng" algn="ctr">
                      <a:solidFill>
                        <a:srgbClr val="555A65"/>
                      </a:solidFill>
                      <a:prstDash val="solid"/>
                      <a:round/>
                      <a:headEnd type="none" w="med" len="med"/>
                      <a:tailEnd type="none" w="med" len="med"/>
                    </a:lnT>
                    <a:lnB w="12700" cap="flat" cmpd="sng" algn="ctr">
                      <a:solidFill>
                        <a:srgbClr val="474C59"/>
                      </a:solidFill>
                      <a:prstDash val="solid"/>
                      <a:round/>
                      <a:headEnd type="none" w="med" len="med"/>
                      <a:tailEnd type="none" w="med" len="med"/>
                    </a:lnB>
                  </a:tcPr>
                </a:tc>
                <a:tc>
                  <a:txBody>
                    <a:bodyPr/>
                    <a:lstStyle/>
                    <a:p>
                      <a:pPr indent="0" marL="0">
                        <a:lnSpc>
                          <a:spcPts val="1680"/>
                        </a:lnSpc>
                        <a:buNone/>
                      </a:pPr>
                      <a:r>
                        <a:rPr lang="en-US" sz="1200" dirty="0">
                          <a:solidFill>
                            <a:srgbClr val="E3E8F1"/>
                          </a:solidFill>
                          <a:latin typeface="IBM Plex Sans" pitchFamily="34" charset="0"/>
                          <a:ea typeface="IBM Plex Sans" pitchFamily="34" charset="-122"/>
                          <a:cs typeface="IBM Plex Sans" pitchFamily="34" charset="-120"/>
                        </a:rPr>
                        <a:t>Write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4C59"/>
                      </a:solidFill>
                      <a:prstDash val="solid"/>
                      <a:round/>
                      <a:headEnd type="none" w="med" len="med"/>
                      <a:tailEnd type="none" w="med" len="med"/>
                    </a:lnL>
                    <a:lnR w="12700" cap="flat" cmpd="sng" algn="ctr">
                      <a:solidFill>
                        <a:srgbClr val="474C59"/>
                      </a:solidFill>
                      <a:prstDash val="solid"/>
                      <a:round/>
                      <a:headEnd type="none" w="med" len="med"/>
                      <a:tailEnd type="none" w="med" len="med"/>
                    </a:lnR>
                    <a:lnT w="12700" cap="flat" cmpd="sng" algn="ctr">
                      <a:solidFill>
                        <a:srgbClr val="555A65"/>
                      </a:solidFill>
                      <a:prstDash val="solid"/>
                      <a:round/>
                      <a:headEnd type="none" w="med" len="med"/>
                      <a:tailEnd type="none" w="med" len="med"/>
                    </a:lnT>
                    <a:lnB w="12700" cap="flat" cmpd="sng" algn="ctr">
                      <a:solidFill>
                        <a:srgbClr val="474C59"/>
                      </a:solidFill>
                      <a:prstDash val="solid"/>
                      <a:round/>
                      <a:headEnd type="none" w="med" len="med"/>
                      <a:tailEnd type="none" w="med" len="med"/>
                    </a:lnB>
                  </a:tcPr>
                </a:tc>
              </a:tr>
              <a:tr h="331258">
                <a:tc>
                  <a:txBody>
                    <a:bodyPr/>
                    <a:lstStyle/>
                    <a:p>
                      <a:pPr indent="0" marL="0">
                        <a:lnSpc>
                          <a:spcPts val="1680"/>
                        </a:lnSpc>
                        <a:buNone/>
                      </a:pPr>
                      <a:r>
                        <a:rPr lang="en-US" sz="1200" dirty="0">
                          <a:solidFill>
                            <a:srgbClr val="E3E8F1"/>
                          </a:solidFill>
                          <a:latin typeface="IBM Plex Sans" pitchFamily="34" charset="0"/>
                          <a:ea typeface="IBM Plex Sans" pitchFamily="34" charset="-122"/>
                          <a:cs typeface="IBM Plex Sans" pitchFamily="34" charset="-120"/>
                        </a:rPr>
                        <a:t>Git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4C59"/>
                      </a:solidFill>
                      <a:prstDash val="solid"/>
                      <a:round/>
                      <a:headEnd type="none" w="med" len="med"/>
                      <a:tailEnd type="none" w="med" len="med"/>
                    </a:lnL>
                    <a:lnR w="12700" cap="flat" cmpd="sng" algn="ctr">
                      <a:solidFill>
                        <a:srgbClr val="474C59"/>
                      </a:solidFill>
                      <a:prstDash val="solid"/>
                      <a:round/>
                      <a:headEnd type="none" w="med" len="med"/>
                      <a:tailEnd type="none" w="med" len="med"/>
                    </a:lnR>
                    <a:lnT w="12700" cap="flat" cmpd="sng" algn="ctr">
                      <a:solidFill>
                        <a:srgbClr val="474C59"/>
                      </a:solidFill>
                      <a:prstDash val="solid"/>
                      <a:round/>
                      <a:headEnd type="none" w="med" len="med"/>
                      <a:tailEnd type="none" w="med" len="med"/>
                    </a:lnT>
                    <a:lnB w="12700" cap="flat" cmpd="sng" algn="ctr">
                      <a:solidFill>
                        <a:srgbClr val="474C59"/>
                      </a:solidFill>
                      <a:prstDash val="solid"/>
                      <a:round/>
                      <a:headEnd type="none" w="med" len="med"/>
                      <a:tailEnd type="none" w="med" len="med"/>
                    </a:lnB>
                  </a:tcPr>
                </a:tc>
                <a:tc>
                  <a:txBody>
                    <a:bodyPr/>
                    <a:lstStyle/>
                    <a:p>
                      <a:pPr indent="0" marL="0">
                        <a:lnSpc>
                          <a:spcPts val="1680"/>
                        </a:lnSpc>
                        <a:buNone/>
                      </a:pPr>
                      <a:r>
                        <a:rPr lang="en-US" sz="1200" dirty="0">
                          <a:solidFill>
                            <a:srgbClr val="E3E8F1"/>
                          </a:solidFill>
                          <a:latin typeface="IBM Plex Sans" pitchFamily="34" charset="0"/>
                          <a:ea typeface="IBM Plex Sans" pitchFamily="34" charset="-122"/>
                          <a:cs typeface="IBM Plex Sans" pitchFamily="34" charset="-120"/>
                        </a:rPr>
                        <a:t>Save versions (this afternoon)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4C59"/>
                      </a:solidFill>
                      <a:prstDash val="solid"/>
                      <a:round/>
                      <a:headEnd type="none" w="med" len="med"/>
                      <a:tailEnd type="none" w="med" len="med"/>
                    </a:lnL>
                    <a:lnR w="12700" cap="flat" cmpd="sng" algn="ctr">
                      <a:solidFill>
                        <a:srgbClr val="474C59"/>
                      </a:solidFill>
                      <a:prstDash val="solid"/>
                      <a:round/>
                      <a:headEnd type="none" w="med" len="med"/>
                      <a:tailEnd type="none" w="med" len="med"/>
                    </a:lnR>
                    <a:lnT w="12700" cap="flat" cmpd="sng" algn="ctr">
                      <a:solidFill>
                        <a:srgbClr val="474C59"/>
                      </a:solidFill>
                      <a:prstDash val="solid"/>
                      <a:round/>
                      <a:headEnd type="none" w="med" len="med"/>
                      <a:tailEnd type="none" w="med" len="med"/>
                    </a:lnT>
                    <a:lnB w="12700" cap="flat" cmpd="sng" algn="ctr">
                      <a:solidFill>
                        <a:srgbClr val="474C59"/>
                      </a:solidFill>
                      <a:prstDash val="solid"/>
                      <a:round/>
                      <a:headEnd type="none" w="med" len="med"/>
                      <a:tailEnd type="none" w="med" len="med"/>
                    </a:lnB>
                  </a:tcPr>
                </a:tc>
              </a:tr>
              <a:tr h="331258">
                <a:tc>
                  <a:txBody>
                    <a:bodyPr/>
                    <a:lstStyle/>
                    <a:p>
                      <a:pPr indent="0" marL="0">
                        <a:lnSpc>
                          <a:spcPts val="1680"/>
                        </a:lnSpc>
                        <a:buNone/>
                      </a:pPr>
                      <a:r>
                        <a:rPr lang="en-US" sz="1200" dirty="0">
                          <a:solidFill>
                            <a:srgbClr val="E3E8F1"/>
                          </a:solidFill>
                          <a:latin typeface="IBM Plex Sans" pitchFamily="34" charset="0"/>
                          <a:ea typeface="IBM Plex Sans" pitchFamily="34" charset="-122"/>
                          <a:cs typeface="IBM Plex Sans" pitchFamily="34" charset="-120"/>
                        </a:rPr>
                        <a:t>Node.js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4C59"/>
                      </a:solidFill>
                      <a:prstDash val="solid"/>
                      <a:round/>
                      <a:headEnd type="none" w="med" len="med"/>
                      <a:tailEnd type="none" w="med" len="med"/>
                    </a:lnL>
                    <a:lnR w="12700" cap="flat" cmpd="sng" algn="ctr">
                      <a:solidFill>
                        <a:srgbClr val="474C59"/>
                      </a:solidFill>
                      <a:prstDash val="solid"/>
                      <a:round/>
                      <a:headEnd type="none" w="med" len="med"/>
                      <a:tailEnd type="none" w="med" len="med"/>
                    </a:lnR>
                    <a:lnT w="12700" cap="flat" cmpd="sng" algn="ctr">
                      <a:solidFill>
                        <a:srgbClr val="474C59"/>
                      </a:solidFill>
                      <a:prstDash val="solid"/>
                      <a:round/>
                      <a:headEnd type="none" w="med" len="med"/>
                      <a:tailEnd type="none" w="med" len="med"/>
                    </a:lnT>
                    <a:lnB w="12700" cap="flat" cmpd="sng" algn="ctr">
                      <a:solidFill>
                        <a:srgbClr val="474C59"/>
                      </a:solidFill>
                      <a:prstDash val="solid"/>
                      <a:round/>
                      <a:headEnd type="none" w="med" len="med"/>
                      <a:tailEnd type="none" w="med" len="med"/>
                    </a:lnB>
                  </a:tcPr>
                </a:tc>
                <a:tc>
                  <a:txBody>
                    <a:bodyPr/>
                    <a:lstStyle/>
                    <a:p>
                      <a:pPr indent="0" marL="0">
                        <a:lnSpc>
                          <a:spcPts val="1680"/>
                        </a:lnSpc>
                        <a:buNone/>
                      </a:pPr>
                      <a:r>
                        <a:rPr lang="en-US" sz="1200" dirty="0">
                          <a:solidFill>
                            <a:srgbClr val="E3E8F1"/>
                          </a:solidFill>
                          <a:latin typeface="IBM Plex Sans" pitchFamily="34" charset="0"/>
                          <a:ea typeface="IBM Plex Sans" pitchFamily="34" charset="-122"/>
                          <a:cs typeface="IBM Plex Sans" pitchFamily="34" charset="-120"/>
                        </a:rPr>
                        <a:t>Run JS on a server (Day 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74C59"/>
                      </a:solidFill>
                      <a:prstDash val="solid"/>
                      <a:round/>
                      <a:headEnd type="none" w="med" len="med"/>
                      <a:tailEnd type="none" w="med" len="med"/>
                    </a:lnL>
                    <a:lnR w="12700" cap="flat" cmpd="sng" algn="ctr">
                      <a:solidFill>
                        <a:srgbClr val="474C59"/>
                      </a:solidFill>
                      <a:prstDash val="solid"/>
                      <a:round/>
                      <a:headEnd type="none" w="med" len="med"/>
                      <a:tailEnd type="none" w="med" len="med"/>
                    </a:lnR>
                    <a:lnT w="12700" cap="flat" cmpd="sng" algn="ctr">
                      <a:solidFill>
                        <a:srgbClr val="474C59"/>
                      </a:solidFill>
                      <a:prstDash val="solid"/>
                      <a:round/>
                      <a:headEnd type="none" w="med" len="med"/>
                      <a:tailEnd type="none" w="med" len="med"/>
                    </a:lnT>
                    <a:lnB w="12700" cap="flat" cmpd="sng" algn="ctr">
                      <a:solidFill>
                        <a:srgbClr val="474C59"/>
                      </a:solidFill>
                      <a:prstDash val="solid"/>
                      <a:round/>
                      <a:headEnd type="none" w="med" len="med"/>
                      <a:tailEnd type="none" w="med" len="med"/>
                    </a:lnB>
                  </a:tcPr>
                </a:tc>
              </a:tr>
            </a:tbl>
          </a:graphicData>
        </a:graphic>
      </p:graphicFrame>
      <p:sp>
        <p:nvSpPr>
          <p:cNvPr id="7" name="Shape 4"/>
          <p:cNvSpPr/>
          <p:nvPr/>
        </p:nvSpPr>
        <p:spPr>
          <a:xfrm>
            <a:off x="5184775" y="1931033"/>
            <a:ext cx="6191250" cy="3088428"/>
          </a:xfrm>
          <a:prstGeom prst="roundRect">
            <a:avLst>
              <a:gd name="adj" fmla="val 3187"/>
            </a:avLst>
          </a:prstGeom>
          <a:solidFill>
            <a:srgbClr val="0D1220"/>
          </a:solidFill>
          <a:ln w="6350">
            <a:solidFill>
              <a:srgbClr val="2A3550"/>
            </a:solidFill>
            <a:prstDash val="solid"/>
          </a:ln>
        </p:spPr>
      </p:sp>
      <p:sp>
        <p:nvSpPr>
          <p:cNvPr id="8" name="Text 5"/>
          <p:cNvSpPr/>
          <p:nvPr/>
        </p:nvSpPr>
        <p:spPr>
          <a:xfrm>
            <a:off x="5415809" y="2162070"/>
            <a:ext cx="590105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BA3"/>
                </a:solidFill>
                <a:latin typeface="IBM Plex Sans" pitchFamily="34" charset="0"/>
                <a:ea typeface="IBM Plex Sans" pitchFamily="34" charset="-122"/>
                <a:cs typeface="IBM Plex Sans" pitchFamily="34" charset="-120"/>
              </a:rPr>
              <a:t>TERMINAL</a:t>
            </a:r>
            <a:endParaRPr lang="en-US" sz="1200" dirty="0"/>
          </a:p>
        </p:txBody>
      </p:sp>
      <p:sp>
        <p:nvSpPr>
          <p:cNvPr id="9" name="Text 6"/>
          <p:cNvSpPr/>
          <p:nvPr/>
        </p:nvSpPr>
        <p:spPr>
          <a:xfrm>
            <a:off x="5415809" y="2451627"/>
            <a:ext cx="5901057" cy="2072640"/>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F2994A"/>
                </a:solidFill>
                <a:latin typeface="JetBrains Mono" pitchFamily="49" charset="0"/>
                <a:ea typeface="JetBrains Mono" pitchFamily="49" charset="-122"/>
                <a:cs typeface="JetBrains Mono" pitchFamily="49" charset="-120"/>
              </a:rPr>
              <a:t>$</a:t>
            </a:r>
            <a:r>
              <a:rPr lang="en-US" sz="1300" dirty="0">
                <a:solidFill>
                  <a:srgbClr val="E3E8F1"/>
                </a:solidFill>
                <a:latin typeface="JetBrains Mono" pitchFamily="49" charset="0"/>
                <a:ea typeface="JetBrains Mono" pitchFamily="49" charset="-122"/>
                <a:cs typeface="JetBrains Mono" pitchFamily="49" charset="-120"/>
              </a:rPr>
              <a:t> code --version</a:t>
            </a:r>
            <a:endParaRPr lang="en-US" sz="1300" dirty="0"/>
          </a:p>
          <a:p>
            <a:pPr algn="l" indent="0" marL="0">
              <a:lnSpc>
                <a:spcPts val="2015"/>
              </a:lnSpc>
              <a:buNone/>
            </a:pPr>
            <a:r>
              <a:rPr lang="en-US" sz="1300" dirty="0">
                <a:solidFill>
                  <a:srgbClr val="7F8BA3"/>
                </a:solidFill>
                <a:latin typeface="JetBrains Mono" pitchFamily="49" charset="0"/>
                <a:ea typeface="JetBrains Mono" pitchFamily="49" charset="-122"/>
                <a:cs typeface="JetBrains Mono" pitchFamily="49" charset="-120"/>
              </a:rPr>
              <a:t>1.9x.x</a:t>
            </a:r>
            <a:endParaRPr lang="en-US" sz="1300" dirty="0"/>
          </a:p>
          <a:p>
            <a:pPr algn="l" indent="0" marL="0">
              <a:lnSpc>
                <a:spcPts val="2015"/>
              </a:lnSpc>
              <a:buNone/>
            </a:pPr>
            <a:endParaRPr lang="en-US" sz="1300" dirty="0"/>
          </a:p>
          <a:p>
            <a:pPr algn="l" indent="0" marL="0">
              <a:lnSpc>
                <a:spcPts val="2015"/>
              </a:lnSpc>
              <a:buNone/>
            </a:pPr>
            <a:r>
              <a:rPr lang="en-US" sz="1300" dirty="0">
                <a:solidFill>
                  <a:srgbClr val="F2994A"/>
                </a:solidFill>
                <a:latin typeface="JetBrains Mono" pitchFamily="49" charset="0"/>
                <a:ea typeface="JetBrains Mono" pitchFamily="49" charset="-122"/>
                <a:cs typeface="JetBrains Mono" pitchFamily="49" charset="-120"/>
              </a:rPr>
              <a:t>$</a:t>
            </a:r>
            <a:r>
              <a:rPr lang="en-US" sz="1300" dirty="0">
                <a:solidFill>
                  <a:srgbClr val="E3E8F1"/>
                </a:solidFill>
                <a:latin typeface="JetBrains Mono" pitchFamily="49" charset="0"/>
                <a:ea typeface="JetBrains Mono" pitchFamily="49" charset="-122"/>
                <a:cs typeface="JetBrains Mono" pitchFamily="49" charset="-120"/>
              </a:rPr>
              <a:t> git --version</a:t>
            </a:r>
            <a:endParaRPr lang="en-US" sz="1300" dirty="0"/>
          </a:p>
          <a:p>
            <a:pPr algn="l" indent="0" marL="0">
              <a:lnSpc>
                <a:spcPts val="2015"/>
              </a:lnSpc>
              <a:buNone/>
            </a:pPr>
            <a:r>
              <a:rPr lang="en-US" sz="1300" dirty="0">
                <a:solidFill>
                  <a:srgbClr val="7F8BA3"/>
                </a:solidFill>
                <a:latin typeface="JetBrains Mono" pitchFamily="49" charset="0"/>
                <a:ea typeface="JetBrains Mono" pitchFamily="49" charset="-122"/>
                <a:cs typeface="JetBrains Mono" pitchFamily="49" charset="-120"/>
              </a:rPr>
              <a:t>git version 2.4x.x</a:t>
            </a:r>
            <a:endParaRPr lang="en-US" sz="1300" dirty="0"/>
          </a:p>
          <a:p>
            <a:pPr algn="l" indent="0" marL="0">
              <a:lnSpc>
                <a:spcPts val="2015"/>
              </a:lnSpc>
              <a:buNone/>
            </a:pPr>
            <a:endParaRPr lang="en-US" sz="1300" dirty="0"/>
          </a:p>
          <a:p>
            <a:pPr algn="l" indent="0" marL="0">
              <a:lnSpc>
                <a:spcPts val="2015"/>
              </a:lnSpc>
              <a:buNone/>
            </a:pPr>
            <a:r>
              <a:rPr lang="en-US" sz="1300" dirty="0">
                <a:solidFill>
                  <a:srgbClr val="F2994A"/>
                </a:solidFill>
                <a:latin typeface="JetBrains Mono" pitchFamily="49" charset="0"/>
                <a:ea typeface="JetBrains Mono" pitchFamily="49" charset="-122"/>
                <a:cs typeface="JetBrains Mono" pitchFamily="49" charset="-120"/>
              </a:rPr>
              <a:t>$</a:t>
            </a:r>
            <a:r>
              <a:rPr lang="en-US" sz="1300" dirty="0">
                <a:solidFill>
                  <a:srgbClr val="E3E8F1"/>
                </a:solidFill>
                <a:latin typeface="JetBrains Mono" pitchFamily="49" charset="0"/>
                <a:ea typeface="JetBrains Mono" pitchFamily="49" charset="-122"/>
                <a:cs typeface="JetBrains Mono" pitchFamily="49" charset="-120"/>
              </a:rPr>
              <a:t> node --version</a:t>
            </a:r>
            <a:endParaRPr lang="en-US" sz="1300" dirty="0"/>
          </a:p>
          <a:p>
            <a:pPr algn="l" indent="0" marL="0">
              <a:lnSpc>
                <a:spcPts val="2015"/>
              </a:lnSpc>
              <a:buNone/>
            </a:pPr>
            <a:r>
              <a:rPr lang="en-US" sz="1300" dirty="0">
                <a:solidFill>
                  <a:srgbClr val="7F8BA3"/>
                </a:solidFill>
                <a:latin typeface="JetBrains Mono" pitchFamily="49" charset="0"/>
                <a:ea typeface="JetBrains Mono" pitchFamily="49" charset="-122"/>
                <a:cs typeface="JetBrains Mono" pitchFamily="49" charset="-120"/>
              </a:rPr>
              <a:t>v2x.x.x</a:t>
            </a:r>
            <a:endParaRPr lang="en-US" sz="1300" dirty="0"/>
          </a:p>
        </p:txBody>
      </p:sp>
      <p:sp>
        <p:nvSpPr>
          <p:cNvPr id="10" name="Text 7"/>
          <p:cNvSpPr/>
          <p:nvPr/>
        </p:nvSpPr>
        <p:spPr>
          <a:xfrm>
            <a:off x="5415809" y="4575070"/>
            <a:ext cx="59010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2D3"/>
                </a:solidFill>
                <a:latin typeface="IBM Plex Sans" pitchFamily="34" charset="0"/>
                <a:ea typeface="IBM Plex Sans" pitchFamily="34" charset="-122"/>
                <a:cs typeface="IBM Plex Sans" pitchFamily="34" charset="-120"/>
              </a:rPr>
              <a:t>Any number is fine. “not recognized” = tell the instructor.</a:t>
            </a:r>
            <a:endParaRPr lang="en-US" sz="1200" dirty="0"/>
          </a:p>
        </p:txBody>
      </p:sp>
      <p:sp>
        <p:nvSpPr>
          <p:cNvPr id="11" name="Text 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Manual p.12 · Tools and software required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353961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10:18 AM · 5 min · Roles of HTML, CSS, JS</a:t>
            </a:r>
            <a:endParaRPr lang="en-US" sz="1200" dirty="0"/>
          </a:p>
        </p:txBody>
      </p:sp>
      <p:sp>
        <p:nvSpPr>
          <p:cNvPr id="4" name="Text 2"/>
          <p:cNvSpPr/>
          <p:nvPr>
            <p:ph type="title"/>
          </p:nvPr>
        </p:nvSpPr>
        <p:spPr>
          <a:xfrm>
            <a:off x="812800" y="13309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Skeleton → Skin → Brain</a:t>
            </a:r>
            <a:endParaRPr lang="en-US" sz="3000" dirty="0"/>
          </a:p>
        </p:txBody>
      </p:sp>
      <p:sp>
        <p:nvSpPr>
          <p:cNvPr id="5" name="Shape 3"/>
          <p:cNvSpPr/>
          <p:nvPr/>
        </p:nvSpPr>
        <p:spPr>
          <a:xfrm>
            <a:off x="812800" y="1978658"/>
            <a:ext cx="3403600" cy="2326322"/>
          </a:xfrm>
          <a:prstGeom prst="roundRect">
            <a:avLst>
              <a:gd name="adj" fmla="val 4367"/>
            </a:avLst>
          </a:prstGeom>
          <a:solidFill>
            <a:srgbClr val="FFFFFF"/>
          </a:solidFill>
          <a:ln/>
        </p:spPr>
      </p:sp>
      <p:sp>
        <p:nvSpPr>
          <p:cNvPr id="6" name="Shape 4"/>
          <p:cNvSpPr/>
          <p:nvPr/>
        </p:nvSpPr>
        <p:spPr>
          <a:xfrm>
            <a:off x="812800" y="1978658"/>
            <a:ext cx="3403600" cy="2326322"/>
          </a:xfrm>
          <a:custGeom>
            <a:avLst/>
            <a:gdLst/>
            <a:ahLst/>
            <a:cxnLst/>
            <a:rect l="l" t="t" r="r" b="b"/>
            <a:pathLst>
              <a:path w="3403600" h="2326322">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2F5FA8"/>
          </a:solidFill>
          <a:ln/>
        </p:spPr>
      </p:sp>
      <p:sp>
        <p:nvSpPr>
          <p:cNvPr id="7" name="Text 5"/>
          <p:cNvSpPr/>
          <p:nvPr/>
        </p:nvSpPr>
        <p:spPr>
          <a:xfrm>
            <a:off x="1066800" y="2283141"/>
            <a:ext cx="298246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A8"/>
                </a:solidFill>
                <a:latin typeface="IBM Plex Sans" pitchFamily="34" charset="0"/>
                <a:ea typeface="IBM Plex Sans" pitchFamily="34" charset="-122"/>
                <a:cs typeface="IBM Plex Sans" pitchFamily="34" charset="-120"/>
              </a:rPr>
              <a:t>HTML · STRUCTURE</a:t>
            </a:r>
            <a:endParaRPr lang="en-US" sz="1200" dirty="0"/>
          </a:p>
        </p:txBody>
      </p:sp>
      <p:sp>
        <p:nvSpPr>
          <p:cNvPr id="8" name="Text 6"/>
          <p:cNvSpPr/>
          <p:nvPr/>
        </p:nvSpPr>
        <p:spPr>
          <a:xfrm>
            <a:off x="1066800" y="2598105"/>
            <a:ext cx="298246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A2236"/>
                </a:solidFill>
                <a:latin typeface="Space Grotesk" pitchFamily="34" charset="0"/>
                <a:ea typeface="Space Grotesk" pitchFamily="34" charset="-122"/>
                <a:cs typeface="Space Grotesk" pitchFamily="34" charset="-120"/>
              </a:rPr>
              <a:t>Skeleton</a:t>
            </a:r>
            <a:endParaRPr lang="en-US" sz="2200" dirty="0"/>
          </a:p>
        </p:txBody>
      </p:sp>
      <p:sp>
        <p:nvSpPr>
          <p:cNvPr id="9" name="Text 7"/>
          <p:cNvSpPr/>
          <p:nvPr/>
        </p:nvSpPr>
        <p:spPr>
          <a:xfrm>
            <a:off x="1066800" y="3034984"/>
            <a:ext cx="298246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6"/>
                </a:solidFill>
                <a:latin typeface="IBM Plex Sans" pitchFamily="34" charset="0"/>
                <a:ea typeface="IBM Plex Sans" pitchFamily="34" charset="-122"/>
                <a:cs typeface="IBM Plex Sans" pitchFamily="34" charset="-120"/>
              </a:rPr>
              <a:t>What is on the page: headings, text, images, forms</a:t>
            </a:r>
            <a:endParaRPr lang="en-US" sz="1400" dirty="0"/>
          </a:p>
        </p:txBody>
      </p:sp>
      <p:sp>
        <p:nvSpPr>
          <p:cNvPr id="10" name="Text 8"/>
          <p:cNvSpPr/>
          <p:nvPr/>
        </p:nvSpPr>
        <p:spPr>
          <a:xfrm>
            <a:off x="1066800" y="3634420"/>
            <a:ext cx="2895600" cy="416560"/>
          </a:xfrm>
          <a:prstGeom prst="roundRect">
            <a:avLst>
              <a:gd name="adj" fmla="val 12195"/>
            </a:avLst>
          </a:prstGeom>
          <a:solidFill>
            <a:srgbClr val="EEF1F7"/>
          </a:solidFill>
          <a:ln/>
        </p:spPr>
        <p:txBody>
          <a:bodyPr wrap="square" lIns="86721" tIns="86721" rIns="5949" bIns="61321" rtlCol="0" anchor="t">
            <a:normAutofit/>
          </a:bodyPr>
          <a:lstStyle/>
          <a:p>
            <a:pPr algn="l"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&lt;h1&gt;Asha&lt;/h1&gt;</a:t>
            </a:r>
            <a:endParaRPr lang="en-US" sz="1200" dirty="0"/>
          </a:p>
        </p:txBody>
      </p:sp>
      <p:sp>
        <p:nvSpPr>
          <p:cNvPr id="11" name="Shape 9"/>
          <p:cNvSpPr/>
          <p:nvPr/>
        </p:nvSpPr>
        <p:spPr>
          <a:xfrm>
            <a:off x="4394200" y="1978658"/>
            <a:ext cx="3403600" cy="2326322"/>
          </a:xfrm>
          <a:prstGeom prst="roundRect">
            <a:avLst>
              <a:gd name="adj" fmla="val 4367"/>
            </a:avLst>
          </a:prstGeom>
          <a:solidFill>
            <a:srgbClr val="FFFFFF"/>
          </a:solidFill>
          <a:ln/>
        </p:spPr>
      </p:sp>
      <p:sp>
        <p:nvSpPr>
          <p:cNvPr id="12" name="Shape 10"/>
          <p:cNvSpPr/>
          <p:nvPr/>
        </p:nvSpPr>
        <p:spPr>
          <a:xfrm>
            <a:off x="4394200" y="1978658"/>
            <a:ext cx="3403600" cy="2326322"/>
          </a:xfrm>
          <a:custGeom>
            <a:avLst/>
            <a:gdLst/>
            <a:ahLst/>
            <a:cxnLst/>
            <a:rect l="l" t="t" r="r" b="b"/>
            <a:pathLst>
              <a:path w="3403600" h="2326322">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B4531A"/>
          </a:solidFill>
          <a:ln/>
        </p:spPr>
      </p:sp>
      <p:sp>
        <p:nvSpPr>
          <p:cNvPr id="13" name="Text 11"/>
          <p:cNvSpPr/>
          <p:nvPr/>
        </p:nvSpPr>
        <p:spPr>
          <a:xfrm>
            <a:off x="4648200" y="2283141"/>
            <a:ext cx="298246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CSS · PRESENTATION</a:t>
            </a:r>
            <a:endParaRPr lang="en-US" sz="1200" dirty="0"/>
          </a:p>
        </p:txBody>
      </p:sp>
      <p:sp>
        <p:nvSpPr>
          <p:cNvPr id="14" name="Text 12"/>
          <p:cNvSpPr/>
          <p:nvPr/>
        </p:nvSpPr>
        <p:spPr>
          <a:xfrm>
            <a:off x="4648200" y="2598105"/>
            <a:ext cx="298246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A2236"/>
                </a:solidFill>
                <a:latin typeface="Space Grotesk" pitchFamily="34" charset="0"/>
                <a:ea typeface="Space Grotesk" pitchFamily="34" charset="-122"/>
                <a:cs typeface="Space Grotesk" pitchFamily="34" charset="-120"/>
              </a:rPr>
              <a:t>Skin &amp; clothes</a:t>
            </a:r>
            <a:endParaRPr lang="en-US" sz="2200" dirty="0"/>
          </a:p>
        </p:txBody>
      </p:sp>
      <p:sp>
        <p:nvSpPr>
          <p:cNvPr id="15" name="Text 13"/>
          <p:cNvSpPr/>
          <p:nvPr/>
        </p:nvSpPr>
        <p:spPr>
          <a:xfrm>
            <a:off x="4648200" y="3034984"/>
            <a:ext cx="298246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6"/>
                </a:solidFill>
                <a:latin typeface="IBM Plex Sans" pitchFamily="34" charset="0"/>
                <a:ea typeface="IBM Plex Sans" pitchFamily="34" charset="-122"/>
                <a:cs typeface="IBM Plex Sans" pitchFamily="34" charset="-120"/>
              </a:rPr>
              <a:t>How it looks: colours, fonts, spacing, layout</a:t>
            </a:r>
            <a:endParaRPr lang="en-US" sz="1400" dirty="0"/>
          </a:p>
        </p:txBody>
      </p:sp>
      <p:sp>
        <p:nvSpPr>
          <p:cNvPr id="16" name="Text 14"/>
          <p:cNvSpPr/>
          <p:nvPr/>
        </p:nvSpPr>
        <p:spPr>
          <a:xfrm>
            <a:off x="4648200" y="3634420"/>
            <a:ext cx="2895600" cy="416560"/>
          </a:xfrm>
          <a:prstGeom prst="roundRect">
            <a:avLst>
              <a:gd name="adj" fmla="val 12195"/>
            </a:avLst>
          </a:prstGeom>
          <a:solidFill>
            <a:srgbClr val="FBEDE3"/>
          </a:solidFill>
          <a:ln/>
        </p:spPr>
        <p:txBody>
          <a:bodyPr wrap="square" lIns="86721" tIns="86721" rIns="5949" bIns="61321" rtlCol="0" anchor="t">
            <a:normAutofit/>
          </a:bodyPr>
          <a:lstStyle/>
          <a:p>
            <a:pPr algn="l"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h1 { color: navy; }</a:t>
            </a:r>
            <a:endParaRPr lang="en-US" sz="1200" dirty="0"/>
          </a:p>
        </p:txBody>
      </p:sp>
      <p:sp>
        <p:nvSpPr>
          <p:cNvPr id="17" name="Shape 15"/>
          <p:cNvSpPr/>
          <p:nvPr/>
        </p:nvSpPr>
        <p:spPr>
          <a:xfrm>
            <a:off x="7975600" y="1978658"/>
            <a:ext cx="3403600" cy="2326322"/>
          </a:xfrm>
          <a:prstGeom prst="roundRect">
            <a:avLst>
              <a:gd name="adj" fmla="val 4367"/>
            </a:avLst>
          </a:prstGeom>
          <a:solidFill>
            <a:srgbClr val="FFFFFF"/>
          </a:solidFill>
          <a:ln/>
        </p:spPr>
      </p:sp>
      <p:sp>
        <p:nvSpPr>
          <p:cNvPr id="18" name="Shape 16"/>
          <p:cNvSpPr/>
          <p:nvPr/>
        </p:nvSpPr>
        <p:spPr>
          <a:xfrm>
            <a:off x="7975600" y="1978658"/>
            <a:ext cx="3403600" cy="2326322"/>
          </a:xfrm>
          <a:custGeom>
            <a:avLst/>
            <a:gdLst/>
            <a:ahLst/>
            <a:cxnLst/>
            <a:rect l="l" t="t" r="r" b="b"/>
            <a:pathLst>
              <a:path w="3403600" h="2326322">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3E7D5A"/>
          </a:solidFill>
          <a:ln/>
        </p:spPr>
      </p:sp>
      <p:sp>
        <p:nvSpPr>
          <p:cNvPr id="19" name="Text 17"/>
          <p:cNvSpPr/>
          <p:nvPr/>
        </p:nvSpPr>
        <p:spPr>
          <a:xfrm>
            <a:off x="8229600" y="2283141"/>
            <a:ext cx="298246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E7D5A"/>
                </a:solidFill>
                <a:latin typeface="IBM Plex Sans" pitchFamily="34" charset="0"/>
                <a:ea typeface="IBM Plex Sans" pitchFamily="34" charset="-122"/>
                <a:cs typeface="IBM Plex Sans" pitchFamily="34" charset="-120"/>
              </a:rPr>
              <a:t>JAVASCRIPT · BEHAVIOUR</a:t>
            </a:r>
            <a:endParaRPr lang="en-US" sz="1200" dirty="0"/>
          </a:p>
        </p:txBody>
      </p:sp>
      <p:sp>
        <p:nvSpPr>
          <p:cNvPr id="20" name="Text 18"/>
          <p:cNvSpPr/>
          <p:nvPr/>
        </p:nvSpPr>
        <p:spPr>
          <a:xfrm>
            <a:off x="8229600" y="2598105"/>
            <a:ext cx="298246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A2236"/>
                </a:solidFill>
                <a:latin typeface="Space Grotesk" pitchFamily="34" charset="0"/>
                <a:ea typeface="Space Grotesk" pitchFamily="34" charset="-122"/>
                <a:cs typeface="Space Grotesk" pitchFamily="34" charset="-120"/>
              </a:rPr>
              <a:t>Brain</a:t>
            </a:r>
            <a:endParaRPr lang="en-US" sz="2200" dirty="0"/>
          </a:p>
        </p:txBody>
      </p:sp>
      <p:sp>
        <p:nvSpPr>
          <p:cNvPr id="21" name="Text 19"/>
          <p:cNvSpPr/>
          <p:nvPr/>
        </p:nvSpPr>
        <p:spPr>
          <a:xfrm>
            <a:off x="8229600" y="3034984"/>
            <a:ext cx="298246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6"/>
                </a:solidFill>
                <a:latin typeface="IBM Plex Sans" pitchFamily="34" charset="0"/>
                <a:ea typeface="IBM Plex Sans" pitchFamily="34" charset="-122"/>
                <a:cs typeface="IBM Plex Sans" pitchFamily="34" charset="-120"/>
              </a:rPr>
              <a:t>What it does: clicks, validation, data (Day 2)</a:t>
            </a:r>
            <a:endParaRPr lang="en-US" sz="1400" dirty="0"/>
          </a:p>
        </p:txBody>
      </p:sp>
      <p:sp>
        <p:nvSpPr>
          <p:cNvPr id="22" name="Text 20"/>
          <p:cNvSpPr/>
          <p:nvPr/>
        </p:nvSpPr>
        <p:spPr>
          <a:xfrm>
            <a:off x="8229600" y="3634420"/>
            <a:ext cx="2895600" cy="416560"/>
          </a:xfrm>
          <a:prstGeom prst="roundRect">
            <a:avLst>
              <a:gd name="adj" fmla="val 12195"/>
            </a:avLst>
          </a:prstGeom>
          <a:solidFill>
            <a:srgbClr val="E7F2EB"/>
          </a:solidFill>
          <a:ln/>
        </p:spPr>
        <p:txBody>
          <a:bodyPr wrap="square" lIns="86721" tIns="86721" rIns="5949" bIns="61321" rtlCol="0" anchor="t">
            <a:normAutofit/>
          </a:bodyPr>
          <a:lstStyle/>
          <a:p>
            <a:pPr algn="l"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alert("Hi!")</a:t>
            </a:r>
            <a:endParaRPr lang="en-US" sz="1200" dirty="0"/>
          </a:p>
        </p:txBody>
      </p:sp>
      <p:sp>
        <p:nvSpPr>
          <p:cNvPr id="23" name="Text 2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p.10 · Learning objective 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32768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10:21 AM · HTML5 document structure</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Every HTML page has the same skeleton</a:t>
            </a:r>
            <a:endParaRPr lang="en-US" sz="3000" dirty="0"/>
          </a:p>
        </p:txBody>
      </p:sp>
      <p:sp>
        <p:nvSpPr>
          <p:cNvPr id="5" name="Text 3"/>
          <p:cNvSpPr/>
          <p:nvPr/>
        </p:nvSpPr>
        <p:spPr>
          <a:xfrm>
            <a:off x="812800" y="1927858"/>
            <a:ext cx="5867400" cy="3790950"/>
          </a:xfrm>
          <a:prstGeom prst="roundRect">
            <a:avLst>
              <a:gd name="adj" fmla="val 2680"/>
            </a:avLst>
          </a:prstGeom>
          <a:solidFill>
            <a:srgbClr val="0D1220"/>
          </a:solidFill>
          <a:ln/>
        </p:spPr>
        <p:txBody>
          <a:bodyPr wrap="square" lIns="198842" tIns="198842" rIns="36536" bIns="173442" rtlCol="0" anchor="t">
            <a:normAutofit/>
          </a:bodyPr>
          <a:lstStyle/>
          <a:p>
            <a:pPr algn="l" indent="0" marL="0">
              <a:lnSpc>
                <a:spcPts val="1875"/>
              </a:lnSpc>
              <a:buNone/>
            </a:pPr>
            <a:r>
              <a:rPr lang="en-US" sz="1250" dirty="0">
                <a:solidFill>
                  <a:srgbClr val="F2994A"/>
                </a:solidFill>
                <a:latin typeface="JetBrains Mono" pitchFamily="49" charset="0"/>
                <a:ea typeface="JetBrains Mono" pitchFamily="49" charset="-122"/>
                <a:cs typeface="JetBrains Mono" pitchFamily="49" charset="-120"/>
              </a:rPr>
              <a:t>&lt;!DOCTYPE html&gt;</a:t>
            </a:r>
            <a:endParaRPr lang="en-US" sz="1250" dirty="0"/>
          </a:p>
          <a:p>
            <a:pPr algn="l" indent="0" marL="0">
              <a:lnSpc>
                <a:spcPts val="1875"/>
              </a:lnSpc>
              <a:buNone/>
            </a:pPr>
            <a:r>
              <a:rPr lang="en-US" sz="1250" dirty="0">
                <a:solidFill>
                  <a:srgbClr val="E3E8F1"/>
                </a:solidFill>
                <a:latin typeface="JetBrains Mono" pitchFamily="49" charset="0"/>
                <a:ea typeface="JetBrains Mono" pitchFamily="49" charset="-122"/>
                <a:cs typeface="JetBrains Mono" pitchFamily="49" charset="-120"/>
              </a:rPr>
              <a:t>&lt;html lang="en"&gt;</a:t>
            </a:r>
            <a:endParaRPr lang="en-US" sz="1250" dirty="0"/>
          </a:p>
          <a:p>
            <a:pPr algn="l" indent="0" marL="0">
              <a:lnSpc>
                <a:spcPts val="1875"/>
              </a:lnSpc>
              <a:buNone/>
            </a:pPr>
            <a:r>
              <a:rPr lang="en-US" sz="1250" dirty="0">
                <a:solidFill>
                  <a:srgbClr val="8DB4F0"/>
                </a:solidFill>
                <a:latin typeface="JetBrains Mono" pitchFamily="49" charset="0"/>
                <a:ea typeface="JetBrains Mono" pitchFamily="49" charset="-122"/>
                <a:cs typeface="JetBrains Mono" pitchFamily="49" charset="-120"/>
              </a:rPr>
              <a:t>&lt;head&gt;</a:t>
            </a:r>
            <a:endParaRPr lang="en-US" sz="1250" dirty="0"/>
          </a:p>
          <a:p>
            <a:pPr algn="l" indent="0" marL="0">
              <a:lnSpc>
                <a:spcPts val="1875"/>
              </a:lnSpc>
              <a:buNone/>
            </a:pPr>
            <a:r>
              <a:rPr lang="en-US" sz="1250" dirty="0">
                <a:solidFill>
                  <a:srgbClr val="E3E8F1"/>
                </a:solidFill>
                <a:latin typeface="JetBrains Mono" pitchFamily="49" charset="0"/>
                <a:ea typeface="JetBrains Mono" pitchFamily="49" charset="-122"/>
                <a:cs typeface="JetBrains Mono" pitchFamily="49" charset="-120"/>
              </a:rPr>
              <a:t>  &lt;meta charset="UTF-8"&gt;</a:t>
            </a:r>
            <a:endParaRPr lang="en-US" sz="1250" dirty="0"/>
          </a:p>
          <a:p>
            <a:pPr algn="l" indent="0" marL="0">
              <a:lnSpc>
                <a:spcPts val="1875"/>
              </a:lnSpc>
              <a:buNone/>
            </a:pPr>
            <a:r>
              <a:rPr lang="en-US" sz="1250" dirty="0">
                <a:solidFill>
                  <a:srgbClr val="E3E8F1"/>
                </a:solidFill>
                <a:latin typeface="JetBrains Mono" pitchFamily="49" charset="0"/>
                <a:ea typeface="JetBrains Mono" pitchFamily="49" charset="-122"/>
                <a:cs typeface="JetBrains Mono" pitchFamily="49" charset="-120"/>
              </a:rPr>
              <a:t>  &lt;meta name="viewport"</a:t>
            </a:r>
            <a:endParaRPr lang="en-US" sz="1250" dirty="0"/>
          </a:p>
          <a:p>
            <a:pPr algn="l" indent="0" marL="0">
              <a:lnSpc>
                <a:spcPts val="1875"/>
              </a:lnSpc>
              <a:buNone/>
            </a:pPr>
            <a:r>
              <a:rPr lang="en-US" sz="1250" dirty="0">
                <a:solidFill>
                  <a:srgbClr val="E3E8F1"/>
                </a:solidFill>
                <a:latin typeface="JetBrains Mono" pitchFamily="49" charset="0"/>
                <a:ea typeface="JetBrains Mono" pitchFamily="49" charset="-122"/>
                <a:cs typeface="JetBrains Mono" pitchFamily="49" charset="-120"/>
              </a:rPr>
              <a:t>    content="width=device-width,</a:t>
            </a:r>
            <a:endParaRPr lang="en-US" sz="1250" dirty="0"/>
          </a:p>
          <a:p>
            <a:pPr algn="l" indent="0" marL="0">
              <a:lnSpc>
                <a:spcPts val="1875"/>
              </a:lnSpc>
              <a:buNone/>
            </a:pPr>
            <a:r>
              <a:rPr lang="en-US" sz="1250" dirty="0">
                <a:solidFill>
                  <a:srgbClr val="E3E8F1"/>
                </a:solidFill>
                <a:latin typeface="JetBrains Mono" pitchFamily="49" charset="0"/>
                <a:ea typeface="JetBrains Mono" pitchFamily="49" charset="-122"/>
                <a:cs typeface="JetBrains Mono" pitchFamily="49" charset="-120"/>
              </a:rPr>
              <a:t>    initial-scale=1.0"&gt;</a:t>
            </a:r>
            <a:endParaRPr lang="en-US" sz="1250" dirty="0"/>
          </a:p>
          <a:p>
            <a:pPr algn="l" indent="0" marL="0">
              <a:lnSpc>
                <a:spcPts val="1875"/>
              </a:lnSpc>
              <a:buNone/>
            </a:pPr>
            <a:r>
              <a:rPr lang="en-US" sz="1250" dirty="0">
                <a:solidFill>
                  <a:srgbClr val="E3E8F1"/>
                </a:solidFill>
                <a:latin typeface="JetBrains Mono" pitchFamily="49" charset="0"/>
                <a:ea typeface="JetBrains Mono" pitchFamily="49" charset="-122"/>
                <a:cs typeface="JetBrains Mono" pitchFamily="49" charset="-120"/>
              </a:rPr>
              <a:t>  &lt;title&gt;My Web Page&lt;/title&gt;</a:t>
            </a:r>
            <a:endParaRPr lang="en-US" sz="1250" dirty="0"/>
          </a:p>
          <a:p>
            <a:pPr algn="l" indent="0" marL="0">
              <a:lnSpc>
                <a:spcPts val="1875"/>
              </a:lnSpc>
              <a:buNone/>
            </a:pPr>
            <a:r>
              <a:rPr lang="en-US" sz="1250" dirty="0">
                <a:solidFill>
                  <a:srgbClr val="8DB4F0"/>
                </a:solidFill>
                <a:latin typeface="JetBrains Mono" pitchFamily="49" charset="0"/>
                <a:ea typeface="JetBrains Mono" pitchFamily="49" charset="-122"/>
                <a:cs typeface="JetBrains Mono" pitchFamily="49" charset="-120"/>
              </a:rPr>
              <a:t>&lt;/head&gt;</a:t>
            </a:r>
            <a:endParaRPr lang="en-US" sz="1250" dirty="0"/>
          </a:p>
          <a:p>
            <a:pPr algn="l" indent="0" marL="0">
              <a:lnSpc>
                <a:spcPts val="1875"/>
              </a:lnSpc>
              <a:buNone/>
            </a:pPr>
            <a:r>
              <a:rPr lang="en-US" sz="1250" dirty="0">
                <a:solidFill>
                  <a:srgbClr val="7FD1A1"/>
                </a:solidFill>
                <a:latin typeface="JetBrains Mono" pitchFamily="49" charset="0"/>
                <a:ea typeface="JetBrains Mono" pitchFamily="49" charset="-122"/>
                <a:cs typeface="JetBrains Mono" pitchFamily="49" charset="-120"/>
              </a:rPr>
              <a:t>&lt;body&gt;</a:t>
            </a:r>
            <a:endParaRPr lang="en-US" sz="1250" dirty="0"/>
          </a:p>
          <a:p>
            <a:pPr algn="l" indent="0" marL="0">
              <a:lnSpc>
                <a:spcPts val="1875"/>
              </a:lnSpc>
              <a:buNone/>
            </a:pPr>
            <a:r>
              <a:rPr lang="en-US" sz="1250" dirty="0">
                <a:solidFill>
                  <a:srgbClr val="E3E8F1"/>
                </a:solidFill>
                <a:latin typeface="JetBrains Mono" pitchFamily="49" charset="0"/>
                <a:ea typeface="JetBrains Mono" pitchFamily="49" charset="-122"/>
                <a:cs typeface="JetBrains Mono" pitchFamily="49" charset="-120"/>
              </a:rPr>
              <a:t>  &lt;h1&gt;Welcome&lt;/h1&gt;</a:t>
            </a:r>
            <a:endParaRPr lang="en-US" sz="1250" dirty="0"/>
          </a:p>
          <a:p>
            <a:pPr algn="l" indent="0" marL="0">
              <a:lnSpc>
                <a:spcPts val="1875"/>
              </a:lnSpc>
              <a:buNone/>
            </a:pPr>
            <a:r>
              <a:rPr lang="en-US" sz="1250" dirty="0">
                <a:solidFill>
                  <a:srgbClr val="E3E8F1"/>
                </a:solidFill>
                <a:latin typeface="JetBrains Mono" pitchFamily="49" charset="0"/>
                <a:ea typeface="JetBrains Mono" pitchFamily="49" charset="-122"/>
                <a:cs typeface="JetBrains Mono" pitchFamily="49" charset="-120"/>
              </a:rPr>
              <a:t>  &lt;p&gt;My first page.&lt;/p&gt;</a:t>
            </a:r>
            <a:endParaRPr lang="en-US" sz="1250" dirty="0"/>
          </a:p>
          <a:p>
            <a:pPr algn="l" indent="0" marL="0">
              <a:lnSpc>
                <a:spcPts val="1875"/>
              </a:lnSpc>
              <a:buNone/>
            </a:pPr>
            <a:r>
              <a:rPr lang="en-US" sz="1250" dirty="0">
                <a:solidFill>
                  <a:srgbClr val="7FD1A1"/>
                </a:solidFill>
                <a:latin typeface="JetBrains Mono" pitchFamily="49" charset="0"/>
                <a:ea typeface="JetBrains Mono" pitchFamily="49" charset="-122"/>
                <a:cs typeface="JetBrains Mono" pitchFamily="49" charset="-120"/>
              </a:rPr>
              <a:t>&lt;/body&gt;</a:t>
            </a:r>
            <a:endParaRPr lang="en-US" sz="1250" dirty="0"/>
          </a:p>
          <a:p>
            <a:pPr algn="l" indent="0" marL="0">
              <a:lnSpc>
                <a:spcPts val="1875"/>
              </a:lnSpc>
              <a:buNone/>
            </a:pPr>
            <a:r>
              <a:rPr lang="en-US" sz="1250" dirty="0">
                <a:solidFill>
                  <a:srgbClr val="E3E8F1"/>
                </a:solidFill>
                <a:latin typeface="JetBrains Mono" pitchFamily="49" charset="0"/>
                <a:ea typeface="JetBrains Mono" pitchFamily="49" charset="-122"/>
                <a:cs typeface="JetBrains Mono" pitchFamily="49" charset="-120"/>
              </a:rPr>
              <a:t>&lt;/html&gt;</a:t>
            </a:r>
            <a:endParaRPr lang="en-US" sz="1250" dirty="0"/>
          </a:p>
        </p:txBody>
      </p:sp>
      <p:sp>
        <p:nvSpPr>
          <p:cNvPr id="6" name="Shape 4"/>
          <p:cNvSpPr/>
          <p:nvPr/>
        </p:nvSpPr>
        <p:spPr>
          <a:xfrm>
            <a:off x="6953250" y="1927858"/>
            <a:ext cx="0" cy="518160"/>
          </a:xfrm>
          <a:prstGeom prst="line">
            <a:avLst/>
          </a:prstGeom>
          <a:noFill/>
          <a:ln w="38100">
            <a:solidFill>
              <a:srgbClr val="B4531A"/>
            </a:solidFill>
            <a:prstDash val="solid"/>
          </a:ln>
        </p:spPr>
      </p:sp>
      <p:sp>
        <p:nvSpPr>
          <p:cNvPr id="7" name="Text 5"/>
          <p:cNvSpPr/>
          <p:nvPr/>
        </p:nvSpPr>
        <p:spPr>
          <a:xfrm>
            <a:off x="7120255" y="1927858"/>
            <a:ext cx="438671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&lt;!DOCTYPE html&gt;</a:t>
            </a:r>
            <a:endParaRPr lang="en-US" sz="1400" dirty="0"/>
          </a:p>
        </p:txBody>
      </p:sp>
      <p:sp>
        <p:nvSpPr>
          <p:cNvPr id="8" name="Text 6"/>
          <p:cNvSpPr/>
          <p:nvPr/>
        </p:nvSpPr>
        <p:spPr>
          <a:xfrm>
            <a:off x="7120255" y="2214879"/>
            <a:ext cx="43867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6"/>
                </a:solidFill>
                <a:latin typeface="IBM Plex Sans" pitchFamily="34" charset="0"/>
                <a:ea typeface="IBM Plex Sans" pitchFamily="34" charset="-122"/>
                <a:cs typeface="IBM Plex Sans" pitchFamily="34" charset="-120"/>
              </a:rPr>
              <a:t>Tells the browser: this is modern HTML5</a:t>
            </a:r>
            <a:endParaRPr lang="en-US" sz="1300" dirty="0"/>
          </a:p>
        </p:txBody>
      </p:sp>
      <p:sp>
        <p:nvSpPr>
          <p:cNvPr id="9" name="Shape 7"/>
          <p:cNvSpPr/>
          <p:nvPr/>
        </p:nvSpPr>
        <p:spPr>
          <a:xfrm>
            <a:off x="6953250" y="2573021"/>
            <a:ext cx="0" cy="518160"/>
          </a:xfrm>
          <a:prstGeom prst="line">
            <a:avLst/>
          </a:prstGeom>
          <a:noFill/>
          <a:ln w="38100">
            <a:solidFill>
              <a:srgbClr val="2F5FA8"/>
            </a:solidFill>
            <a:prstDash val="solid"/>
          </a:ln>
        </p:spPr>
      </p:sp>
      <p:sp>
        <p:nvSpPr>
          <p:cNvPr id="10" name="Text 8"/>
          <p:cNvSpPr/>
          <p:nvPr/>
        </p:nvSpPr>
        <p:spPr>
          <a:xfrm>
            <a:off x="7120255" y="2573021"/>
            <a:ext cx="438671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&lt;head&gt;</a:t>
            </a:r>
            <a:endParaRPr lang="en-US" sz="1400" dirty="0"/>
          </a:p>
        </p:txBody>
      </p:sp>
      <p:sp>
        <p:nvSpPr>
          <p:cNvPr id="11" name="Text 9"/>
          <p:cNvSpPr/>
          <p:nvPr/>
        </p:nvSpPr>
        <p:spPr>
          <a:xfrm>
            <a:off x="7120255" y="2860042"/>
            <a:ext cx="43867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6"/>
                </a:solidFill>
                <a:latin typeface="IBM Plex Sans" pitchFamily="34" charset="0"/>
                <a:ea typeface="IBM Plex Sans" pitchFamily="34" charset="-122"/>
                <a:cs typeface="IBM Plex Sans" pitchFamily="34" charset="-120"/>
              </a:rPr>
              <a:t>Info about the page: title, charset, CSS links. Not shown.</a:t>
            </a:r>
            <a:endParaRPr lang="en-US" sz="1300" dirty="0"/>
          </a:p>
        </p:txBody>
      </p:sp>
      <p:sp>
        <p:nvSpPr>
          <p:cNvPr id="12" name="Shape 10"/>
          <p:cNvSpPr/>
          <p:nvPr/>
        </p:nvSpPr>
        <p:spPr>
          <a:xfrm>
            <a:off x="6953250" y="3218179"/>
            <a:ext cx="0" cy="749300"/>
          </a:xfrm>
          <a:prstGeom prst="line">
            <a:avLst/>
          </a:prstGeom>
          <a:noFill/>
          <a:ln w="38100">
            <a:solidFill>
              <a:srgbClr val="2F5FA8"/>
            </a:solidFill>
            <a:prstDash val="solid"/>
          </a:ln>
        </p:spPr>
      </p:sp>
      <p:sp>
        <p:nvSpPr>
          <p:cNvPr id="13" name="Text 11"/>
          <p:cNvSpPr/>
          <p:nvPr/>
        </p:nvSpPr>
        <p:spPr>
          <a:xfrm>
            <a:off x="7120255" y="3218179"/>
            <a:ext cx="438671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viewport meta</a:t>
            </a:r>
            <a:endParaRPr lang="en-US" sz="1400" dirty="0"/>
          </a:p>
        </p:txBody>
      </p:sp>
      <p:sp>
        <p:nvSpPr>
          <p:cNvPr id="14" name="Text 12"/>
          <p:cNvSpPr/>
          <p:nvPr/>
        </p:nvSpPr>
        <p:spPr>
          <a:xfrm>
            <a:off x="7120255" y="3505200"/>
            <a:ext cx="438671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6"/>
                </a:solidFill>
                <a:latin typeface="IBM Plex Sans" pitchFamily="34" charset="0"/>
                <a:ea typeface="IBM Plex Sans" pitchFamily="34" charset="-122"/>
                <a:cs typeface="IBM Plex Sans" pitchFamily="34" charset="-120"/>
              </a:rPr>
              <a:t>Makes phones show the page at real width. Needed for responsive!</a:t>
            </a:r>
            <a:endParaRPr lang="en-US" sz="1300" dirty="0"/>
          </a:p>
        </p:txBody>
      </p:sp>
      <p:sp>
        <p:nvSpPr>
          <p:cNvPr id="15" name="Shape 13"/>
          <p:cNvSpPr/>
          <p:nvPr/>
        </p:nvSpPr>
        <p:spPr>
          <a:xfrm>
            <a:off x="6953250" y="4094479"/>
            <a:ext cx="0" cy="518160"/>
          </a:xfrm>
          <a:prstGeom prst="line">
            <a:avLst/>
          </a:prstGeom>
          <a:noFill/>
          <a:ln w="38100">
            <a:solidFill>
              <a:srgbClr val="3E7D5A"/>
            </a:solidFill>
            <a:prstDash val="solid"/>
          </a:ln>
        </p:spPr>
      </p:sp>
      <p:sp>
        <p:nvSpPr>
          <p:cNvPr id="16" name="Text 14"/>
          <p:cNvSpPr/>
          <p:nvPr/>
        </p:nvSpPr>
        <p:spPr>
          <a:xfrm>
            <a:off x="7120255" y="4094479"/>
            <a:ext cx="438671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&lt;body&gt;</a:t>
            </a:r>
            <a:endParaRPr lang="en-US" sz="1400" dirty="0"/>
          </a:p>
        </p:txBody>
      </p:sp>
      <p:sp>
        <p:nvSpPr>
          <p:cNvPr id="17" name="Text 15"/>
          <p:cNvSpPr/>
          <p:nvPr/>
        </p:nvSpPr>
        <p:spPr>
          <a:xfrm>
            <a:off x="7120255" y="4381500"/>
            <a:ext cx="43867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6"/>
                </a:solidFill>
                <a:latin typeface="IBM Plex Sans" pitchFamily="34" charset="0"/>
                <a:ea typeface="IBM Plex Sans" pitchFamily="34" charset="-122"/>
                <a:cs typeface="IBM Plex Sans" pitchFamily="34" charset="-120"/>
              </a:rPr>
              <a:t>Everything the user sees</a:t>
            </a:r>
            <a:endParaRPr lang="en-US" sz="1300" dirty="0"/>
          </a:p>
        </p:txBody>
      </p:sp>
      <p:sp>
        <p:nvSpPr>
          <p:cNvPr id="18" name="Text 1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p.12 · Section 4.1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1166072" cy="289560"/>
          </a:xfrm>
          <a:custGeom>
            <a:avLst/>
            <a:gdLst/>
            <a:ahLst/>
            <a:cxnLst/>
            <a:rect l="l" t="t" r="r" b="b"/>
            <a:pathLst>
              <a:path w="1166072" h="289560">
                <a:moveTo>
                  <a:pt x="144780" y="0"/>
                </a:moveTo>
                <a:lnTo>
                  <a:pt x="1021292" y="0"/>
                </a:lnTo>
                <a:arcTo hR="144780" wR="144780" stAng="16200000" swAng="5400000"/>
                <a:lnTo>
                  <a:pt x="1166072"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a:t>
            </a:r>
            <a:endParaRPr lang="en-US" sz="1200" dirty="0"/>
          </a:p>
        </p:txBody>
      </p:sp>
      <p:sp>
        <p:nvSpPr>
          <p:cNvPr id="3" name="Text 1"/>
          <p:cNvSpPr/>
          <p:nvPr/>
        </p:nvSpPr>
        <p:spPr>
          <a:xfrm>
            <a:off x="2105872" y="850900"/>
            <a:ext cx="27129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10:23 AM · 5 min · Project setup</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3F1EA"/>
                </a:solidFill>
                <a:latin typeface="Space Grotesk" pitchFamily="34" charset="0"/>
                <a:ea typeface="Space Grotesk" pitchFamily="34" charset="-122"/>
                <a:cs typeface="Space Grotesk" pitchFamily="34" charset="-120"/>
              </a:rPr>
              <a:t>Create your project in 60 seconds</a:t>
            </a:r>
            <a:endParaRPr lang="en-US" sz="3000" dirty="0"/>
          </a:p>
        </p:txBody>
      </p:sp>
      <p:sp>
        <p:nvSpPr>
          <p:cNvPr id="5" name="Text 3"/>
          <p:cNvSpPr/>
          <p:nvPr/>
        </p:nvSpPr>
        <p:spPr>
          <a:xfrm>
            <a:off x="869738" y="1927858"/>
            <a:ext cx="4906222" cy="1892300"/>
          </a:xfrm>
          <a:prstGeom prst="rect">
            <a:avLst/>
          </a:prstGeom>
          <a:noFill/>
          <a:ln/>
        </p:spPr>
        <p:txBody>
          <a:bodyPr wrap="square" lIns="0" tIns="0" rIns="0" bIns="0" rtlCol="0" anchor="t">
            <a:normAutofit/>
          </a:bodyPr>
          <a:lstStyle/>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Make a folder: </a:t>
            </a:r>
            <a:r>
              <a:rPr lang="en-US" sz="1400" b="1" dirty="0">
                <a:solidFill>
                  <a:srgbClr val="E3E8F1"/>
                </a:solidFill>
                <a:latin typeface="IBM Plex Sans" pitchFamily="34" charset="0"/>
                <a:ea typeface="IBM Plex Sans" pitchFamily="34" charset="-122"/>
                <a:cs typeface="IBM Plex Sans" pitchFamily="34" charset="-120"/>
              </a:rPr>
              <a:t>day1-portfolio</a:t>
            </a:r>
            <a:r>
              <a:rPr lang="en-US" sz="1400" dirty="0">
                <a:solidFill>
                  <a:srgbClr val="E3E8F1"/>
                </a:solidFill>
                <a:latin typeface="IBM Plex Sans" pitchFamily="34" charset="0"/>
                <a:ea typeface="IBM Plex Sans" pitchFamily="34" charset="-122"/>
                <a:cs typeface="IBM Plex Sans" pitchFamily="34" charset="-120"/>
              </a:rPr>
              <a:t> (USN in the name is fine)</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VS Code → </a:t>
            </a:r>
            <a:r>
              <a:rPr lang="en-US" sz="1400" b="1" dirty="0">
                <a:solidFill>
                  <a:srgbClr val="E3E8F1"/>
                </a:solidFill>
                <a:latin typeface="IBM Plex Sans" pitchFamily="34" charset="0"/>
                <a:ea typeface="IBM Plex Sans" pitchFamily="34" charset="-122"/>
                <a:cs typeface="IBM Plex Sans" pitchFamily="34" charset="-120"/>
              </a:rPr>
              <a:t>File → Open Folder</a:t>
            </a:r>
            <a:r>
              <a:rPr lang="en-US" sz="1400" dirty="0">
                <a:solidFill>
                  <a:srgbClr val="E3E8F1"/>
                </a:solidFill>
                <a:latin typeface="IBM Plex Sans" pitchFamily="34" charset="0"/>
                <a:ea typeface="IBM Plex Sans" pitchFamily="34" charset="-122"/>
                <a:cs typeface="IBM Plex Sans" pitchFamily="34" charset="-120"/>
              </a:rPr>
              <a:t> → select it</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New file: </a:t>
            </a:r>
            <a:r>
              <a:rPr lang="en-US" sz="1400" b="1" dirty="0">
                <a:solidFill>
                  <a:srgbClr val="E3E8F1"/>
                </a:solidFill>
                <a:latin typeface="IBM Plex Sans" pitchFamily="34" charset="0"/>
                <a:ea typeface="IBM Plex Sans" pitchFamily="34" charset="-122"/>
                <a:cs typeface="IBM Plex Sans" pitchFamily="34" charset="-120"/>
              </a:rPr>
              <a:t>index.html</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Type </a:t>
            </a:r>
            <a:r>
              <a:rPr lang="en-US" sz="1400" b="1" dirty="0">
                <a:solidFill>
                  <a:srgbClr val="E3E8F1"/>
                </a:solidFill>
                <a:latin typeface="IBM Plex Sans" pitchFamily="34" charset="0"/>
                <a:ea typeface="IBM Plex Sans" pitchFamily="34" charset="-122"/>
                <a:cs typeface="IBM Plex Sans" pitchFamily="34" charset="-120"/>
              </a:rPr>
              <a:t>!</a:t>
            </a:r>
            <a:r>
              <a:rPr lang="en-US" sz="1400" dirty="0">
                <a:solidFill>
                  <a:srgbClr val="E3E8F1"/>
                </a:solidFill>
                <a:latin typeface="IBM Plex Sans" pitchFamily="34" charset="0"/>
                <a:ea typeface="IBM Plex Sans" pitchFamily="34" charset="-122"/>
                <a:cs typeface="IBM Plex Sans" pitchFamily="34" charset="-120"/>
              </a:rPr>
              <a:t> and press </a:t>
            </a:r>
            <a:r>
              <a:rPr lang="en-US" sz="1400" b="1" dirty="0">
                <a:solidFill>
                  <a:srgbClr val="E3E8F1"/>
                </a:solidFill>
                <a:latin typeface="IBM Plex Sans" pitchFamily="34" charset="0"/>
                <a:ea typeface="IBM Plex Sans" pitchFamily="34" charset="-122"/>
                <a:cs typeface="IBM Plex Sans" pitchFamily="34" charset="-120"/>
              </a:rPr>
              <a:t>Tab</a:t>
            </a:r>
            <a:r>
              <a:rPr lang="en-US" sz="1400" dirty="0">
                <a:solidFill>
                  <a:srgbClr val="E3E8F1"/>
                </a:solidFill>
                <a:latin typeface="IBM Plex Sans" pitchFamily="34" charset="0"/>
                <a:ea typeface="IBM Plex Sans" pitchFamily="34" charset="-122"/>
                <a:cs typeface="IBM Plex Sans" pitchFamily="34" charset="-120"/>
              </a:rPr>
              <a:t> (Emmet magic)</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Change the title to </a:t>
            </a:r>
            <a:r>
              <a:rPr lang="en-US" sz="1400" b="1" dirty="0">
                <a:solidFill>
                  <a:srgbClr val="E3E8F1"/>
                </a:solidFill>
                <a:latin typeface="IBM Plex Sans" pitchFamily="34" charset="0"/>
                <a:ea typeface="IBM Plex Sans" pitchFamily="34" charset="-122"/>
                <a:cs typeface="IBM Plex Sans" pitchFamily="34" charset="-120"/>
              </a:rPr>
              <a:t>Your Name | Portfolio</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Save: </a:t>
            </a:r>
            <a:r>
              <a:rPr lang="en-US" sz="1400" b="1" dirty="0">
                <a:solidFill>
                  <a:srgbClr val="E3E8F1"/>
                </a:solidFill>
                <a:latin typeface="IBM Plex Sans" pitchFamily="34" charset="0"/>
                <a:ea typeface="IBM Plex Sans" pitchFamily="34" charset="-122"/>
                <a:cs typeface="IBM Plex Sans" pitchFamily="34" charset="-120"/>
              </a:rPr>
              <a:t>Ctrl+S</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Right-click the file → </a:t>
            </a:r>
            <a:r>
              <a:rPr lang="en-US" sz="1400" b="1" dirty="0">
                <a:solidFill>
                  <a:srgbClr val="E3E8F1"/>
                </a:solidFill>
                <a:latin typeface="IBM Plex Sans" pitchFamily="34" charset="0"/>
                <a:ea typeface="IBM Plex Sans" pitchFamily="34" charset="-122"/>
                <a:cs typeface="IBM Plex Sans" pitchFamily="34" charset="-120"/>
              </a:rPr>
              <a:t>Open with Live Server</a:t>
            </a:r>
            <a:endParaRPr lang="en-US" sz="1400" dirty="0"/>
          </a:p>
        </p:txBody>
      </p:sp>
      <p:sp>
        <p:nvSpPr>
          <p:cNvPr id="6" name="Shape 4"/>
          <p:cNvSpPr/>
          <p:nvPr/>
        </p:nvSpPr>
        <p:spPr>
          <a:xfrm>
            <a:off x="5946775" y="1931033"/>
            <a:ext cx="5429250" cy="1724448"/>
          </a:xfrm>
          <a:prstGeom prst="roundRect">
            <a:avLst>
              <a:gd name="adj" fmla="val 5708"/>
            </a:avLst>
          </a:prstGeom>
          <a:solidFill>
            <a:srgbClr val="0D1220"/>
          </a:solidFill>
          <a:ln w="6350">
            <a:solidFill>
              <a:srgbClr val="2A3550"/>
            </a:solidFill>
            <a:prstDash val="solid"/>
          </a:ln>
        </p:spPr>
      </p:sp>
      <p:sp>
        <p:nvSpPr>
          <p:cNvPr id="7" name="Text 5"/>
          <p:cNvSpPr/>
          <p:nvPr/>
        </p:nvSpPr>
        <p:spPr>
          <a:xfrm>
            <a:off x="6152409" y="2136663"/>
            <a:ext cx="516852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BA3"/>
                </a:solidFill>
                <a:latin typeface="IBM Plex Sans" pitchFamily="34" charset="0"/>
                <a:ea typeface="IBM Plex Sans" pitchFamily="34" charset="-122"/>
                <a:cs typeface="IBM Plex Sans" pitchFamily="34" charset="-120"/>
              </a:rPr>
              <a:t>FOLDER BY 4:30 PM</a:t>
            </a:r>
            <a:endParaRPr lang="en-US" sz="1200" dirty="0"/>
          </a:p>
        </p:txBody>
      </p:sp>
      <p:sp>
        <p:nvSpPr>
          <p:cNvPr id="8" name="Text 6"/>
          <p:cNvSpPr/>
          <p:nvPr/>
        </p:nvSpPr>
        <p:spPr>
          <a:xfrm>
            <a:off x="6152409" y="2426233"/>
            <a:ext cx="5168521" cy="1049020"/>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E3E8F1"/>
                </a:solidFill>
                <a:latin typeface="JetBrains Mono" pitchFamily="49" charset="0"/>
                <a:ea typeface="JetBrains Mono" pitchFamily="49" charset="-122"/>
                <a:cs typeface="JetBrains Mono" pitchFamily="49" charset="-120"/>
              </a:rPr>
              <a:t>day1-portfolio/</a:t>
            </a:r>
            <a:endParaRPr lang="en-US" sz="1300" dirty="0"/>
          </a:p>
          <a:p>
            <a:pPr algn="l" indent="0" marL="0">
              <a:lnSpc>
                <a:spcPts val="2015"/>
              </a:lnSpc>
              <a:buNone/>
            </a:pPr>
            <a:r>
              <a:rPr lang="en-US" sz="1300" dirty="0">
                <a:solidFill>
                  <a:srgbClr val="E3E8F1"/>
                </a:solidFill>
                <a:latin typeface="JetBrains Mono" pitchFamily="49" charset="0"/>
                <a:ea typeface="JetBrains Mono" pitchFamily="49" charset="-122"/>
                <a:cs typeface="JetBrains Mono" pitchFamily="49" charset="-120"/>
              </a:rPr>
              <a:t>  ├── index.html</a:t>
            </a:r>
            <a:endParaRPr lang="en-US" sz="1300" dirty="0"/>
          </a:p>
          <a:p>
            <a:pPr algn="l" indent="0" marL="0">
              <a:lnSpc>
                <a:spcPts val="2015"/>
              </a:lnSpc>
              <a:buNone/>
            </a:pPr>
            <a:r>
              <a:rPr lang="en-US" sz="1300" dirty="0">
                <a:solidFill>
                  <a:srgbClr val="E3E8F1"/>
                </a:solidFill>
                <a:latin typeface="JetBrains Mono" pitchFamily="49" charset="0"/>
                <a:ea typeface="JetBrains Mono" pitchFamily="49" charset="-122"/>
                <a:cs typeface="JetBrains Mono" pitchFamily="49" charset="-120"/>
              </a:rPr>
              <a:t>  ├── style.css</a:t>
            </a:r>
            <a:endParaRPr lang="en-US" sz="1300" dirty="0"/>
          </a:p>
          <a:p>
            <a:pPr algn="l" indent="0" marL="0">
              <a:lnSpc>
                <a:spcPts val="2015"/>
              </a:lnSpc>
              <a:buNone/>
            </a:pPr>
            <a:r>
              <a:rPr lang="en-US" sz="1300" dirty="0">
                <a:solidFill>
                  <a:srgbClr val="E3E8F1"/>
                </a:solidFill>
                <a:latin typeface="JetBrains Mono" pitchFamily="49" charset="0"/>
                <a:ea typeface="JetBrains Mono" pitchFamily="49" charset="-122"/>
                <a:cs typeface="JetBrains Mono" pitchFamily="49" charset="-120"/>
              </a:rPr>
              <a:t>  └── </a:t>
            </a:r>
            <a:r>
              <a:rPr lang="en-US" sz="1300" dirty="0">
                <a:solidFill>
                  <a:srgbClr val="7F8BA3"/>
                </a:solidFill>
                <a:latin typeface="JetBrains Mono" pitchFamily="49" charset="0"/>
                <a:ea typeface="JetBrains Mono" pitchFamily="49" charset="-122"/>
                <a:cs typeface="JetBrains Mono" pitchFamily="49" charset="-120"/>
              </a:rPr>
              <a:t>.git/ (hidden, from 1:55)</a:t>
            </a:r>
            <a:endParaRPr lang="en-US" sz="1300" dirty="0"/>
          </a:p>
        </p:txBody>
      </p:sp>
      <p:sp>
        <p:nvSpPr>
          <p:cNvPr id="9" name="Text 7"/>
          <p:cNvSpPr/>
          <p:nvPr/>
        </p:nvSpPr>
        <p:spPr>
          <a:xfrm>
            <a:off x="5943600" y="3811054"/>
            <a:ext cx="5435600" cy="751840"/>
          </a:xfrm>
          <a:prstGeom prst="roundRect">
            <a:avLst>
              <a:gd name="adj" fmla="val 10135"/>
            </a:avLst>
          </a:prstGeom>
          <a:solidFill>
            <a:srgbClr val="F2994A"/>
          </a:solidFill>
          <a:ln/>
        </p:spPr>
        <p:txBody>
          <a:bodyPr wrap="square" lIns="155482" tIns="104682" rIns="3082" bIns="79282" rtlCol="0" anchor="t">
            <a:normAutofit/>
          </a:bodyPr>
          <a:lstStyle/>
          <a:p>
            <a:pPr algn="l" indent="0" marL="0">
              <a:lnSpc>
                <a:spcPts val="1960"/>
              </a:lnSpc>
              <a:buNone/>
            </a:pPr>
            <a:r>
              <a:rPr lang="en-US" sz="1400" b="1" dirty="0">
                <a:solidFill>
                  <a:srgbClr val="141B2D"/>
                </a:solidFill>
                <a:latin typeface="IBM Plex Sans" pitchFamily="34" charset="0"/>
                <a:ea typeface="IBM Plex Sans" pitchFamily="34" charset="-122"/>
                <a:cs typeface="IBM Plex Sans" pitchFamily="34" charset="-120"/>
              </a:rPr>
              <a:t>Habit for today:</a:t>
            </a:r>
            <a:r>
              <a:rPr lang="en-US" sz="1400" dirty="0">
                <a:solidFill>
                  <a:srgbClr val="141B2D"/>
                </a:solidFill>
                <a:latin typeface="IBM Plex Sans" pitchFamily="34" charset="0"/>
                <a:ea typeface="IBM Plex Sans" pitchFamily="34" charset="-122"/>
                <a:cs typeface="IBM Plex Sans" pitchFamily="34" charset="-120"/>
              </a:rPr>
              <a:t> Ctrl+S after every change. Most “it doesn’t work” = unsaved file.</a:t>
            </a:r>
            <a:endParaRPr lang="en-US" sz="1400" dirty="0"/>
          </a:p>
        </p:txBody>
      </p:sp>
      <p:sp>
        <p:nvSpPr>
          <p:cNvPr id="10" name="Text 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Live Server opens 127.0.0.1:5500 and auto-refreshes on save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228714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10:28 AM · Semantic HTML</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Semantic tags name the parts of a page</a:t>
            </a:r>
            <a:endParaRPr lang="en-US" sz="3000" dirty="0"/>
          </a:p>
        </p:txBody>
      </p:sp>
      <p:sp>
        <p:nvSpPr>
          <p:cNvPr id="5" name="Shape 3"/>
          <p:cNvSpPr/>
          <p:nvPr/>
        </p:nvSpPr>
        <p:spPr>
          <a:xfrm>
            <a:off x="812800" y="1927858"/>
            <a:ext cx="5207000" cy="543560"/>
          </a:xfrm>
          <a:prstGeom prst="roundRect">
            <a:avLst>
              <a:gd name="adj" fmla="val 14019"/>
            </a:avLst>
          </a:prstGeom>
          <a:solidFill>
            <a:srgbClr val="2F5FA8"/>
          </a:solidFill>
          <a:ln/>
        </p:spPr>
      </p:sp>
      <p:sp>
        <p:nvSpPr>
          <p:cNvPr id="6" name="Text 4"/>
          <p:cNvSpPr/>
          <p:nvPr/>
        </p:nvSpPr>
        <p:spPr>
          <a:xfrm>
            <a:off x="990600" y="2084065"/>
            <a:ext cx="95097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3EE"/>
                </a:solidFill>
                <a:latin typeface="JetBrains Mono" pitchFamily="49" charset="0"/>
                <a:ea typeface="JetBrains Mono" pitchFamily="49" charset="-122"/>
                <a:cs typeface="JetBrains Mono" pitchFamily="49" charset="-120"/>
              </a:rPr>
              <a:t>&lt;header&gt;</a:t>
            </a:r>
            <a:endParaRPr lang="en-US" sz="1300" dirty="0"/>
          </a:p>
        </p:txBody>
      </p:sp>
      <p:sp>
        <p:nvSpPr>
          <p:cNvPr id="7" name="Text 5"/>
          <p:cNvSpPr/>
          <p:nvPr/>
        </p:nvSpPr>
        <p:spPr>
          <a:xfrm>
            <a:off x="5181600" y="2054858"/>
            <a:ext cx="660400" cy="289560"/>
          </a:xfrm>
          <a:prstGeom prst="roundRect">
            <a:avLst>
              <a:gd name="adj" fmla="val 17544"/>
            </a:avLst>
          </a:prstGeom>
          <a:solidFill>
            <a:srgbClr val="8DB4F0"/>
          </a:solidFill>
          <a:ln/>
        </p:spPr>
        <p:txBody>
          <a:bodyPr wrap="none" lIns="0" tIns="0" rIns="0" bIns="0" rtlCol="0" anchor="ctr">
            <a:normAutofit/>
          </a:bodyPr>
          <a:lstStyle/>
          <a:p>
            <a:pPr algn="ctr" indent="0" marL="0">
              <a:lnSpc>
                <a:spcPts val="1680"/>
              </a:lnSpc>
              <a:buNone/>
            </a:pPr>
            <a:r>
              <a:rPr lang="en-US" sz="1200" dirty="0">
                <a:solidFill>
                  <a:srgbClr val="141B2D"/>
                </a:solidFill>
                <a:latin typeface="JetBrains Mono" pitchFamily="49" charset="0"/>
                <a:ea typeface="JetBrains Mono" pitchFamily="49" charset="-122"/>
                <a:cs typeface="JetBrains Mono" pitchFamily="49" charset="-120"/>
              </a:rPr>
              <a:t>&lt;nav&gt;</a:t>
            </a:r>
            <a:endParaRPr lang="en-US" sz="1200" dirty="0"/>
          </a:p>
        </p:txBody>
      </p:sp>
      <p:sp>
        <p:nvSpPr>
          <p:cNvPr id="8" name="Shape 6"/>
          <p:cNvSpPr/>
          <p:nvPr/>
        </p:nvSpPr>
        <p:spPr>
          <a:xfrm>
            <a:off x="819150" y="2553965"/>
            <a:ext cx="5194300" cy="1683597"/>
          </a:xfrm>
          <a:prstGeom prst="roundRect">
            <a:avLst>
              <a:gd name="adj" fmla="val 4149"/>
            </a:avLst>
          </a:prstGeom>
          <a:solidFill>
            <a:srgbClr val="FFFFFF"/>
          </a:solidFill>
          <a:ln w="12700">
            <a:solidFill>
              <a:srgbClr val="2F5FA8"/>
            </a:solidFill>
            <a:prstDash val="dash"/>
          </a:ln>
        </p:spPr>
      </p:sp>
      <p:sp>
        <p:nvSpPr>
          <p:cNvPr id="9" name="Text 7"/>
          <p:cNvSpPr/>
          <p:nvPr/>
        </p:nvSpPr>
        <p:spPr>
          <a:xfrm>
            <a:off x="1001818" y="2685839"/>
            <a:ext cx="497383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FA8"/>
                </a:solidFill>
                <a:latin typeface="JetBrains Mono" pitchFamily="49" charset="0"/>
                <a:ea typeface="JetBrains Mono" pitchFamily="49" charset="-122"/>
                <a:cs typeface="JetBrains Mono" pitchFamily="49" charset="-120"/>
              </a:rPr>
              <a:t>&lt;main&gt;</a:t>
            </a:r>
            <a:endParaRPr lang="en-US" sz="1300" dirty="0"/>
          </a:p>
        </p:txBody>
      </p:sp>
      <p:sp>
        <p:nvSpPr>
          <p:cNvPr id="10" name="Text 8"/>
          <p:cNvSpPr/>
          <p:nvPr/>
        </p:nvSpPr>
        <p:spPr>
          <a:xfrm>
            <a:off x="1001818" y="2993182"/>
            <a:ext cx="2376382" cy="518160"/>
          </a:xfrm>
          <a:prstGeom prst="roundRect">
            <a:avLst>
              <a:gd name="adj" fmla="val 9804"/>
            </a:avLst>
          </a:prstGeom>
          <a:solidFill>
            <a:srgbClr val="E3E9F5"/>
          </a:solidFill>
          <a:ln/>
        </p:spPr>
        <p:txBody>
          <a:bodyPr wrap="square" lIns="54123" tIns="137521" rIns="54123" bIns="112121" rtlCol="0" anchor="t">
            <a:normAutofit/>
          </a:bodyPr>
          <a:lstStyle/>
          <a:p>
            <a:pPr algn="ctr"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&lt;section&gt;</a:t>
            </a:r>
            <a:endParaRPr lang="en-US" sz="1200" dirty="0"/>
          </a:p>
        </p:txBody>
      </p:sp>
      <p:sp>
        <p:nvSpPr>
          <p:cNvPr id="11" name="Text 9"/>
          <p:cNvSpPr/>
          <p:nvPr/>
        </p:nvSpPr>
        <p:spPr>
          <a:xfrm>
            <a:off x="3454400" y="2993182"/>
            <a:ext cx="2376382" cy="518160"/>
          </a:xfrm>
          <a:prstGeom prst="roundRect">
            <a:avLst>
              <a:gd name="adj" fmla="val 9804"/>
            </a:avLst>
          </a:prstGeom>
          <a:solidFill>
            <a:srgbClr val="E3E9F5"/>
          </a:solidFill>
          <a:ln/>
        </p:spPr>
        <p:txBody>
          <a:bodyPr wrap="square" lIns="54123" tIns="137521" rIns="54123" bIns="112121" rtlCol="0" anchor="t">
            <a:normAutofit/>
          </a:bodyPr>
          <a:lstStyle/>
          <a:p>
            <a:pPr algn="ctr"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&lt;section&gt;</a:t>
            </a:r>
            <a:endParaRPr lang="en-US" sz="1200" dirty="0"/>
          </a:p>
        </p:txBody>
      </p:sp>
      <p:sp>
        <p:nvSpPr>
          <p:cNvPr id="12" name="Text 10"/>
          <p:cNvSpPr/>
          <p:nvPr/>
        </p:nvSpPr>
        <p:spPr>
          <a:xfrm>
            <a:off x="1001818" y="3587539"/>
            <a:ext cx="1558819" cy="518160"/>
          </a:xfrm>
          <a:prstGeom prst="roundRect">
            <a:avLst>
              <a:gd name="adj" fmla="val 9804"/>
            </a:avLst>
          </a:prstGeom>
          <a:solidFill>
            <a:srgbClr val="FBEDE3"/>
          </a:solidFill>
          <a:ln/>
        </p:spPr>
        <p:txBody>
          <a:bodyPr wrap="square" lIns="61321" tIns="137521" rIns="61321" bIns="112121" rtlCol="0" anchor="t">
            <a:normAutofit/>
          </a:bodyPr>
          <a:lstStyle/>
          <a:p>
            <a:pPr algn="ctr"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&lt;article&gt;</a:t>
            </a:r>
            <a:endParaRPr lang="en-US" sz="1200" dirty="0"/>
          </a:p>
        </p:txBody>
      </p:sp>
      <p:sp>
        <p:nvSpPr>
          <p:cNvPr id="13" name="Text 11"/>
          <p:cNvSpPr/>
          <p:nvPr/>
        </p:nvSpPr>
        <p:spPr>
          <a:xfrm>
            <a:off x="2636838" y="3587539"/>
            <a:ext cx="1558925" cy="518160"/>
          </a:xfrm>
          <a:prstGeom prst="roundRect">
            <a:avLst>
              <a:gd name="adj" fmla="val 9804"/>
            </a:avLst>
          </a:prstGeom>
          <a:solidFill>
            <a:srgbClr val="FBEDE3"/>
          </a:solidFill>
          <a:ln/>
        </p:spPr>
        <p:txBody>
          <a:bodyPr wrap="square" lIns="61321" tIns="137521" rIns="61321" bIns="112121" rtlCol="0" anchor="t">
            <a:normAutofit/>
          </a:bodyPr>
          <a:lstStyle/>
          <a:p>
            <a:pPr algn="ctr"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&lt;article&gt;</a:t>
            </a:r>
            <a:endParaRPr lang="en-US" sz="1200" dirty="0"/>
          </a:p>
        </p:txBody>
      </p:sp>
      <p:sp>
        <p:nvSpPr>
          <p:cNvPr id="14" name="Text 12"/>
          <p:cNvSpPr/>
          <p:nvPr/>
        </p:nvSpPr>
        <p:spPr>
          <a:xfrm>
            <a:off x="4271963" y="3587539"/>
            <a:ext cx="1558819" cy="518160"/>
          </a:xfrm>
          <a:prstGeom prst="roundRect">
            <a:avLst>
              <a:gd name="adj" fmla="val 9804"/>
            </a:avLst>
          </a:prstGeom>
          <a:solidFill>
            <a:srgbClr val="FBEDE3"/>
          </a:solidFill>
          <a:ln/>
        </p:spPr>
        <p:txBody>
          <a:bodyPr wrap="square" lIns="61321" tIns="137521" rIns="61321" bIns="112121" rtlCol="0" anchor="t">
            <a:normAutofit/>
          </a:bodyPr>
          <a:lstStyle/>
          <a:p>
            <a:pPr algn="ctr"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&lt;article&gt;</a:t>
            </a:r>
            <a:endParaRPr lang="en-US" sz="1200" dirty="0"/>
          </a:p>
        </p:txBody>
      </p:sp>
      <p:sp>
        <p:nvSpPr>
          <p:cNvPr id="15" name="Text 13"/>
          <p:cNvSpPr/>
          <p:nvPr/>
        </p:nvSpPr>
        <p:spPr>
          <a:xfrm>
            <a:off x="812800" y="4320121"/>
            <a:ext cx="5207000" cy="485140"/>
          </a:xfrm>
          <a:prstGeom prst="roundRect">
            <a:avLst>
              <a:gd name="adj" fmla="val 15707"/>
            </a:avLst>
          </a:prstGeom>
          <a:solidFill>
            <a:srgbClr val="4A5266"/>
          </a:solidFill>
          <a:ln/>
        </p:spPr>
        <p:txBody>
          <a:bodyPr wrap="square" lIns="155482" tIns="104682" rIns="9940" bIns="79282" rtlCol="0" anchor="t">
            <a:normAutofit/>
          </a:bodyPr>
          <a:lstStyle/>
          <a:p>
            <a:pPr algn="l" indent="0" marL="0">
              <a:lnSpc>
                <a:spcPts val="1820"/>
              </a:lnSpc>
              <a:buNone/>
            </a:pPr>
            <a:r>
              <a:rPr lang="en-US" sz="1300" b="1" dirty="0">
                <a:solidFill>
                  <a:srgbClr val="F5F3EE"/>
                </a:solidFill>
                <a:latin typeface="JetBrains Mono" pitchFamily="49" charset="0"/>
                <a:ea typeface="JetBrains Mono" pitchFamily="49" charset="-122"/>
                <a:cs typeface="JetBrains Mono" pitchFamily="49" charset="-120"/>
              </a:rPr>
              <a:t>&lt;footer&gt;</a:t>
            </a:r>
            <a:endParaRPr lang="en-US" sz="1300" dirty="0"/>
          </a:p>
        </p:txBody>
      </p:sp>
      <p:sp>
        <p:nvSpPr>
          <p:cNvPr id="16" name="Text 14"/>
          <p:cNvSpPr/>
          <p:nvPr/>
        </p:nvSpPr>
        <p:spPr>
          <a:xfrm>
            <a:off x="6375400" y="1927858"/>
            <a:ext cx="515391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A2236"/>
                </a:solidFill>
                <a:latin typeface="IBM Plex Sans" pitchFamily="34" charset="0"/>
                <a:ea typeface="IBM Plex Sans" pitchFamily="34" charset="-122"/>
                <a:cs typeface="IBM Plex Sans" pitchFamily="34" charset="-120"/>
              </a:rPr>
              <a:t>&lt;div&gt;</a:t>
            </a:r>
            <a:r>
              <a:rPr lang="en-US" sz="1500" dirty="0">
                <a:solidFill>
                  <a:srgbClr val="1A2236"/>
                </a:solidFill>
                <a:latin typeface="IBM Plex Sans" pitchFamily="34" charset="0"/>
                <a:ea typeface="IBM Plex Sans" pitchFamily="34" charset="-122"/>
                <a:cs typeface="IBM Plex Sans" pitchFamily="34" charset="-120"/>
              </a:rPr>
              <a:t> says nothing. </a:t>
            </a:r>
            <a:r>
              <a:rPr lang="en-US" sz="1500" b="1" dirty="0">
                <a:solidFill>
                  <a:srgbClr val="1A2236"/>
                </a:solidFill>
                <a:latin typeface="IBM Plex Sans" pitchFamily="34" charset="0"/>
                <a:ea typeface="IBM Plex Sans" pitchFamily="34" charset="-122"/>
                <a:cs typeface="IBM Plex Sans" pitchFamily="34" charset="-120"/>
              </a:rPr>
              <a:t>&lt;nav&gt;</a:t>
            </a:r>
            <a:r>
              <a:rPr lang="en-US" sz="1500" dirty="0">
                <a:solidFill>
                  <a:srgbClr val="1A2236"/>
                </a:solidFill>
                <a:latin typeface="IBM Plex Sans" pitchFamily="34" charset="0"/>
                <a:ea typeface="IBM Plex Sans" pitchFamily="34" charset="-122"/>
                <a:cs typeface="IBM Plex Sans" pitchFamily="34" charset="-120"/>
              </a:rPr>
              <a:t> says “this is navigation”.</a:t>
            </a:r>
            <a:endParaRPr lang="en-US" sz="1500" dirty="0"/>
          </a:p>
        </p:txBody>
      </p:sp>
      <p:sp>
        <p:nvSpPr>
          <p:cNvPr id="17" name="Text 15"/>
          <p:cNvSpPr/>
          <p:nvPr/>
        </p:nvSpPr>
        <p:spPr>
          <a:xfrm>
            <a:off x="6375400" y="2346958"/>
            <a:ext cx="515391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236"/>
                </a:solidFill>
                <a:latin typeface="Space Grotesk" pitchFamily="34" charset="0"/>
                <a:ea typeface="Space Grotesk" pitchFamily="34" charset="-122"/>
                <a:cs typeface="Space Grotesk" pitchFamily="34" charset="-120"/>
              </a:rPr>
              <a:t>Why bother?</a:t>
            </a:r>
            <a:endParaRPr lang="en-US" sz="1800" dirty="0"/>
          </a:p>
        </p:txBody>
      </p:sp>
      <p:sp>
        <p:nvSpPr>
          <p:cNvPr id="18" name="Text 16"/>
          <p:cNvSpPr/>
          <p:nvPr/>
        </p:nvSpPr>
        <p:spPr>
          <a:xfrm>
            <a:off x="6453632" y="2773685"/>
            <a:ext cx="5068062" cy="834072"/>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Code is easier to read and maintain</a:t>
            </a:r>
            <a:endParaRPr lang="en-US" sz="1400" dirty="0"/>
          </a:p>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Screen readers can jump to </a:t>
            </a:r>
            <a:r>
              <a:rPr lang="en-US" sz="1400" b="1" dirty="0">
                <a:solidFill>
                  <a:srgbClr val="4A5266"/>
                </a:solidFill>
                <a:latin typeface="IBM Plex Sans" pitchFamily="34" charset="0"/>
                <a:ea typeface="IBM Plex Sans" pitchFamily="34" charset="-122"/>
                <a:cs typeface="IBM Plex Sans" pitchFamily="34" charset="-120"/>
              </a:rPr>
              <a:t>main</a:t>
            </a:r>
            <a:r>
              <a:rPr lang="en-US" sz="1400" dirty="0">
                <a:solidFill>
                  <a:srgbClr val="4A5266"/>
                </a:solidFill>
                <a:latin typeface="IBM Plex Sans" pitchFamily="34" charset="0"/>
                <a:ea typeface="IBM Plex Sans" pitchFamily="34" charset="-122"/>
                <a:cs typeface="IBM Plex Sans" pitchFamily="34" charset="-120"/>
              </a:rPr>
              <a:t> or </a:t>
            </a:r>
            <a:r>
              <a:rPr lang="en-US" sz="1400" b="1" dirty="0">
                <a:solidFill>
                  <a:srgbClr val="4A5266"/>
                </a:solidFill>
                <a:latin typeface="IBM Plex Sans" pitchFamily="34" charset="0"/>
                <a:ea typeface="IBM Plex Sans" pitchFamily="34" charset="-122"/>
                <a:cs typeface="IBM Plex Sans" pitchFamily="34" charset="-120"/>
              </a:rPr>
              <a:t>nav</a:t>
            </a:r>
            <a:endParaRPr lang="en-US" sz="1400" dirty="0"/>
          </a:p>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Google understands your page better</a:t>
            </a:r>
            <a:endParaRPr lang="en-US" sz="1400" dirty="0"/>
          </a:p>
        </p:txBody>
      </p:sp>
      <p:sp>
        <p:nvSpPr>
          <p:cNvPr id="19" name="Text 1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p.12 · Section 4.3</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2070947" cy="289560"/>
          </a:xfrm>
          <a:custGeom>
            <a:avLst/>
            <a:gdLst/>
            <a:ahLst/>
            <a:cxnLst/>
            <a:rect l="l" t="t" r="r" b="b"/>
            <a:pathLst>
              <a:path w="2070947" h="289560">
                <a:moveTo>
                  <a:pt x="144780" y="0"/>
                </a:moveTo>
                <a:lnTo>
                  <a:pt x="1926167" y="0"/>
                </a:lnTo>
                <a:arcTo hR="144780" wR="144780" stAng="16200000" swAng="5400000"/>
                <a:lnTo>
                  <a:pt x="2070947"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 · CHUNK 1</a:t>
            </a:r>
            <a:endParaRPr lang="en-US" sz="1200" dirty="0"/>
          </a:p>
        </p:txBody>
      </p:sp>
      <p:sp>
        <p:nvSpPr>
          <p:cNvPr id="3" name="Text 1"/>
          <p:cNvSpPr/>
          <p:nvPr/>
        </p:nvSpPr>
        <p:spPr>
          <a:xfrm>
            <a:off x="3010747" y="850900"/>
            <a:ext cx="249974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10:32 AM · 8 min · index.html</a:t>
            </a:r>
            <a:endParaRPr lang="en-US" sz="1200" dirty="0"/>
          </a:p>
        </p:txBody>
      </p:sp>
      <p:sp>
        <p:nvSpPr>
          <p:cNvPr id="4" name="Text 2"/>
          <p:cNvSpPr/>
          <p:nvPr>
            <p:ph type="title"/>
          </p:nvPr>
        </p:nvSpPr>
        <p:spPr>
          <a:xfrm>
            <a:off x="812800" y="13055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1EA"/>
                </a:solidFill>
                <a:latin typeface="Space Grotesk" pitchFamily="34" charset="0"/>
                <a:ea typeface="Space Grotesk" pitchFamily="34" charset="-122"/>
                <a:cs typeface="Space Grotesk" pitchFamily="34" charset="-120"/>
              </a:rPr>
              <a:t>Build the page frame: header, nav, main, footer</a:t>
            </a:r>
            <a:endParaRPr lang="en-US" sz="2800" dirty="0"/>
          </a:p>
        </p:txBody>
      </p:sp>
      <p:sp>
        <p:nvSpPr>
          <p:cNvPr id="5" name="Text 3"/>
          <p:cNvSpPr/>
          <p:nvPr/>
        </p:nvSpPr>
        <p:spPr>
          <a:xfrm>
            <a:off x="815975" y="1903090"/>
            <a:ext cx="6953250" cy="3864081"/>
          </a:xfrm>
          <a:prstGeom prst="roundRect">
            <a:avLst>
              <a:gd name="adj" fmla="val 2547"/>
            </a:avLst>
          </a:prstGeom>
          <a:solidFill>
            <a:srgbClr val="0D1220"/>
          </a:solidFill>
          <a:ln w="6350">
            <a:solidFill>
              <a:srgbClr val="2A3550"/>
            </a:solidFill>
            <a:prstDash val="solid"/>
          </a:ln>
        </p:spPr>
        <p:txBody>
          <a:bodyPr wrap="square" lIns="202206" tIns="176806" rIns="7471" bIns="151406" rtlCol="0" anchor="t">
            <a:normAutofit/>
          </a:bodyPr>
          <a:lstStyle/>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&lt;body&gt;</a:t>
            </a:r>
            <a:endParaRPr lang="en-US" sz="1250" dirty="0"/>
          </a:p>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  &lt;header&gt;</a:t>
            </a:r>
            <a:endParaRPr lang="en-US" sz="1250" dirty="0"/>
          </a:p>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    &lt;h1&gt;</a:t>
            </a:r>
            <a:r>
              <a:rPr lang="en-US" sz="1250" dirty="0">
                <a:solidFill>
                  <a:srgbClr val="F2994A"/>
                </a:solidFill>
                <a:latin typeface="JetBrains Mono" pitchFamily="49" charset="0"/>
                <a:ea typeface="JetBrains Mono" pitchFamily="49" charset="-122"/>
                <a:cs typeface="JetBrains Mono" pitchFamily="49" charset="-120"/>
              </a:rPr>
              <a:t>Asha R</a:t>
            </a:r>
            <a:r>
              <a:rPr lang="en-US" sz="1250" dirty="0">
                <a:solidFill>
                  <a:srgbClr val="E3E8F1"/>
                </a:solidFill>
                <a:latin typeface="JetBrains Mono" pitchFamily="49" charset="0"/>
                <a:ea typeface="JetBrains Mono" pitchFamily="49" charset="-122"/>
                <a:cs typeface="JetBrains Mono" pitchFamily="49" charset="-120"/>
              </a:rPr>
              <a:t>&lt;/h1&gt;</a:t>
            </a:r>
            <a:endParaRPr lang="en-US" sz="1250" dirty="0"/>
          </a:p>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    &lt;nav&gt;</a:t>
            </a:r>
            <a:endParaRPr lang="en-US" sz="1250" dirty="0"/>
          </a:p>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      &lt;a href="</a:t>
            </a:r>
            <a:r>
              <a:rPr lang="en-US" sz="1250" dirty="0">
                <a:solidFill>
                  <a:srgbClr val="7FD1A1"/>
                </a:solidFill>
                <a:latin typeface="JetBrains Mono" pitchFamily="49" charset="0"/>
                <a:ea typeface="JetBrains Mono" pitchFamily="49" charset="-122"/>
                <a:cs typeface="JetBrains Mono" pitchFamily="49" charset="-120"/>
              </a:rPr>
              <a:t>#about</a:t>
            </a:r>
            <a:r>
              <a:rPr lang="en-US" sz="1250" dirty="0">
                <a:solidFill>
                  <a:srgbClr val="E3E8F1"/>
                </a:solidFill>
                <a:latin typeface="JetBrains Mono" pitchFamily="49" charset="0"/>
                <a:ea typeface="JetBrains Mono" pitchFamily="49" charset="-122"/>
                <a:cs typeface="JetBrains Mono" pitchFamily="49" charset="-120"/>
              </a:rPr>
              <a:t>"&gt;About&lt;/a&gt;</a:t>
            </a:r>
            <a:endParaRPr lang="en-US" sz="1250" dirty="0"/>
          </a:p>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      &lt;a href="</a:t>
            </a:r>
            <a:r>
              <a:rPr lang="en-US" sz="1250" dirty="0">
                <a:solidFill>
                  <a:srgbClr val="7FD1A1"/>
                </a:solidFill>
                <a:latin typeface="JetBrains Mono" pitchFamily="49" charset="0"/>
                <a:ea typeface="JetBrains Mono" pitchFamily="49" charset="-122"/>
                <a:cs typeface="JetBrains Mono" pitchFamily="49" charset="-120"/>
              </a:rPr>
              <a:t>#skills</a:t>
            </a:r>
            <a:r>
              <a:rPr lang="en-US" sz="1250" dirty="0">
                <a:solidFill>
                  <a:srgbClr val="E3E8F1"/>
                </a:solidFill>
                <a:latin typeface="JetBrains Mono" pitchFamily="49" charset="0"/>
                <a:ea typeface="JetBrains Mono" pitchFamily="49" charset="-122"/>
                <a:cs typeface="JetBrains Mono" pitchFamily="49" charset="-120"/>
              </a:rPr>
              <a:t>"&gt;Skills&lt;/a&gt;</a:t>
            </a:r>
            <a:endParaRPr lang="en-US" sz="1250" dirty="0"/>
          </a:p>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      &lt;a href="</a:t>
            </a:r>
            <a:r>
              <a:rPr lang="en-US" sz="1250" dirty="0">
                <a:solidFill>
                  <a:srgbClr val="7FD1A1"/>
                </a:solidFill>
                <a:latin typeface="JetBrains Mono" pitchFamily="49" charset="0"/>
                <a:ea typeface="JetBrains Mono" pitchFamily="49" charset="-122"/>
                <a:cs typeface="JetBrains Mono" pitchFamily="49" charset="-120"/>
              </a:rPr>
              <a:t>#projects</a:t>
            </a:r>
            <a:r>
              <a:rPr lang="en-US" sz="1250" dirty="0">
                <a:solidFill>
                  <a:srgbClr val="E3E8F1"/>
                </a:solidFill>
                <a:latin typeface="JetBrains Mono" pitchFamily="49" charset="0"/>
                <a:ea typeface="JetBrains Mono" pitchFamily="49" charset="-122"/>
                <a:cs typeface="JetBrains Mono" pitchFamily="49" charset="-120"/>
              </a:rPr>
              <a:t>"&gt;Projects&lt;/a&gt;</a:t>
            </a:r>
            <a:endParaRPr lang="en-US" sz="1250" dirty="0"/>
          </a:p>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      &lt;a href="</a:t>
            </a:r>
            <a:r>
              <a:rPr lang="en-US" sz="1250" dirty="0">
                <a:solidFill>
                  <a:srgbClr val="7FD1A1"/>
                </a:solidFill>
                <a:latin typeface="JetBrains Mono" pitchFamily="49" charset="0"/>
                <a:ea typeface="JetBrains Mono" pitchFamily="49" charset="-122"/>
                <a:cs typeface="JetBrains Mono" pitchFamily="49" charset="-120"/>
              </a:rPr>
              <a:t>#contact</a:t>
            </a:r>
            <a:r>
              <a:rPr lang="en-US" sz="1250" dirty="0">
                <a:solidFill>
                  <a:srgbClr val="E3E8F1"/>
                </a:solidFill>
                <a:latin typeface="JetBrains Mono" pitchFamily="49" charset="0"/>
                <a:ea typeface="JetBrains Mono" pitchFamily="49" charset="-122"/>
                <a:cs typeface="JetBrains Mono" pitchFamily="49" charset="-120"/>
              </a:rPr>
              <a:t>"&gt;Contact&lt;/a&gt;</a:t>
            </a:r>
            <a:endParaRPr lang="en-US" sz="1250" dirty="0"/>
          </a:p>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    &lt;/nav&gt;</a:t>
            </a:r>
            <a:endParaRPr lang="en-US" sz="1250" dirty="0"/>
          </a:p>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  &lt;/header&gt;</a:t>
            </a:r>
            <a:endParaRPr lang="en-US" sz="1250" dirty="0"/>
          </a:p>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  &lt;main class="container"&gt;</a:t>
            </a:r>
            <a:endParaRPr lang="en-US" sz="1250" dirty="0"/>
          </a:p>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    </a:t>
            </a:r>
            <a:r>
              <a:rPr lang="en-US" sz="1250" dirty="0">
                <a:solidFill>
                  <a:srgbClr val="7F8BA3"/>
                </a:solidFill>
                <a:latin typeface="JetBrains Mono" pitchFamily="49" charset="0"/>
                <a:ea typeface="JetBrains Mono" pitchFamily="49" charset="-122"/>
                <a:cs typeface="JetBrains Mono" pitchFamily="49" charset="-120"/>
              </a:rPr>
              <a:t>&lt;!-- sections come here --&gt;</a:t>
            </a:r>
            <a:endParaRPr lang="en-US" sz="1250" dirty="0"/>
          </a:p>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  &lt;/main&gt;</a:t>
            </a:r>
            <a:endParaRPr lang="en-US" sz="1250" dirty="0"/>
          </a:p>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  &lt;footer&gt;© 2026 Asha R&lt;/footer&gt;</a:t>
            </a:r>
            <a:endParaRPr lang="en-US" sz="1250" dirty="0"/>
          </a:p>
          <a:p>
            <a:pPr algn="l" indent="0" marL="0">
              <a:lnSpc>
                <a:spcPts val="1813"/>
              </a:lnSpc>
              <a:buNone/>
            </a:pPr>
            <a:r>
              <a:rPr lang="en-US" sz="1250" dirty="0">
                <a:solidFill>
                  <a:srgbClr val="E3E8F1"/>
                </a:solidFill>
                <a:latin typeface="JetBrains Mono" pitchFamily="49" charset="0"/>
                <a:ea typeface="JetBrains Mono" pitchFamily="49" charset="-122"/>
                <a:cs typeface="JetBrains Mono" pitchFamily="49" charset="-120"/>
              </a:rPr>
              <a:t>&lt;/body&gt;</a:t>
            </a:r>
            <a:endParaRPr lang="en-US" sz="1250" dirty="0"/>
          </a:p>
        </p:txBody>
      </p:sp>
      <p:sp>
        <p:nvSpPr>
          <p:cNvPr id="6" name="Text 4"/>
          <p:cNvSpPr/>
          <p:nvPr/>
        </p:nvSpPr>
        <p:spPr>
          <a:xfrm>
            <a:off x="8077200" y="1899915"/>
            <a:ext cx="3401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4F0"/>
                </a:solidFill>
                <a:latin typeface="IBM Plex Sans" pitchFamily="34" charset="0"/>
                <a:ea typeface="IBM Plex Sans" pitchFamily="34" charset="-122"/>
                <a:cs typeface="IBM Plex Sans" pitchFamily="34" charset="-120"/>
              </a:rPr>
              <a:t>WHAT’S NEW</a:t>
            </a:r>
            <a:endParaRPr lang="en-US" sz="1200" dirty="0"/>
          </a:p>
        </p:txBody>
      </p:sp>
      <p:sp>
        <p:nvSpPr>
          <p:cNvPr id="7" name="Text 5"/>
          <p:cNvSpPr/>
          <p:nvPr/>
        </p:nvSpPr>
        <p:spPr>
          <a:xfrm>
            <a:off x="8077200" y="2240285"/>
            <a:ext cx="340106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3E8F1"/>
                </a:solidFill>
                <a:latin typeface="IBM Plex Sans" pitchFamily="34" charset="0"/>
                <a:ea typeface="IBM Plex Sans" pitchFamily="34" charset="-122"/>
                <a:cs typeface="IBM Plex Sans" pitchFamily="34" charset="-120"/>
              </a:rPr>
              <a:t>href="#about"</a:t>
            </a:r>
            <a:r>
              <a:rPr lang="en-US" sz="1400" dirty="0">
                <a:solidFill>
                  <a:srgbClr val="E3E8F1"/>
                </a:solidFill>
                <a:latin typeface="IBM Plex Sans" pitchFamily="34" charset="0"/>
                <a:ea typeface="IBM Plex Sans" pitchFamily="34" charset="-122"/>
                <a:cs typeface="IBM Plex Sans" pitchFamily="34" charset="-120"/>
              </a:rPr>
              <a:t> jumps to the element with </a:t>
            </a:r>
            <a:r>
              <a:rPr lang="en-US" sz="1400" b="1" dirty="0">
                <a:solidFill>
                  <a:srgbClr val="E3E8F1"/>
                </a:solidFill>
                <a:latin typeface="IBM Plex Sans" pitchFamily="34" charset="0"/>
                <a:ea typeface="IBM Plex Sans" pitchFamily="34" charset="-122"/>
                <a:cs typeface="IBM Plex Sans" pitchFamily="34" charset="-120"/>
              </a:rPr>
              <a:t>id="about"</a:t>
            </a:r>
            <a:r>
              <a:rPr lang="en-US" sz="1400" dirty="0">
                <a:solidFill>
                  <a:srgbClr val="E3E8F1"/>
                </a:solidFill>
                <a:latin typeface="IBM Plex Sans" pitchFamily="34" charset="0"/>
                <a:ea typeface="IBM Plex Sans" pitchFamily="34" charset="-122"/>
                <a:cs typeface="IBM Plex Sans" pitchFamily="34" charset="-120"/>
              </a:rPr>
              <a:t> on the same page</a:t>
            </a:r>
            <a:endParaRPr lang="en-US" sz="1400" dirty="0"/>
          </a:p>
        </p:txBody>
      </p:sp>
      <p:sp>
        <p:nvSpPr>
          <p:cNvPr id="8" name="Text 6"/>
          <p:cNvSpPr/>
          <p:nvPr/>
        </p:nvSpPr>
        <p:spPr>
          <a:xfrm>
            <a:off x="8077200" y="2865115"/>
            <a:ext cx="340106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3E8F1"/>
                </a:solidFill>
                <a:latin typeface="IBM Plex Sans" pitchFamily="34" charset="0"/>
                <a:ea typeface="IBM Plex Sans" pitchFamily="34" charset="-122"/>
                <a:cs typeface="IBM Plex Sans" pitchFamily="34" charset="-120"/>
              </a:rPr>
              <a:t>class="container"</a:t>
            </a:r>
            <a:r>
              <a:rPr lang="en-US" sz="1400" dirty="0">
                <a:solidFill>
                  <a:srgbClr val="E3E8F1"/>
                </a:solidFill>
                <a:latin typeface="IBM Plex Sans" pitchFamily="34" charset="0"/>
                <a:ea typeface="IBM Plex Sans" pitchFamily="34" charset="-122"/>
                <a:cs typeface="IBM Plex Sans" pitchFamily="34" charset="-120"/>
              </a:rPr>
              <a:t> is a label we’ll style with CSS later</a:t>
            </a:r>
            <a:endParaRPr lang="en-US" sz="1400" dirty="0"/>
          </a:p>
        </p:txBody>
      </p:sp>
      <p:sp>
        <p:nvSpPr>
          <p:cNvPr id="9" name="Text 7"/>
          <p:cNvSpPr/>
          <p:nvPr/>
        </p:nvSpPr>
        <p:spPr>
          <a:xfrm>
            <a:off x="8077200" y="3489958"/>
            <a:ext cx="34010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3E8F1"/>
                </a:solidFill>
                <a:latin typeface="IBM Plex Sans" pitchFamily="34" charset="0"/>
                <a:ea typeface="IBM Plex Sans" pitchFamily="34" charset="-122"/>
                <a:cs typeface="IBM Plex Sans" pitchFamily="34" charset="-120"/>
              </a:rPr>
              <a:t>Replace “Asha R” with </a:t>
            </a:r>
            <a:r>
              <a:rPr lang="en-US" sz="1400" b="1" dirty="0">
                <a:solidFill>
                  <a:srgbClr val="E3E8F1"/>
                </a:solidFill>
                <a:latin typeface="IBM Plex Sans" pitchFamily="34" charset="0"/>
                <a:ea typeface="IBM Plex Sans" pitchFamily="34" charset="-122"/>
                <a:cs typeface="IBM Plex Sans" pitchFamily="34" charset="-120"/>
              </a:rPr>
              <a:t>your name</a:t>
            </a:r>
            <a:endParaRPr lang="en-US" sz="1400" dirty="0"/>
          </a:p>
        </p:txBody>
      </p:sp>
      <p:sp>
        <p:nvSpPr>
          <p:cNvPr id="10" name="Text 8"/>
          <p:cNvSpPr/>
          <p:nvPr/>
        </p:nvSpPr>
        <p:spPr>
          <a:xfrm>
            <a:off x="8077200" y="3865885"/>
            <a:ext cx="3302000" cy="434340"/>
          </a:xfrm>
          <a:prstGeom prst="roundRect">
            <a:avLst>
              <a:gd name="adj" fmla="val 17544"/>
            </a:avLst>
          </a:prstGeom>
          <a:solidFill>
            <a:srgbClr val="F2994A"/>
          </a:solidFill>
          <a:ln/>
        </p:spPr>
        <p:txBody>
          <a:bodyPr wrap="square" lIns="130082" tIns="79282" rIns="40166" bIns="53882"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Save → the browser refreshes by itself</a:t>
            </a:r>
            <a:endParaRPr lang="en-US" sz="1300" dirty="0"/>
          </a:p>
        </p:txBody>
      </p:sp>
      <p:sp>
        <p:nvSpPr>
          <p:cNvPr id="11" name="Text 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Emmet tip: type nav&gt;a*4 then Tab</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05817"/>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43917"/>
            <a:ext cx="307733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10:40 AM · Common HTML elements</a:t>
            </a:r>
            <a:endParaRPr lang="en-US" sz="1200" dirty="0"/>
          </a:p>
        </p:txBody>
      </p:sp>
      <p:sp>
        <p:nvSpPr>
          <p:cNvPr id="4" name="Text 2"/>
          <p:cNvSpPr/>
          <p:nvPr>
            <p:ph type="title"/>
          </p:nvPr>
        </p:nvSpPr>
        <p:spPr>
          <a:xfrm>
            <a:off x="812800" y="1291592"/>
            <a:ext cx="10883392" cy="424180"/>
          </a:xfrm>
          <a:prstGeom prst="rect">
            <a:avLst/>
          </a:prstGeom>
          <a:noFill/>
          <a:ln/>
        </p:spPr>
        <p:txBody>
          <a:bodyPr wrap="square" lIns="0" tIns="0" rIns="0" bIns="0" rtlCol="0" anchor="t">
            <a:normAutofit/>
          </a:bodyPr>
          <a:lstStyle/>
          <a:p>
            <a:pPr algn="l" indent="0" marL="0">
              <a:lnSpc>
                <a:spcPts val="3166"/>
              </a:lnSpc>
              <a:buNone/>
            </a:pPr>
            <a:r>
              <a:rPr lang="en-US" sz="2878" b="1" i="0" dirty="0">
                <a:solidFill>
                  <a:srgbClr val="1A2236"/>
                </a:solidFill>
                <a:latin typeface="Space Grotesk" pitchFamily="34" charset="0"/>
                <a:ea typeface="Space Grotesk" pitchFamily="34" charset="-122"/>
                <a:cs typeface="Space Grotesk" pitchFamily="34" charset="-120"/>
              </a:rPr>
              <a:t>Eight tags build most web pages</a:t>
            </a:r>
            <a:endParaRPr lang="en-US" sz="2878"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018" y="1904783"/>
          <a:ext cx="10555182" cy="3293957"/>
        </p:xfrm>
        <a:graphic>
          <a:graphicData uri="http://schemas.openxmlformats.org/drawingml/2006/table">
            <a:tbl>
              <a:tblPr/>
              <a:tblGrid>
                <a:gridCol w="2533244"/>
                <a:gridCol w="2744347"/>
                <a:gridCol w="5277591"/>
              </a:tblGrid>
              <a:tr h="366078">
                <a:tc>
                  <a:txBody>
                    <a:bodyPr/>
                    <a:lstStyle/>
                    <a:p>
                      <a:pPr indent="0" marL="0">
                        <a:lnSpc>
                          <a:spcPts val="1862"/>
                        </a:lnSpc>
                        <a:buNone/>
                      </a:pPr>
                      <a:r>
                        <a:rPr lang="en-US" sz="1330" b="1" dirty="0">
                          <a:solidFill>
                            <a:srgbClr val="1A2236"/>
                          </a:solidFill>
                          <a:latin typeface="IBM Plex Sans" pitchFamily="34" charset="0"/>
                          <a:ea typeface="IBM Plex Sans" pitchFamily="34" charset="-122"/>
                          <a:cs typeface="IBM Plex Sans" pitchFamily="34" charset="-120"/>
                        </a:rPr>
                        <a:t>Element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62"/>
                        </a:lnSpc>
                        <a:buNone/>
                      </a:pPr>
                      <a:r>
                        <a:rPr lang="en-US" sz="1330" b="1" dirty="0">
                          <a:solidFill>
                            <a:srgbClr val="1A2236"/>
                          </a:solidFill>
                          <a:latin typeface="IBM Plex Sans" pitchFamily="34" charset="0"/>
                          <a:ea typeface="IBM Plex Sans" pitchFamily="34" charset="-122"/>
                          <a:cs typeface="IBM Plex Sans" pitchFamily="34" charset="-120"/>
                        </a:rPr>
                        <a:t>Purpose</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62"/>
                        </a:lnSpc>
                        <a:buNone/>
                      </a:pPr>
                      <a:r>
                        <a:rPr lang="en-US" sz="1330" b="1" dirty="0">
                          <a:solidFill>
                            <a:srgbClr val="1A2236"/>
                          </a:solidFill>
                          <a:latin typeface="IBM Plex Sans" pitchFamily="34" charset="0"/>
                          <a:ea typeface="IBM Plex Sans" pitchFamily="34" charset="-122"/>
                          <a:cs typeface="IBM Plex Sans" pitchFamily="34" charset="-120"/>
                        </a:rPr>
                        <a:t>Example</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66077">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&lt;h1&gt; … &lt;h6&gt;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Headings</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&lt;h1&gt;Full Stack Development&lt;/h1&gt;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65972">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&lt;p&gt;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Paragraph</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&lt;p&gt;Welcome to the course.&lt;/p&gt;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65972">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&lt;a&gt;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Link</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&lt;a href="about.html"&gt;About&lt;/a&gt;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65972">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&lt;img&gt;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Image</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&lt;img src="me.jpg" alt="Photo of Asha"&gt;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65972">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&lt;ul&gt; &lt;ol&gt; &lt;li&gt;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Lists</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&lt;ul&gt;&lt;li&gt;HTML&lt;/li&gt;&lt;/ul&gt;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65972">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&lt;table&gt;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Tabular data</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&lt;tr&gt;&lt;th&gt;Skill&lt;/th&gt;&lt;/tr&gt;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65972">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&lt;form&gt;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User input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&lt;input type="email" required&gt;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65972">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&lt;div&gt; &lt;span&gt;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Generic boxes</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62"/>
                        </a:lnSpc>
                        <a:buNone/>
                      </a:pPr>
                      <a:r>
                        <a:rPr lang="en-US" sz="1330" dirty="0">
                          <a:solidFill>
                            <a:srgbClr val="1A2236"/>
                          </a:solidFill>
                          <a:latin typeface="IBM Plex Sans" pitchFamily="34" charset="0"/>
                          <a:ea typeface="IBM Plex Sans" pitchFamily="34" charset="-122"/>
                          <a:cs typeface="IBM Plex Sans" pitchFamily="34" charset="-120"/>
                        </a:rPr>
                        <a:t>&lt;div class="card"&gt;…&lt;/div&gt;</a:t>
                      </a:r>
                      <a:endParaRPr lang="en-US" sz="1330" dirty="0">
                        <a:latin typeface="IBM Plex Sans" charset="0"/>
                        <a:ea typeface="IBM Plex Sans" charset="0"/>
                        <a:cs typeface="IBM Plex Sans" charset="0"/>
                      </a:endParaRPr>
                    </a:p>
                  </a:txBody>
                  <a:tcPr marL="59118" marR="59118" marT="59118" marB="59118"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6" name="Text 3"/>
          <p:cNvSpPr/>
          <p:nvPr/>
        </p:nvSpPr>
        <p:spPr>
          <a:xfrm>
            <a:off x="812800" y="5401940"/>
            <a:ext cx="10566400" cy="440055"/>
          </a:xfrm>
          <a:prstGeom prst="roundRect">
            <a:avLst>
              <a:gd name="adj" fmla="val 17316"/>
            </a:avLst>
          </a:prstGeom>
          <a:solidFill>
            <a:srgbClr val="FCEFD9"/>
          </a:solidFill>
          <a:ln/>
        </p:spPr>
        <p:txBody>
          <a:bodyPr wrap="square" lIns="130082" tIns="79282" rIns="0" bIns="53882" rtlCol="0" anchor="t">
            <a:normAutofit/>
          </a:bodyPr>
          <a:lstStyle/>
          <a:p>
            <a:pPr algn="l" indent="0" marL="0">
              <a:lnSpc>
                <a:spcPts val="1868"/>
              </a:lnSpc>
              <a:buNone/>
            </a:pPr>
            <a:r>
              <a:rPr lang="en-US" sz="1334" b="1" dirty="0">
                <a:solidFill>
                  <a:srgbClr val="1A2236"/>
                </a:solidFill>
                <a:latin typeface="IBM Plex Sans" pitchFamily="34" charset="0"/>
                <a:ea typeface="IBM Plex Sans" pitchFamily="34" charset="-122"/>
                <a:cs typeface="IBM Plex Sans" pitchFamily="34" charset="-120"/>
              </a:rPr>
              <a:t>id</a:t>
            </a:r>
            <a:r>
              <a:rPr lang="en-US" sz="1334" dirty="0">
                <a:solidFill>
                  <a:srgbClr val="1A2236"/>
                </a:solidFill>
                <a:latin typeface="IBM Plex Sans" pitchFamily="34" charset="0"/>
                <a:ea typeface="IBM Plex Sans" pitchFamily="34" charset="-122"/>
                <a:cs typeface="IBM Plex Sans" pitchFamily="34" charset="-120"/>
              </a:rPr>
              <a:t> = unique, one element only (#about). </a:t>
            </a:r>
            <a:r>
              <a:rPr lang="en-US" sz="1334" b="1" dirty="0">
                <a:solidFill>
                  <a:srgbClr val="1A2236"/>
                </a:solidFill>
                <a:latin typeface="IBM Plex Sans" pitchFamily="34" charset="0"/>
                <a:ea typeface="IBM Plex Sans" pitchFamily="34" charset="-122"/>
                <a:cs typeface="IBM Plex Sans" pitchFamily="34" charset="-120"/>
              </a:rPr>
              <a:t>class</a:t>
            </a:r>
            <a:r>
              <a:rPr lang="en-US" sz="1334" dirty="0">
                <a:solidFill>
                  <a:srgbClr val="1A2236"/>
                </a:solidFill>
                <a:latin typeface="IBM Plex Sans" pitchFamily="34" charset="0"/>
                <a:ea typeface="IBM Plex Sans" pitchFamily="34" charset="-122"/>
                <a:cs typeface="IBM Plex Sans" pitchFamily="34" charset="-120"/>
              </a:rPr>
              <a:t> = reusable label, many elements (.card).</a:t>
            </a:r>
            <a:endParaRPr lang="en-US" sz="1334" dirty="0"/>
          </a:p>
        </p:txBody>
      </p:sp>
      <p:sp>
        <p:nvSpPr>
          <p:cNvPr id="7" name="Text 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p.12 · Section 4.2 · Viva Q4: id vs class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2070947" cy="289560"/>
          </a:xfrm>
          <a:custGeom>
            <a:avLst/>
            <a:gdLst/>
            <a:ahLst/>
            <a:cxnLst/>
            <a:rect l="l" t="t" r="r" b="b"/>
            <a:pathLst>
              <a:path w="2070947" h="289560">
                <a:moveTo>
                  <a:pt x="144780" y="0"/>
                </a:moveTo>
                <a:lnTo>
                  <a:pt x="1926167" y="0"/>
                </a:lnTo>
                <a:arcTo hR="144780" wR="144780" stAng="16200000" swAng="5400000"/>
                <a:lnTo>
                  <a:pt x="2070947"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 · CHUNK 2</a:t>
            </a:r>
            <a:endParaRPr lang="en-US" sz="1200" dirty="0"/>
          </a:p>
        </p:txBody>
      </p:sp>
      <p:sp>
        <p:nvSpPr>
          <p:cNvPr id="3" name="Text 1"/>
          <p:cNvSpPr/>
          <p:nvPr/>
        </p:nvSpPr>
        <p:spPr>
          <a:xfrm>
            <a:off x="3010747" y="850900"/>
            <a:ext cx="289267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10:43 AM · 10 min · inside &lt;main&gt;</a:t>
            </a:r>
            <a:endParaRPr lang="en-US" sz="1200" dirty="0"/>
          </a:p>
        </p:txBody>
      </p:sp>
      <p:sp>
        <p:nvSpPr>
          <p:cNvPr id="4" name="Text 2"/>
          <p:cNvSpPr/>
          <p:nvPr>
            <p:ph type="title"/>
          </p:nvPr>
        </p:nvSpPr>
        <p:spPr>
          <a:xfrm>
            <a:off x="812800" y="13055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1EA"/>
                </a:solidFill>
                <a:latin typeface="Space Grotesk" pitchFamily="34" charset="0"/>
                <a:ea typeface="Space Grotesk" pitchFamily="34" charset="-122"/>
                <a:cs typeface="Space Grotesk" pitchFamily="34" charset="-120"/>
              </a:rPr>
              <a:t>Add an About section and a Skills table</a:t>
            </a:r>
            <a:endParaRPr lang="en-US" sz="2800" dirty="0"/>
          </a:p>
        </p:txBody>
      </p:sp>
      <p:sp>
        <p:nvSpPr>
          <p:cNvPr id="5" name="Shape 3"/>
          <p:cNvSpPr/>
          <p:nvPr/>
        </p:nvSpPr>
        <p:spPr>
          <a:xfrm>
            <a:off x="815975" y="1903090"/>
            <a:ext cx="5175250" cy="3131608"/>
          </a:xfrm>
          <a:prstGeom prst="roundRect">
            <a:avLst>
              <a:gd name="adj" fmla="val 3143"/>
            </a:avLst>
          </a:prstGeom>
          <a:solidFill>
            <a:srgbClr val="0D1220"/>
          </a:solidFill>
          <a:ln w="6350">
            <a:solidFill>
              <a:srgbClr val="2A3550"/>
            </a:solidFill>
            <a:prstDash val="solid"/>
          </a:ln>
        </p:spPr>
      </p:sp>
      <p:sp>
        <p:nvSpPr>
          <p:cNvPr id="6" name="Text 4"/>
          <p:cNvSpPr/>
          <p:nvPr/>
        </p:nvSpPr>
        <p:spPr>
          <a:xfrm>
            <a:off x="1021609" y="2108733"/>
            <a:ext cx="490690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BA3"/>
                </a:solidFill>
                <a:latin typeface="IBM Plex Sans" pitchFamily="34" charset="0"/>
                <a:ea typeface="IBM Plex Sans" pitchFamily="34" charset="-122"/>
                <a:cs typeface="IBM Plex Sans" pitchFamily="34" charset="-120"/>
              </a:rPr>
              <a:t>ABOUT · image + paragraph + list</a:t>
            </a:r>
            <a:endParaRPr lang="en-US" sz="1200" dirty="0"/>
          </a:p>
        </p:txBody>
      </p:sp>
      <p:sp>
        <p:nvSpPr>
          <p:cNvPr id="7" name="Text 5"/>
          <p:cNvSpPr/>
          <p:nvPr/>
        </p:nvSpPr>
        <p:spPr>
          <a:xfrm>
            <a:off x="1021609" y="2398291"/>
            <a:ext cx="4906901" cy="24561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&lt;section id="</a:t>
            </a:r>
            <a:r>
              <a:rPr lang="en-US" sz="1200" dirty="0">
                <a:solidFill>
                  <a:srgbClr val="7FD1A1"/>
                </a:solidFill>
                <a:latin typeface="JetBrains Mono" pitchFamily="49" charset="0"/>
                <a:ea typeface="JetBrains Mono" pitchFamily="49" charset="-122"/>
                <a:cs typeface="JetBrains Mono" pitchFamily="49" charset="-120"/>
              </a:rPr>
              <a:t>about</a:t>
            </a:r>
            <a:r>
              <a:rPr lang="en-US" sz="1200" dirty="0">
                <a:solidFill>
                  <a:srgbClr val="E3E8F1"/>
                </a:solidFill>
                <a:latin typeface="JetBrains Mono" pitchFamily="49" charset="0"/>
                <a:ea typeface="JetBrains Mono" pitchFamily="49" charset="-122"/>
                <a:cs typeface="JetBrains Mono" pitchFamily="49" charset="-120"/>
              </a:rPr>
              <a:t>"&gt;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&lt;h2&gt;About me&lt;/h2&gt;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&lt;img src="https://picsum.photos/200"</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alt="</a:t>
            </a:r>
            <a:r>
              <a:rPr lang="en-US" sz="1200" dirty="0">
                <a:solidFill>
                  <a:srgbClr val="F2994A"/>
                </a:solidFill>
                <a:latin typeface="JetBrains Mono" pitchFamily="49" charset="0"/>
                <a:ea typeface="JetBrains Mono" pitchFamily="49" charset="-122"/>
                <a:cs typeface="JetBrains Mono" pitchFamily="49" charset="-120"/>
              </a:rPr>
              <a:t>Photo of Asha</a:t>
            </a:r>
            <a:r>
              <a:rPr lang="en-US" sz="1200" dirty="0">
                <a:solidFill>
                  <a:srgbClr val="E3E8F1"/>
                </a:solidFill>
                <a:latin typeface="JetBrains Mono" pitchFamily="49" charset="0"/>
                <a:ea typeface="JetBrains Mono" pitchFamily="49" charset="-122"/>
                <a:cs typeface="JetBrains Mono" pitchFamily="49" charset="-120"/>
              </a:rPr>
              <a:t>"&gt;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&lt;p&gt;3rd sem CSE student at RVCE</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who loves building for the web.&lt;/p&gt;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&lt;ul&gt;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&lt;li&gt;Hobby: robotics&lt;/li&gt;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&lt;li&gt;Goal: full stack dev&lt;/li&gt;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&lt;/ul&gt;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&lt;/section&gt;</a:t>
            </a:r>
            <a:endParaRPr lang="en-US" sz="1200" dirty="0"/>
          </a:p>
        </p:txBody>
      </p:sp>
      <p:sp>
        <p:nvSpPr>
          <p:cNvPr id="8" name="Shape 6"/>
          <p:cNvSpPr/>
          <p:nvPr/>
        </p:nvSpPr>
        <p:spPr>
          <a:xfrm>
            <a:off x="6200775" y="1903090"/>
            <a:ext cx="5175250" cy="3131608"/>
          </a:xfrm>
          <a:prstGeom prst="roundRect">
            <a:avLst>
              <a:gd name="adj" fmla="val 3143"/>
            </a:avLst>
          </a:prstGeom>
          <a:solidFill>
            <a:srgbClr val="0D1220"/>
          </a:solidFill>
          <a:ln w="6350">
            <a:solidFill>
              <a:srgbClr val="2A3550"/>
            </a:solidFill>
            <a:prstDash val="solid"/>
          </a:ln>
        </p:spPr>
      </p:sp>
      <p:sp>
        <p:nvSpPr>
          <p:cNvPr id="9" name="Text 7"/>
          <p:cNvSpPr/>
          <p:nvPr/>
        </p:nvSpPr>
        <p:spPr>
          <a:xfrm>
            <a:off x="6406409" y="2108733"/>
            <a:ext cx="490690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BA3"/>
                </a:solidFill>
                <a:latin typeface="IBM Plex Sans" pitchFamily="34" charset="0"/>
                <a:ea typeface="IBM Plex Sans" pitchFamily="34" charset="-122"/>
                <a:cs typeface="IBM Plex Sans" pitchFamily="34" charset="-120"/>
              </a:rPr>
              <a:t>SKILLS · table</a:t>
            </a:r>
            <a:endParaRPr lang="en-US" sz="1200" dirty="0"/>
          </a:p>
        </p:txBody>
      </p:sp>
      <p:sp>
        <p:nvSpPr>
          <p:cNvPr id="10" name="Text 8"/>
          <p:cNvSpPr/>
          <p:nvPr/>
        </p:nvSpPr>
        <p:spPr>
          <a:xfrm>
            <a:off x="6406409" y="2398291"/>
            <a:ext cx="4906901" cy="17932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&lt;section id="</a:t>
            </a:r>
            <a:r>
              <a:rPr lang="en-US" sz="1200" dirty="0">
                <a:solidFill>
                  <a:srgbClr val="7FD1A1"/>
                </a:solidFill>
                <a:latin typeface="JetBrains Mono" pitchFamily="49" charset="0"/>
                <a:ea typeface="JetBrains Mono" pitchFamily="49" charset="-122"/>
                <a:cs typeface="JetBrains Mono" pitchFamily="49" charset="-120"/>
              </a:rPr>
              <a:t>skills</a:t>
            </a:r>
            <a:r>
              <a:rPr lang="en-US" sz="1200" dirty="0">
                <a:solidFill>
                  <a:srgbClr val="E3E8F1"/>
                </a:solidFill>
                <a:latin typeface="JetBrains Mono" pitchFamily="49" charset="0"/>
                <a:ea typeface="JetBrains Mono" pitchFamily="49" charset="-122"/>
                <a:cs typeface="JetBrains Mono" pitchFamily="49" charset="-120"/>
              </a:rPr>
              <a:t>"&gt;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&lt;h2&gt;Skills&lt;/h2&gt;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&lt;table&gt;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&lt;tr&gt;&lt;</a:t>
            </a:r>
            <a:r>
              <a:rPr lang="en-US" sz="1200" dirty="0">
                <a:solidFill>
                  <a:srgbClr val="8DB4F0"/>
                </a:solidFill>
                <a:latin typeface="JetBrains Mono" pitchFamily="49" charset="0"/>
                <a:ea typeface="JetBrains Mono" pitchFamily="49" charset="-122"/>
                <a:cs typeface="JetBrains Mono" pitchFamily="49" charset="-120"/>
              </a:rPr>
              <a:t>th</a:t>
            </a:r>
            <a:r>
              <a:rPr lang="en-US" sz="1200" dirty="0">
                <a:solidFill>
                  <a:srgbClr val="E3E8F1"/>
                </a:solidFill>
                <a:latin typeface="JetBrains Mono" pitchFamily="49" charset="0"/>
                <a:ea typeface="JetBrains Mono" pitchFamily="49" charset="-122"/>
                <a:cs typeface="JetBrains Mono" pitchFamily="49" charset="-120"/>
              </a:rPr>
              <a:t>&gt;Skill&lt;/th&gt;&lt;</a:t>
            </a:r>
            <a:r>
              <a:rPr lang="en-US" sz="1200" dirty="0">
                <a:solidFill>
                  <a:srgbClr val="8DB4F0"/>
                </a:solidFill>
                <a:latin typeface="JetBrains Mono" pitchFamily="49" charset="0"/>
                <a:ea typeface="JetBrains Mono" pitchFamily="49" charset="-122"/>
                <a:cs typeface="JetBrains Mono" pitchFamily="49" charset="-120"/>
              </a:rPr>
              <a:t>th</a:t>
            </a:r>
            <a:r>
              <a:rPr lang="en-US" sz="1200" dirty="0">
                <a:solidFill>
                  <a:srgbClr val="E3E8F1"/>
                </a:solidFill>
                <a:latin typeface="JetBrains Mono" pitchFamily="49" charset="0"/>
                <a:ea typeface="JetBrains Mono" pitchFamily="49" charset="-122"/>
                <a:cs typeface="JetBrains Mono" pitchFamily="49" charset="-120"/>
              </a:rPr>
              <a:t>&gt;Level&lt;/th&gt;&lt;/tr&gt;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&lt;tr&gt;&lt;td&gt;HTML&lt;/td&gt;&lt;td&gt;Beginner&lt;/td&gt;&lt;/tr&gt;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&lt;tr&gt;&lt;td&gt;C&lt;/td&gt;&lt;td&gt;Good&lt;/td&gt;&lt;/tr&gt;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&lt;/table&gt;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&lt;/section&gt;</a:t>
            </a:r>
            <a:endParaRPr lang="en-US" sz="1200" dirty="0"/>
          </a:p>
        </p:txBody>
      </p:sp>
      <p:sp>
        <p:nvSpPr>
          <p:cNvPr id="11" name="Text 9"/>
          <p:cNvSpPr/>
          <p:nvPr/>
        </p:nvSpPr>
        <p:spPr>
          <a:xfrm>
            <a:off x="6406409" y="4242333"/>
            <a:ext cx="49069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2D3"/>
                </a:solidFill>
                <a:latin typeface="IBM Plex Sans" pitchFamily="34" charset="0"/>
                <a:ea typeface="IBM Plex Sans" pitchFamily="34" charset="-122"/>
                <a:cs typeface="IBM Plex Sans" pitchFamily="34" charset="-120"/>
              </a:rPr>
              <a:t>th = header cell · td = data cell · tr = row</a:t>
            </a:r>
            <a:endParaRPr lang="en-US" sz="1200" dirty="0"/>
          </a:p>
        </p:txBody>
      </p:sp>
      <p:sp>
        <p:nvSpPr>
          <p:cNvPr id="12" name="Text 1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Test: click “About” and “Skills” in your nav. The page should jump.</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149174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10:53 AM · Forms</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Forms collect input; labels make them usable</a:t>
            </a:r>
            <a:endParaRPr lang="en-US" sz="3000" dirty="0"/>
          </a:p>
        </p:txBody>
      </p:sp>
      <p:sp>
        <p:nvSpPr>
          <p:cNvPr id="5" name="Text 3"/>
          <p:cNvSpPr/>
          <p:nvPr/>
        </p:nvSpPr>
        <p:spPr>
          <a:xfrm>
            <a:off x="812800" y="1927858"/>
            <a:ext cx="5486400" cy="1149350"/>
          </a:xfrm>
          <a:prstGeom prst="roundRect">
            <a:avLst>
              <a:gd name="adj" fmla="val 8840"/>
            </a:avLst>
          </a:prstGeom>
          <a:solidFill>
            <a:srgbClr val="0D1220"/>
          </a:solidFill>
          <a:ln/>
        </p:spPr>
        <p:txBody>
          <a:bodyPr wrap="square" lIns="173442" tIns="173442" rIns="21042" bIns="148042" rtlCol="0" anchor="t">
            <a:normAutofit/>
          </a:bodyPr>
          <a:lstStyle/>
          <a:p>
            <a:pPr algn="l" indent="0" marL="0">
              <a:lnSpc>
                <a:spcPts val="1950"/>
              </a:lnSpc>
              <a:buNone/>
            </a:pPr>
            <a:r>
              <a:rPr lang="en-US" sz="1300" dirty="0">
                <a:solidFill>
                  <a:srgbClr val="E3E8F1"/>
                </a:solidFill>
                <a:latin typeface="JetBrains Mono" pitchFamily="49" charset="0"/>
                <a:ea typeface="JetBrains Mono" pitchFamily="49" charset="-122"/>
                <a:cs typeface="JetBrains Mono" pitchFamily="49" charset="-120"/>
              </a:rPr>
              <a:t>&lt;label for="</a:t>
            </a:r>
            <a:r>
              <a:rPr lang="en-US" sz="1300" dirty="0">
                <a:solidFill>
                  <a:srgbClr val="F2994A"/>
                </a:solidFill>
                <a:latin typeface="JetBrains Mono" pitchFamily="49" charset="0"/>
                <a:ea typeface="JetBrains Mono" pitchFamily="49" charset="-122"/>
                <a:cs typeface="JetBrains Mono" pitchFamily="49" charset="-120"/>
              </a:rPr>
              <a:t>email</a:t>
            </a:r>
            <a:r>
              <a:rPr lang="en-US" sz="1300" dirty="0">
                <a:solidFill>
                  <a:srgbClr val="E3E8F1"/>
                </a:solidFill>
                <a:latin typeface="JetBrains Mono" pitchFamily="49" charset="0"/>
                <a:ea typeface="JetBrains Mono" pitchFamily="49" charset="-122"/>
                <a:cs typeface="JetBrains Mono" pitchFamily="49" charset="-120"/>
              </a:rPr>
              <a:t>"&gt;Email&lt;/label&gt;</a:t>
            </a:r>
            <a:endParaRPr lang="en-US" sz="1300" dirty="0"/>
          </a:p>
          <a:p>
            <a:pPr algn="l" indent="0" marL="0">
              <a:lnSpc>
                <a:spcPts val="1950"/>
              </a:lnSpc>
              <a:buNone/>
            </a:pPr>
            <a:r>
              <a:rPr lang="en-US" sz="1300" dirty="0">
                <a:solidFill>
                  <a:srgbClr val="E3E8F1"/>
                </a:solidFill>
                <a:latin typeface="JetBrains Mono" pitchFamily="49" charset="0"/>
                <a:ea typeface="JetBrains Mono" pitchFamily="49" charset="-122"/>
                <a:cs typeface="JetBrains Mono" pitchFamily="49" charset="-120"/>
              </a:rPr>
              <a:t>&lt;input type="email"</a:t>
            </a:r>
            <a:endParaRPr lang="en-US" sz="1300" dirty="0"/>
          </a:p>
          <a:p>
            <a:pPr algn="l" indent="0" marL="0">
              <a:lnSpc>
                <a:spcPts val="1950"/>
              </a:lnSpc>
              <a:buNone/>
            </a:pPr>
            <a:r>
              <a:rPr lang="en-US" sz="1300" dirty="0">
                <a:solidFill>
                  <a:srgbClr val="E3E8F1"/>
                </a:solidFill>
                <a:latin typeface="JetBrains Mono" pitchFamily="49" charset="0"/>
                <a:ea typeface="JetBrains Mono" pitchFamily="49" charset="-122"/>
                <a:cs typeface="JetBrains Mono" pitchFamily="49" charset="-120"/>
              </a:rPr>
              <a:t>       id="</a:t>
            </a:r>
            <a:r>
              <a:rPr lang="en-US" sz="1300" dirty="0">
                <a:solidFill>
                  <a:srgbClr val="F2994A"/>
                </a:solidFill>
                <a:latin typeface="JetBrains Mono" pitchFamily="49" charset="0"/>
                <a:ea typeface="JetBrains Mono" pitchFamily="49" charset="-122"/>
                <a:cs typeface="JetBrains Mono" pitchFamily="49" charset="-120"/>
              </a:rPr>
              <a:t>email</a:t>
            </a:r>
            <a:r>
              <a:rPr lang="en-US" sz="1300" dirty="0">
                <a:solidFill>
                  <a:srgbClr val="E3E8F1"/>
                </a:solidFill>
                <a:latin typeface="JetBrains Mono" pitchFamily="49" charset="0"/>
                <a:ea typeface="JetBrains Mono" pitchFamily="49" charset="-122"/>
                <a:cs typeface="JetBrains Mono" pitchFamily="49" charset="-120"/>
              </a:rPr>
              <a:t>" required&gt;</a:t>
            </a:r>
            <a:endParaRPr lang="en-US" sz="1300" dirty="0"/>
          </a:p>
        </p:txBody>
      </p:sp>
      <p:sp>
        <p:nvSpPr>
          <p:cNvPr id="6" name="Text 4"/>
          <p:cNvSpPr/>
          <p:nvPr/>
        </p:nvSpPr>
        <p:spPr>
          <a:xfrm>
            <a:off x="812800" y="3229608"/>
            <a:ext cx="56509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The label’s </a:t>
            </a:r>
            <a:r>
              <a:rPr lang="en-US" sz="1400" b="1" dirty="0">
                <a:solidFill>
                  <a:srgbClr val="1A2236"/>
                </a:solidFill>
                <a:latin typeface="IBM Plex Sans" pitchFamily="34" charset="0"/>
                <a:ea typeface="IBM Plex Sans" pitchFamily="34" charset="-122"/>
                <a:cs typeface="IBM Plex Sans" pitchFamily="34" charset="-120"/>
              </a:rPr>
              <a:t>for</a:t>
            </a:r>
            <a:r>
              <a:rPr lang="en-US" sz="1400" dirty="0">
                <a:solidFill>
                  <a:srgbClr val="1A2236"/>
                </a:solidFill>
                <a:latin typeface="IBM Plex Sans" pitchFamily="34" charset="0"/>
                <a:ea typeface="IBM Plex Sans" pitchFamily="34" charset="-122"/>
                <a:cs typeface="IBM Plex Sans" pitchFamily="34" charset="-120"/>
              </a:rPr>
              <a:t> must equal the input’s </a:t>
            </a:r>
            <a:r>
              <a:rPr lang="en-US" sz="1400" b="1" dirty="0">
                <a:solidFill>
                  <a:srgbClr val="1A2236"/>
                </a:solidFill>
                <a:latin typeface="IBM Plex Sans" pitchFamily="34" charset="0"/>
                <a:ea typeface="IBM Plex Sans" pitchFamily="34" charset="-122"/>
                <a:cs typeface="IBM Plex Sans" pitchFamily="34" charset="-120"/>
              </a:rPr>
              <a:t>id</a:t>
            </a:r>
            <a:r>
              <a:rPr lang="en-US" sz="1400" dirty="0">
                <a:solidFill>
                  <a:srgbClr val="1A2236"/>
                </a:solidFill>
                <a:latin typeface="IBM Plex Sans" pitchFamily="34" charset="0"/>
                <a:ea typeface="IBM Plex Sans" pitchFamily="34" charset="-122"/>
                <a:cs typeface="IBM Plex Sans" pitchFamily="34" charset="-120"/>
              </a:rPr>
              <a:t>. Then clicking the label focuses the box.</a:t>
            </a:r>
            <a:endParaRPr lang="en-US" sz="1400" dirty="0"/>
          </a:p>
        </p:txBody>
      </p:sp>
      <p:sp>
        <p:nvSpPr>
          <p:cNvPr id="7" name="Text 5"/>
          <p:cNvSpPr/>
          <p:nvPr/>
        </p:nvSpPr>
        <p:spPr>
          <a:xfrm>
            <a:off x="812800" y="3879850"/>
            <a:ext cx="5486400" cy="452120"/>
          </a:xfrm>
          <a:prstGeom prst="roundRect">
            <a:avLst>
              <a:gd name="adj" fmla="val 16854"/>
            </a:avLst>
          </a:prstGeom>
          <a:solidFill>
            <a:srgbClr val="E4F2E6"/>
          </a:solidFill>
          <a:ln/>
        </p:spPr>
        <p:txBody>
          <a:bodyPr wrap="square" lIns="130082" tIns="79282" rIns="0" bIns="53882" rtlCol="0" anchor="t">
            <a:normAutofit/>
          </a:bodyPr>
          <a:lstStyle/>
          <a:p>
            <a:pPr algn="l"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required</a:t>
            </a:r>
            <a:r>
              <a:rPr lang="en-US" sz="1400" dirty="0">
                <a:solidFill>
                  <a:srgbClr val="1A2236"/>
                </a:solidFill>
                <a:latin typeface="IBM Plex Sans" pitchFamily="34" charset="0"/>
                <a:ea typeface="IBM Plex Sans" pitchFamily="34" charset="-122"/>
                <a:cs typeface="IBM Plex Sans" pitchFamily="34" charset="-120"/>
              </a:rPr>
              <a:t>, </a:t>
            </a:r>
            <a:r>
              <a:rPr lang="en-US" sz="1400" b="1" dirty="0">
                <a:solidFill>
                  <a:srgbClr val="1A2236"/>
                </a:solidFill>
                <a:latin typeface="IBM Plex Sans" pitchFamily="34" charset="0"/>
                <a:ea typeface="IBM Plex Sans" pitchFamily="34" charset="-122"/>
                <a:cs typeface="IBM Plex Sans" pitchFamily="34" charset="-120"/>
              </a:rPr>
              <a:t>min</a:t>
            </a:r>
            <a:r>
              <a:rPr lang="en-US" sz="1400" dirty="0">
                <a:solidFill>
                  <a:srgbClr val="1A2236"/>
                </a:solidFill>
                <a:latin typeface="IBM Plex Sans" pitchFamily="34" charset="0"/>
                <a:ea typeface="IBM Plex Sans" pitchFamily="34" charset="-122"/>
                <a:cs typeface="IBM Plex Sans" pitchFamily="34" charset="-120"/>
              </a:rPr>
              <a:t>, </a:t>
            </a:r>
            <a:r>
              <a:rPr lang="en-US" sz="1400" b="1" dirty="0">
                <a:solidFill>
                  <a:srgbClr val="1A2236"/>
                </a:solidFill>
                <a:latin typeface="IBM Plex Sans" pitchFamily="34" charset="0"/>
                <a:ea typeface="IBM Plex Sans" pitchFamily="34" charset="-122"/>
                <a:cs typeface="IBM Plex Sans" pitchFamily="34" charset="-120"/>
              </a:rPr>
              <a:t>max</a:t>
            </a:r>
            <a:r>
              <a:rPr lang="en-US" sz="1400" dirty="0">
                <a:solidFill>
                  <a:srgbClr val="1A2236"/>
                </a:solidFill>
                <a:latin typeface="IBM Plex Sans" pitchFamily="34" charset="0"/>
                <a:ea typeface="IBM Plex Sans" pitchFamily="34" charset="-122"/>
                <a:cs typeface="IBM Plex Sans" pitchFamily="34" charset="-120"/>
              </a:rPr>
              <a:t>, </a:t>
            </a:r>
            <a:r>
              <a:rPr lang="en-US" sz="1400" b="1" dirty="0">
                <a:solidFill>
                  <a:srgbClr val="1A2236"/>
                </a:solidFill>
                <a:latin typeface="IBM Plex Sans" pitchFamily="34" charset="0"/>
                <a:ea typeface="IBM Plex Sans" pitchFamily="34" charset="-122"/>
                <a:cs typeface="IBM Plex Sans" pitchFamily="34" charset="-120"/>
              </a:rPr>
              <a:t>pattern</a:t>
            </a:r>
            <a:r>
              <a:rPr lang="en-US" sz="1400" dirty="0">
                <a:solidFill>
                  <a:srgbClr val="1A2236"/>
                </a:solidFill>
                <a:latin typeface="IBM Plex Sans" pitchFamily="34" charset="0"/>
                <a:ea typeface="IBM Plex Sans" pitchFamily="34" charset="-122"/>
                <a:cs typeface="IBM Plex Sans" pitchFamily="34" charset="-120"/>
              </a:rPr>
              <a:t>: free validation, no JavaScript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564418" y="1939076"/>
          <a:ext cx="4814782" cy="3325707"/>
        </p:xfrm>
        <a:graphic>
          <a:graphicData uri="http://schemas.openxmlformats.org/drawingml/2006/table">
            <a:tbl>
              <a:tblPr/>
              <a:tblGrid>
                <a:gridCol w="2022208"/>
                <a:gridCol w="2792573"/>
              </a:tblGrid>
              <a:tr h="384598">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Input type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You get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text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Any text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email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Checks for @ and domain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number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Only digits, arrows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password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Hidden dots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radio / checkbox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Pick one / pick many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&lt;select&gt;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Drop-down list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3351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&lt;button type="submit"&gt;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Sends the form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9" name="Text 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p.13 · Section 4.4</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2070947" cy="289560"/>
          </a:xfrm>
          <a:custGeom>
            <a:avLst/>
            <a:gdLst/>
            <a:ahLst/>
            <a:cxnLst/>
            <a:rect l="l" t="t" r="r" b="b"/>
            <a:pathLst>
              <a:path w="2070947" h="289560">
                <a:moveTo>
                  <a:pt x="144780" y="0"/>
                </a:moveTo>
                <a:lnTo>
                  <a:pt x="1926167" y="0"/>
                </a:lnTo>
                <a:arcTo hR="144780" wR="144780" stAng="16200000" swAng="5400000"/>
                <a:lnTo>
                  <a:pt x="2070947"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 · CHUNK 3</a:t>
            </a:r>
            <a:endParaRPr lang="en-US" sz="1200" dirty="0"/>
          </a:p>
        </p:txBody>
      </p:sp>
      <p:sp>
        <p:nvSpPr>
          <p:cNvPr id="3" name="Text 1"/>
          <p:cNvSpPr/>
          <p:nvPr/>
        </p:nvSpPr>
        <p:spPr>
          <a:xfrm>
            <a:off x="3010747" y="850900"/>
            <a:ext cx="348094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10:56 AM · 4 min · after the Skills section</a:t>
            </a:r>
            <a:endParaRPr lang="en-US" sz="1200" dirty="0"/>
          </a:p>
        </p:txBody>
      </p:sp>
      <p:sp>
        <p:nvSpPr>
          <p:cNvPr id="4" name="Text 2"/>
          <p:cNvSpPr/>
          <p:nvPr>
            <p:ph type="title"/>
          </p:nvPr>
        </p:nvSpPr>
        <p:spPr>
          <a:xfrm>
            <a:off x="812800" y="13055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1EA"/>
                </a:solidFill>
                <a:latin typeface="Space Grotesk" pitchFamily="34" charset="0"/>
                <a:ea typeface="Space Grotesk" pitchFamily="34" charset="-122"/>
                <a:cs typeface="Space Grotesk" pitchFamily="34" charset="-120"/>
              </a:rPr>
              <a:t>Add a contact form, then try to break it</a:t>
            </a:r>
            <a:endParaRPr lang="en-US" sz="2800" dirty="0"/>
          </a:p>
        </p:txBody>
      </p:sp>
      <p:sp>
        <p:nvSpPr>
          <p:cNvPr id="5" name="Text 3"/>
          <p:cNvSpPr/>
          <p:nvPr/>
        </p:nvSpPr>
        <p:spPr>
          <a:xfrm>
            <a:off x="815975" y="1903090"/>
            <a:ext cx="6750050" cy="3504988"/>
          </a:xfrm>
          <a:prstGeom prst="roundRect">
            <a:avLst>
              <a:gd name="adj" fmla="val 2808"/>
            </a:avLst>
          </a:prstGeom>
          <a:solidFill>
            <a:srgbClr val="0D1220"/>
          </a:solidFill>
          <a:ln w="6350">
            <a:solidFill>
              <a:srgbClr val="2A3550"/>
            </a:solidFill>
            <a:prstDash val="solid"/>
          </a:ln>
        </p:spPr>
        <p:txBody>
          <a:bodyPr wrap="square" lIns="202206" tIns="176806" rIns="13567" bIns="151406" rtlCol="0" anchor="t">
            <a:normAutofit/>
          </a:bodyPr>
          <a:lstStyle/>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&lt;section id="</a:t>
            </a:r>
            <a:r>
              <a:rPr lang="en-US" sz="1200" dirty="0">
                <a:solidFill>
                  <a:srgbClr val="7FD1A1"/>
                </a:solidFill>
                <a:latin typeface="JetBrains Mono" pitchFamily="49" charset="0"/>
                <a:ea typeface="JetBrains Mono" pitchFamily="49" charset="-122"/>
                <a:cs typeface="JetBrains Mono" pitchFamily="49" charset="-120"/>
              </a:rPr>
              <a:t>contact</a:t>
            </a:r>
            <a:r>
              <a:rPr lang="en-US" sz="1200" dirty="0">
                <a:solidFill>
                  <a:srgbClr val="E3E8F1"/>
                </a:solidFill>
                <a:latin typeface="JetBrains Mono" pitchFamily="49" charset="0"/>
                <a:ea typeface="JetBrains Mono" pitchFamily="49" charset="-122"/>
                <a:cs typeface="JetBrains Mono" pitchFamily="49" charset="-120"/>
              </a:rPr>
              <a:t>"&gt;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&lt;h2&gt;Contact&lt;/h2&gt;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&lt;form&gt;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&lt;label for="name"&gt;Name&lt;/label&gt;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&lt;input type="text" id="name" required&gt;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&lt;label for="email"&gt;Email&lt;/label&gt;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&lt;input type="</a:t>
            </a:r>
            <a:r>
              <a:rPr lang="en-US" sz="1200" dirty="0">
                <a:solidFill>
                  <a:srgbClr val="F2994A"/>
                </a:solidFill>
                <a:latin typeface="JetBrains Mono" pitchFamily="49" charset="0"/>
                <a:ea typeface="JetBrains Mono" pitchFamily="49" charset="-122"/>
                <a:cs typeface="JetBrains Mono" pitchFamily="49" charset="-120"/>
              </a:rPr>
              <a:t>email</a:t>
            </a:r>
            <a:r>
              <a:rPr lang="en-US" sz="1200" dirty="0">
                <a:solidFill>
                  <a:srgbClr val="E3E8F1"/>
                </a:solidFill>
                <a:latin typeface="JetBrains Mono" pitchFamily="49" charset="0"/>
                <a:ea typeface="JetBrains Mono" pitchFamily="49" charset="-122"/>
                <a:cs typeface="JetBrains Mono" pitchFamily="49" charset="-120"/>
              </a:rPr>
              <a:t>" id="email" required&gt;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&lt;label for="course"&gt;Course&lt;/label&gt;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&lt;select id="course"&gt;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&lt;option&gt;CSE&lt;/option&gt;&lt;option&gt;ISE&lt;/option&gt;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&lt;/select&gt;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&lt;button type="submit"&gt;Send&lt;/button&gt;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&lt;/form&gt;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&lt;/section&gt;</a:t>
            </a:r>
            <a:endParaRPr lang="en-US" sz="1200" dirty="0"/>
          </a:p>
        </p:txBody>
      </p:sp>
      <p:sp>
        <p:nvSpPr>
          <p:cNvPr id="6" name="Text 4"/>
          <p:cNvSpPr/>
          <p:nvPr/>
        </p:nvSpPr>
        <p:spPr>
          <a:xfrm>
            <a:off x="7823200" y="1899915"/>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4F0"/>
                </a:solidFill>
                <a:latin typeface="IBM Plex Sans" pitchFamily="34" charset="0"/>
                <a:ea typeface="IBM Plex Sans" pitchFamily="34" charset="-122"/>
                <a:cs typeface="IBM Plex Sans" pitchFamily="34" charset="-120"/>
              </a:rPr>
              <a:t>TRY TO BREAK IT</a:t>
            </a:r>
            <a:endParaRPr lang="en-US" sz="1200" dirty="0"/>
          </a:p>
        </p:txBody>
      </p:sp>
      <p:sp>
        <p:nvSpPr>
          <p:cNvPr id="7" name="Text 5"/>
          <p:cNvSpPr/>
          <p:nvPr/>
        </p:nvSpPr>
        <p:spPr>
          <a:xfrm>
            <a:off x="7880138" y="2214885"/>
            <a:ext cx="3598122" cy="1358900"/>
          </a:xfrm>
          <a:prstGeom prst="rect">
            <a:avLst/>
          </a:prstGeom>
          <a:noFill/>
          <a:ln/>
        </p:spPr>
        <p:txBody>
          <a:bodyPr wrap="square" lIns="0" tIns="0" rIns="0" bIns="0" rtlCol="0" anchor="t">
            <a:normAutofit/>
          </a:bodyPr>
          <a:lstStyle/>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Click </a:t>
            </a:r>
            <a:r>
              <a:rPr lang="en-US" sz="1400" b="1" dirty="0">
                <a:solidFill>
                  <a:srgbClr val="E3E8F1"/>
                </a:solidFill>
                <a:latin typeface="IBM Plex Sans" pitchFamily="34" charset="0"/>
                <a:ea typeface="IBM Plex Sans" pitchFamily="34" charset="-122"/>
                <a:cs typeface="IBM Plex Sans" pitchFamily="34" charset="-120"/>
              </a:rPr>
              <a:t>Send</a:t>
            </a:r>
            <a:r>
              <a:rPr lang="en-US" sz="1400" dirty="0">
                <a:solidFill>
                  <a:srgbClr val="E3E8F1"/>
                </a:solidFill>
                <a:latin typeface="IBM Plex Sans" pitchFamily="34" charset="0"/>
                <a:ea typeface="IBM Plex Sans" pitchFamily="34" charset="-122"/>
                <a:cs typeface="IBM Plex Sans" pitchFamily="34" charset="-120"/>
              </a:rPr>
              <a:t> with everything empty</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Type </a:t>
            </a:r>
            <a:r>
              <a:rPr lang="en-US" sz="1400" b="1" dirty="0">
                <a:solidFill>
                  <a:srgbClr val="E3E8F1"/>
                </a:solidFill>
                <a:latin typeface="IBM Plex Sans" pitchFamily="34" charset="0"/>
                <a:ea typeface="IBM Plex Sans" pitchFamily="34" charset="-122"/>
                <a:cs typeface="IBM Plex Sans" pitchFamily="34" charset="-120"/>
              </a:rPr>
              <a:t>asha</a:t>
            </a:r>
            <a:r>
              <a:rPr lang="en-US" sz="1400" dirty="0">
                <a:solidFill>
                  <a:srgbClr val="E3E8F1"/>
                </a:solidFill>
                <a:latin typeface="IBM Plex Sans" pitchFamily="34" charset="0"/>
                <a:ea typeface="IBM Plex Sans" pitchFamily="34" charset="-122"/>
                <a:cs typeface="IBM Plex Sans" pitchFamily="34" charset="-120"/>
              </a:rPr>
              <a:t> as the email</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Click the word </a:t>
            </a:r>
            <a:r>
              <a:rPr lang="en-US" sz="1400" b="1" dirty="0">
                <a:solidFill>
                  <a:srgbClr val="E3E8F1"/>
                </a:solidFill>
                <a:latin typeface="IBM Plex Sans" pitchFamily="34" charset="0"/>
                <a:ea typeface="IBM Plex Sans" pitchFamily="34" charset="-122"/>
                <a:cs typeface="IBM Plex Sans" pitchFamily="34" charset="-120"/>
              </a:rPr>
              <a:t>Email</a:t>
            </a:r>
            <a:r>
              <a:rPr lang="en-US" sz="1400" dirty="0">
                <a:solidFill>
                  <a:srgbClr val="E3E8F1"/>
                </a:solidFill>
                <a:latin typeface="IBM Plex Sans" pitchFamily="34" charset="0"/>
                <a:ea typeface="IBM Plex Sans" pitchFamily="34" charset="-122"/>
                <a:cs typeface="IBM Plex Sans" pitchFamily="34" charset="-120"/>
              </a:rPr>
              <a:t>: does the box light up?</a:t>
            </a:r>
            <a:endParaRPr lang="en-US" sz="1400" dirty="0"/>
          </a:p>
          <a:p>
            <a:pPr algn="l" marL="197062" indent="-197062">
              <a:lnSpc>
                <a:spcPts val="2100"/>
              </a:lnSpc>
              <a:buSzPct val="100000"/>
              <a:buFontTx/>
              <a:buAutoNum type="arabicPeriod" startAt="1"/>
            </a:pPr>
            <a:r>
              <a:rPr lang="en-US" sz="1400" dirty="0">
                <a:solidFill>
                  <a:srgbClr val="E3E8F1"/>
                </a:solidFill>
                <a:latin typeface="IBM Plex Sans" pitchFamily="34" charset="0"/>
                <a:ea typeface="IBM Plex Sans" pitchFamily="34" charset="-122"/>
                <a:cs typeface="IBM Plex Sans" pitchFamily="34" charset="-120"/>
              </a:rPr>
              <a:t>Add </a:t>
            </a:r>
            <a:r>
              <a:rPr lang="en-US" sz="1400" b="1" dirty="0">
                <a:solidFill>
                  <a:srgbClr val="E3E8F1"/>
                </a:solidFill>
                <a:latin typeface="IBM Plex Sans" pitchFamily="34" charset="0"/>
                <a:ea typeface="IBM Plex Sans" pitchFamily="34" charset="-122"/>
                <a:cs typeface="IBM Plex Sans" pitchFamily="34" charset="-120"/>
              </a:rPr>
              <a:t>ECE</a:t>
            </a:r>
            <a:r>
              <a:rPr lang="en-US" sz="1400" dirty="0">
                <a:solidFill>
                  <a:srgbClr val="E3E8F1"/>
                </a:solidFill>
                <a:latin typeface="IBM Plex Sans" pitchFamily="34" charset="0"/>
                <a:ea typeface="IBM Plex Sans" pitchFamily="34" charset="-122"/>
                <a:cs typeface="IBM Plex Sans" pitchFamily="34" charset="-120"/>
              </a:rPr>
              <a:t> as a third option</a:t>
            </a:r>
            <a:endParaRPr lang="en-US" sz="1400" dirty="0"/>
          </a:p>
        </p:txBody>
      </p:sp>
      <p:sp>
        <p:nvSpPr>
          <p:cNvPr id="8" name="Text 6"/>
          <p:cNvSpPr/>
          <p:nvPr/>
        </p:nvSpPr>
        <p:spPr>
          <a:xfrm>
            <a:off x="7823200" y="3649985"/>
            <a:ext cx="3556000" cy="665480"/>
          </a:xfrm>
          <a:prstGeom prst="roundRect">
            <a:avLst>
              <a:gd name="adj" fmla="val 11450"/>
            </a:avLst>
          </a:prstGeom>
          <a:solidFill>
            <a:srgbClr val="F2994A"/>
          </a:solidFill>
          <a:ln/>
        </p:spPr>
        <p:txBody>
          <a:bodyPr wrap="square" lIns="130082" tIns="79282" rIns="32546" bIns="53882"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Your HTML skeleton is complete! Green sticky note.</a:t>
            </a:r>
            <a:endParaRPr lang="en-US" sz="1300" dirty="0"/>
          </a:p>
        </p:txBody>
      </p:sp>
      <p:sp>
        <p:nvSpPr>
          <p:cNvPr id="9" name="Text 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Manual p.13 · HTML lab exercise: header, nav, sections, list, image, table, form ✔</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1237827" cy="289560"/>
          </a:xfrm>
          <a:custGeom>
            <a:avLst/>
            <a:gdLst/>
            <a:ahLst/>
            <a:cxnLst/>
            <a:rect l="l" t="t" r="r" b="b"/>
            <a:pathLst>
              <a:path w="1237827" h="289560">
                <a:moveTo>
                  <a:pt x="144780" y="0"/>
                </a:moveTo>
                <a:lnTo>
                  <a:pt x="1093047" y="0"/>
                </a:lnTo>
                <a:arcTo hR="144780" wR="144780" stAng="16200000" swAng="5400000"/>
                <a:lnTo>
                  <a:pt x="1237827"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CHALLENGE</a:t>
            </a:r>
            <a:endParaRPr lang="en-US" sz="1200" dirty="0"/>
          </a:p>
        </p:txBody>
      </p:sp>
      <p:sp>
        <p:nvSpPr>
          <p:cNvPr id="3" name="Text 1"/>
          <p:cNvSpPr/>
          <p:nvPr/>
        </p:nvSpPr>
        <p:spPr>
          <a:xfrm>
            <a:off x="2177627" y="850900"/>
            <a:ext cx="406273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11:00 AM · 5 min · First 3 correct = tech buddies</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3F1EA"/>
                </a:solidFill>
                <a:latin typeface="Space Grotesk" pitchFamily="34" charset="0"/>
                <a:ea typeface="Space Grotesk" pitchFamily="34" charset="-122"/>
                <a:cs typeface="Space Grotesk" pitchFamily="34" charset="-120"/>
              </a:rPr>
              <a:t>Spot the bug: each line has one</a:t>
            </a:r>
            <a:endParaRPr lang="en-US" sz="3000" dirty="0"/>
          </a:p>
        </p:txBody>
      </p:sp>
      <p:sp>
        <p:nvSpPr>
          <p:cNvPr id="5" name="Shape 3"/>
          <p:cNvSpPr/>
          <p:nvPr/>
        </p:nvSpPr>
        <p:spPr>
          <a:xfrm>
            <a:off x="815975" y="1931033"/>
            <a:ext cx="5200650" cy="1038648"/>
          </a:xfrm>
          <a:prstGeom prst="roundRect">
            <a:avLst>
              <a:gd name="adj" fmla="val 9476"/>
            </a:avLst>
          </a:prstGeom>
          <a:solidFill>
            <a:srgbClr val="0D1220"/>
          </a:solidFill>
          <a:ln w="6350">
            <a:solidFill>
              <a:srgbClr val="2A3550"/>
            </a:solidFill>
            <a:prstDash val="solid"/>
          </a:ln>
        </p:spPr>
      </p:sp>
      <p:sp>
        <p:nvSpPr>
          <p:cNvPr id="6" name="Text 4"/>
          <p:cNvSpPr/>
          <p:nvPr/>
        </p:nvSpPr>
        <p:spPr>
          <a:xfrm>
            <a:off x="1021609" y="2136663"/>
            <a:ext cx="4933063"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994A"/>
                </a:solidFill>
                <a:latin typeface="Space Grotesk" pitchFamily="34" charset="0"/>
                <a:ea typeface="Space Grotesk" pitchFamily="34" charset="-122"/>
                <a:cs typeface="Space Grotesk" pitchFamily="34" charset="-120"/>
              </a:rPr>
              <a:t>Bug 1</a:t>
            </a:r>
            <a:endParaRPr lang="en-US" sz="1800" dirty="0"/>
          </a:p>
        </p:txBody>
      </p:sp>
      <p:sp>
        <p:nvSpPr>
          <p:cNvPr id="7" name="Text 5"/>
          <p:cNvSpPr/>
          <p:nvPr/>
        </p:nvSpPr>
        <p:spPr>
          <a:xfrm>
            <a:off x="1021609" y="2532906"/>
            <a:ext cx="493306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E8F1"/>
                </a:solidFill>
                <a:latin typeface="JetBrains Mono" pitchFamily="49" charset="0"/>
                <a:ea typeface="JetBrains Mono" pitchFamily="49" charset="-122"/>
                <a:cs typeface="JetBrains Mono" pitchFamily="49" charset="-120"/>
              </a:rPr>
              <a:t>&lt;img src="me.jpg"&gt;</a:t>
            </a:r>
            <a:endParaRPr lang="en-US" sz="1300" dirty="0"/>
          </a:p>
        </p:txBody>
      </p:sp>
      <p:sp>
        <p:nvSpPr>
          <p:cNvPr id="8" name="Shape 6"/>
          <p:cNvSpPr/>
          <p:nvPr/>
        </p:nvSpPr>
        <p:spPr>
          <a:xfrm>
            <a:off x="6175375" y="1931033"/>
            <a:ext cx="5200650" cy="1038648"/>
          </a:xfrm>
          <a:prstGeom prst="roundRect">
            <a:avLst>
              <a:gd name="adj" fmla="val 9476"/>
            </a:avLst>
          </a:prstGeom>
          <a:solidFill>
            <a:srgbClr val="0D1220"/>
          </a:solidFill>
          <a:ln w="6350">
            <a:solidFill>
              <a:srgbClr val="2A3550"/>
            </a:solidFill>
            <a:prstDash val="solid"/>
          </a:ln>
        </p:spPr>
      </p:sp>
      <p:sp>
        <p:nvSpPr>
          <p:cNvPr id="9" name="Text 7"/>
          <p:cNvSpPr/>
          <p:nvPr/>
        </p:nvSpPr>
        <p:spPr>
          <a:xfrm>
            <a:off x="6381009" y="2136663"/>
            <a:ext cx="4933063"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994A"/>
                </a:solidFill>
                <a:latin typeface="Space Grotesk" pitchFamily="34" charset="0"/>
                <a:ea typeface="Space Grotesk" pitchFamily="34" charset="-122"/>
                <a:cs typeface="Space Grotesk" pitchFamily="34" charset="-120"/>
              </a:rPr>
              <a:t>Bug 2</a:t>
            </a:r>
            <a:endParaRPr lang="en-US" sz="1800" dirty="0"/>
          </a:p>
        </p:txBody>
      </p:sp>
      <p:sp>
        <p:nvSpPr>
          <p:cNvPr id="10" name="Text 8"/>
          <p:cNvSpPr/>
          <p:nvPr/>
        </p:nvSpPr>
        <p:spPr>
          <a:xfrm>
            <a:off x="6381009" y="2532906"/>
            <a:ext cx="493306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E8F1"/>
                </a:solidFill>
                <a:latin typeface="JetBrains Mono" pitchFamily="49" charset="0"/>
                <a:ea typeface="JetBrains Mono" pitchFamily="49" charset="-122"/>
                <a:cs typeface="JetBrains Mono" pitchFamily="49" charset="-120"/>
              </a:rPr>
              <a:t>&lt;p&gt;Hello &lt;b&gt;world&lt;/p&gt;&lt;/b&gt;</a:t>
            </a:r>
            <a:endParaRPr lang="en-US" sz="1300" dirty="0"/>
          </a:p>
        </p:txBody>
      </p:sp>
      <p:sp>
        <p:nvSpPr>
          <p:cNvPr id="11" name="Shape 9"/>
          <p:cNvSpPr/>
          <p:nvPr/>
        </p:nvSpPr>
        <p:spPr>
          <a:xfrm>
            <a:off x="815975" y="3128429"/>
            <a:ext cx="5200650" cy="1269788"/>
          </a:xfrm>
          <a:prstGeom prst="roundRect">
            <a:avLst>
              <a:gd name="adj" fmla="val 7751"/>
            </a:avLst>
          </a:prstGeom>
          <a:solidFill>
            <a:srgbClr val="0D1220"/>
          </a:solidFill>
          <a:ln w="6350">
            <a:solidFill>
              <a:srgbClr val="2A3550"/>
            </a:solidFill>
            <a:prstDash val="solid"/>
          </a:ln>
        </p:spPr>
      </p:sp>
      <p:sp>
        <p:nvSpPr>
          <p:cNvPr id="12" name="Text 10"/>
          <p:cNvSpPr/>
          <p:nvPr/>
        </p:nvSpPr>
        <p:spPr>
          <a:xfrm>
            <a:off x="1021609" y="3334072"/>
            <a:ext cx="4933063"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994A"/>
                </a:solidFill>
                <a:latin typeface="Space Grotesk" pitchFamily="34" charset="0"/>
                <a:ea typeface="Space Grotesk" pitchFamily="34" charset="-122"/>
                <a:cs typeface="Space Grotesk" pitchFamily="34" charset="-120"/>
              </a:rPr>
              <a:t>Bug 3</a:t>
            </a:r>
            <a:endParaRPr lang="en-US" sz="1800" dirty="0"/>
          </a:p>
        </p:txBody>
      </p:sp>
      <p:sp>
        <p:nvSpPr>
          <p:cNvPr id="13" name="Text 11"/>
          <p:cNvSpPr/>
          <p:nvPr/>
        </p:nvSpPr>
        <p:spPr>
          <a:xfrm>
            <a:off x="1021609" y="3730303"/>
            <a:ext cx="493306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E8F1"/>
                </a:solidFill>
                <a:latin typeface="JetBrains Mono" pitchFamily="49" charset="0"/>
                <a:ea typeface="JetBrains Mono" pitchFamily="49" charset="-122"/>
                <a:cs typeface="JetBrains Mono" pitchFamily="49" charset="-120"/>
              </a:rPr>
              <a:t>&lt;label for="mail"&gt;Email&lt;/label&gt;</a:t>
            </a:r>
            <a:endParaRPr lang="en-US" sz="1300" dirty="0"/>
          </a:p>
          <a:p>
            <a:pPr algn="l" indent="0" marL="0">
              <a:lnSpc>
                <a:spcPts val="1820"/>
              </a:lnSpc>
              <a:buNone/>
            </a:pPr>
            <a:r>
              <a:rPr lang="en-US" sz="1300" dirty="0">
                <a:solidFill>
                  <a:srgbClr val="E3E8F1"/>
                </a:solidFill>
                <a:latin typeface="JetBrains Mono" pitchFamily="49" charset="0"/>
                <a:ea typeface="JetBrains Mono" pitchFamily="49" charset="-122"/>
                <a:cs typeface="JetBrains Mono" pitchFamily="49" charset="-120"/>
              </a:rPr>
              <a:t>&lt;input type="email" id="email"&gt;</a:t>
            </a:r>
            <a:endParaRPr lang="en-US" sz="1300" dirty="0"/>
          </a:p>
        </p:txBody>
      </p:sp>
      <p:sp>
        <p:nvSpPr>
          <p:cNvPr id="14" name="Shape 12"/>
          <p:cNvSpPr/>
          <p:nvPr/>
        </p:nvSpPr>
        <p:spPr>
          <a:xfrm>
            <a:off x="6175375" y="3128429"/>
            <a:ext cx="5200650" cy="1269788"/>
          </a:xfrm>
          <a:prstGeom prst="roundRect">
            <a:avLst>
              <a:gd name="adj" fmla="val 7751"/>
            </a:avLst>
          </a:prstGeom>
          <a:solidFill>
            <a:srgbClr val="0D1220"/>
          </a:solidFill>
          <a:ln w="6350">
            <a:solidFill>
              <a:srgbClr val="2A3550"/>
            </a:solidFill>
            <a:prstDash val="solid"/>
          </a:ln>
        </p:spPr>
      </p:sp>
      <p:sp>
        <p:nvSpPr>
          <p:cNvPr id="15" name="Text 13"/>
          <p:cNvSpPr/>
          <p:nvPr/>
        </p:nvSpPr>
        <p:spPr>
          <a:xfrm>
            <a:off x="6381009" y="3334072"/>
            <a:ext cx="4933063"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994A"/>
                </a:solidFill>
                <a:latin typeface="Space Grotesk" pitchFamily="34" charset="0"/>
                <a:ea typeface="Space Grotesk" pitchFamily="34" charset="-122"/>
                <a:cs typeface="Space Grotesk" pitchFamily="34" charset="-120"/>
              </a:rPr>
              <a:t>Bug 4</a:t>
            </a:r>
            <a:endParaRPr lang="en-US" sz="1800" dirty="0"/>
          </a:p>
        </p:txBody>
      </p:sp>
      <p:sp>
        <p:nvSpPr>
          <p:cNvPr id="16" name="Text 14"/>
          <p:cNvSpPr/>
          <p:nvPr/>
        </p:nvSpPr>
        <p:spPr>
          <a:xfrm>
            <a:off x="6381009" y="3730303"/>
            <a:ext cx="493306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E8F1"/>
                </a:solidFill>
                <a:latin typeface="JetBrains Mono" pitchFamily="49" charset="0"/>
                <a:ea typeface="JetBrains Mono" pitchFamily="49" charset="-122"/>
                <a:cs typeface="JetBrains Mono" pitchFamily="49" charset="-120"/>
              </a:rPr>
              <a:t>&lt;a href="#Projects"&gt;Projects&lt;/a&gt;</a:t>
            </a:r>
            <a:endParaRPr lang="en-US" sz="1300" dirty="0"/>
          </a:p>
          <a:p>
            <a:pPr algn="l" indent="0" marL="0">
              <a:lnSpc>
                <a:spcPts val="1820"/>
              </a:lnSpc>
              <a:buNone/>
            </a:pPr>
            <a:r>
              <a:rPr lang="en-US" sz="1300" dirty="0">
                <a:solidFill>
                  <a:srgbClr val="E3E8F1"/>
                </a:solidFill>
                <a:latin typeface="JetBrains Mono" pitchFamily="49" charset="0"/>
                <a:ea typeface="JetBrains Mono" pitchFamily="49" charset="-122"/>
                <a:cs typeface="JetBrains Mono" pitchFamily="49" charset="-120"/>
              </a:rPr>
              <a:t>&lt;section id="projects"&gt;</a:t>
            </a:r>
            <a:endParaRPr lang="en-US" sz="1300" dirty="0"/>
          </a:p>
        </p:txBody>
      </p:sp>
      <p:sp>
        <p:nvSpPr>
          <p:cNvPr id="17"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Answers in speaker notes · Hands up when you find all four</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F5FA8"/>
        </a:solidFill>
      </p:bgPr>
    </p:bg>
    <p:spTree>
      <p:nvGrpSpPr>
        <p:cNvPr id="1" name=""/>
        <p:cNvGrpSpPr/>
        <p:nvPr/>
      </p:nvGrpSpPr>
      <p:grpSpPr>
        <a:xfrm>
          <a:off x="0" y="0"/>
          <a:ext cx="0" cy="0"/>
          <a:chOff x="0" y="0"/>
          <a:chExt cx="0" cy="0"/>
        </a:xfrm>
      </p:grpSpPr>
      <p:sp>
        <p:nvSpPr>
          <p:cNvPr id="2" name="Text 0"/>
          <p:cNvSpPr/>
          <p:nvPr/>
        </p:nvSpPr>
        <p:spPr>
          <a:xfrm>
            <a:off x="812800" y="208534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FE0FA"/>
                </a:solidFill>
                <a:latin typeface="IBM Plex Sans" pitchFamily="34" charset="0"/>
                <a:ea typeface="IBM Plex Sans" pitchFamily="34" charset="-122"/>
                <a:cs typeface="IBM Plex Sans" pitchFamily="34" charset="-120"/>
              </a:rPr>
              <a:t>11:05 – 11:12 AM</a:t>
            </a:r>
            <a:endParaRPr lang="en-US" sz="1400" dirty="0"/>
          </a:p>
        </p:txBody>
      </p:sp>
      <p:sp>
        <p:nvSpPr>
          <p:cNvPr id="3" name="Text 1"/>
          <p:cNvSpPr/>
          <p:nvPr>
            <p:ph type="title"/>
          </p:nvPr>
        </p:nvSpPr>
        <p:spPr>
          <a:xfrm>
            <a:off x="812800" y="2588258"/>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5F3EE"/>
                </a:solidFill>
                <a:latin typeface="Space Grotesk" pitchFamily="34" charset="0"/>
                <a:ea typeface="Space Grotesk" pitchFamily="34" charset="-122"/>
                <a:cs typeface="Space Grotesk" pitchFamily="34" charset="-120"/>
              </a:rPr>
              <a:t>Stretch break</a:t>
            </a:r>
            <a:endParaRPr lang="en-US" sz="6000" dirty="0"/>
          </a:p>
        </p:txBody>
      </p:sp>
      <p:sp>
        <p:nvSpPr>
          <p:cNvPr id="4" name="Text 2"/>
          <p:cNvSpPr/>
          <p:nvPr/>
        </p:nvSpPr>
        <p:spPr>
          <a:xfrm>
            <a:off x="812800" y="3642358"/>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3ECFA"/>
                </a:solidFill>
                <a:latin typeface="IBM Plex Sans" pitchFamily="34" charset="0"/>
                <a:ea typeface="IBM Plex Sans" pitchFamily="34" charset="-122"/>
                <a:cs typeface="IBM Plex Sans" pitchFamily="34" charset="-120"/>
              </a:rPr>
              <a:t>Your skeleton is done. Next: give it skin with CSS.</a:t>
            </a:r>
            <a:endParaRPr lang="en-US" sz="2000" dirty="0"/>
          </a:p>
        </p:txBody>
      </p:sp>
      <p:sp>
        <p:nvSpPr>
          <p:cNvPr id="5" name="Text 3"/>
          <p:cNvSpPr/>
          <p:nvPr/>
        </p:nvSpPr>
        <p:spPr>
          <a:xfrm>
            <a:off x="812800" y="4251958"/>
            <a:ext cx="6031124" cy="520700"/>
          </a:xfrm>
          <a:prstGeom prst="roundRect">
            <a:avLst>
              <a:gd name="adj" fmla="val 14634"/>
            </a:avLst>
          </a:prstGeom>
          <a:solidFill>
            <a:srgbClr val="F5F3EE"/>
          </a:solidFill>
          <a:ln/>
        </p:spPr>
        <p:txBody>
          <a:bodyPr wrap="none" lIns="0" tIns="0" rIns="0" bIns="0" rtlCol="0" anchor="ctr">
            <a:normAutofit/>
          </a:bodyPr>
          <a:lstStyle/>
          <a:p>
            <a:pPr algn="ctr" indent="0" marL="0">
              <a:lnSpc>
                <a:spcPts val="2100"/>
              </a:lnSpc>
              <a:buNone/>
            </a:pPr>
            <a:r>
              <a:rPr lang="en-US" sz="1500" dirty="0">
                <a:solidFill>
                  <a:srgbClr val="141B2D"/>
                </a:solidFill>
                <a:latin typeface="IBM Plex Sans" pitchFamily="34" charset="0"/>
                <a:ea typeface="IBM Plex Sans" pitchFamily="34" charset="-122"/>
                <a:cs typeface="IBM Plex Sans" pitchFamily="34" charset="-120"/>
              </a:rPr>
              <a:t>Before you go: </a:t>
            </a:r>
            <a:r>
              <a:rPr lang="en-US" sz="1500" b="1" dirty="0">
                <a:solidFill>
                  <a:srgbClr val="141B2D"/>
                </a:solidFill>
                <a:latin typeface="IBM Plex Sans" pitchFamily="34" charset="0"/>
                <a:ea typeface="IBM Plex Sans" pitchFamily="34" charset="-122"/>
                <a:cs typeface="IBM Plex Sans" pitchFamily="34" charset="-120"/>
              </a:rPr>
              <a:t>Ctrl+S</a:t>
            </a:r>
            <a:r>
              <a:rPr lang="en-US" sz="1500" dirty="0">
                <a:solidFill>
                  <a:srgbClr val="141B2D"/>
                </a:solidFill>
                <a:latin typeface="IBM Plex Sans" pitchFamily="34" charset="0"/>
                <a:ea typeface="IBM Plex Sans" pitchFamily="34" charset="-122"/>
                <a:cs typeface="IBM Plex Sans" pitchFamily="34" charset="-120"/>
              </a:rPr>
              <a:t>. Red sticky notes stay up, we’ll come to you.</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23877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11:12 AM · CSS in 8 minutes</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A CSS rule = who + what + how much</a:t>
            </a:r>
            <a:endParaRPr lang="en-US" sz="3000" dirty="0"/>
          </a:p>
        </p:txBody>
      </p:sp>
      <p:sp>
        <p:nvSpPr>
          <p:cNvPr id="5" name="Text 3"/>
          <p:cNvSpPr/>
          <p:nvPr/>
        </p:nvSpPr>
        <p:spPr>
          <a:xfrm>
            <a:off x="812800" y="1927858"/>
            <a:ext cx="4826000" cy="2032000"/>
          </a:xfrm>
          <a:prstGeom prst="roundRect">
            <a:avLst>
              <a:gd name="adj" fmla="val 5000"/>
            </a:avLst>
          </a:prstGeom>
          <a:solidFill>
            <a:srgbClr val="0D1220"/>
          </a:solidFill>
          <a:ln/>
        </p:spPr>
        <p:txBody>
          <a:bodyPr wrap="square" lIns="224242" tIns="224242" rIns="94702" bIns="198842" rtlCol="0" anchor="t">
            <a:normAutofit/>
          </a:bodyPr>
          <a:lstStyle/>
          <a:p>
            <a:pPr algn="l" indent="0" marL="0">
              <a:lnSpc>
                <a:spcPts val="3000"/>
              </a:lnSpc>
              <a:buNone/>
            </a:pPr>
            <a:r>
              <a:rPr lang="en-US" sz="2000" dirty="0">
                <a:solidFill>
                  <a:srgbClr val="F2994A"/>
                </a:solidFill>
                <a:latin typeface="JetBrains Mono" pitchFamily="49" charset="0"/>
                <a:ea typeface="JetBrains Mono" pitchFamily="49" charset="-122"/>
                <a:cs typeface="JetBrains Mono" pitchFamily="49" charset="-120"/>
              </a:rPr>
              <a:t>h1</a:t>
            </a:r>
            <a:r>
              <a:rPr lang="en-US" sz="2000" dirty="0">
                <a:solidFill>
                  <a:srgbClr val="E3E8F1"/>
                </a:solidFill>
                <a:latin typeface="JetBrains Mono" pitchFamily="49" charset="0"/>
                <a:ea typeface="JetBrains Mono" pitchFamily="49" charset="-122"/>
                <a:cs typeface="JetBrains Mono" pitchFamily="49" charset="-120"/>
              </a:rPr>
              <a:t> {</a:t>
            </a:r>
            <a:endParaRPr lang="en-US" sz="2000" dirty="0"/>
          </a:p>
          <a:p>
            <a:pPr algn="l" indent="0" marL="0">
              <a:lnSpc>
                <a:spcPts val="3000"/>
              </a:lnSpc>
              <a:buNone/>
            </a:pPr>
            <a:r>
              <a:rPr lang="en-US" sz="2000" dirty="0">
                <a:solidFill>
                  <a:srgbClr val="E3E8F1"/>
                </a:solidFill>
                <a:latin typeface="JetBrains Mono" pitchFamily="49" charset="0"/>
                <a:ea typeface="JetBrains Mono" pitchFamily="49" charset="-122"/>
                <a:cs typeface="JetBrains Mono" pitchFamily="49" charset="-120"/>
              </a:rPr>
              <a:t>  </a:t>
            </a:r>
            <a:r>
              <a:rPr lang="en-US" sz="2000" dirty="0">
                <a:solidFill>
                  <a:srgbClr val="8DB4F0"/>
                </a:solidFill>
                <a:latin typeface="JetBrains Mono" pitchFamily="49" charset="0"/>
                <a:ea typeface="JetBrains Mono" pitchFamily="49" charset="-122"/>
                <a:cs typeface="JetBrains Mono" pitchFamily="49" charset="-120"/>
              </a:rPr>
              <a:t>color</a:t>
            </a:r>
            <a:r>
              <a:rPr lang="en-US" sz="2000" dirty="0">
                <a:solidFill>
                  <a:srgbClr val="E3E8F1"/>
                </a:solidFill>
                <a:latin typeface="JetBrains Mono" pitchFamily="49" charset="0"/>
                <a:ea typeface="JetBrains Mono" pitchFamily="49" charset="-122"/>
                <a:cs typeface="JetBrains Mono" pitchFamily="49" charset="-120"/>
              </a:rPr>
              <a:t>: </a:t>
            </a:r>
            <a:r>
              <a:rPr lang="en-US" sz="2000" dirty="0">
                <a:solidFill>
                  <a:srgbClr val="7FD1A1"/>
                </a:solidFill>
                <a:latin typeface="JetBrains Mono" pitchFamily="49" charset="0"/>
                <a:ea typeface="JetBrains Mono" pitchFamily="49" charset="-122"/>
                <a:cs typeface="JetBrains Mono" pitchFamily="49" charset="-120"/>
              </a:rPr>
              <a:t>navy</a:t>
            </a:r>
            <a:r>
              <a:rPr lang="en-US" sz="2000" dirty="0">
                <a:solidFill>
                  <a:srgbClr val="E3E8F1"/>
                </a:solidFill>
                <a:latin typeface="JetBrains Mono" pitchFamily="49" charset="0"/>
                <a:ea typeface="JetBrains Mono" pitchFamily="49" charset="-122"/>
                <a:cs typeface="JetBrains Mono" pitchFamily="49" charset="-120"/>
              </a:rPr>
              <a:t>;</a:t>
            </a:r>
            <a:endParaRPr lang="en-US" sz="2000" dirty="0"/>
          </a:p>
          <a:p>
            <a:pPr algn="l" indent="0" marL="0">
              <a:lnSpc>
                <a:spcPts val="3000"/>
              </a:lnSpc>
              <a:buNone/>
            </a:pPr>
            <a:r>
              <a:rPr lang="en-US" sz="2000" dirty="0">
                <a:solidFill>
                  <a:srgbClr val="E3E8F1"/>
                </a:solidFill>
                <a:latin typeface="JetBrains Mono" pitchFamily="49" charset="0"/>
                <a:ea typeface="JetBrains Mono" pitchFamily="49" charset="-122"/>
                <a:cs typeface="JetBrains Mono" pitchFamily="49" charset="-120"/>
              </a:rPr>
              <a:t>  </a:t>
            </a:r>
            <a:r>
              <a:rPr lang="en-US" sz="2000" dirty="0">
                <a:solidFill>
                  <a:srgbClr val="8DB4F0"/>
                </a:solidFill>
                <a:latin typeface="JetBrains Mono" pitchFamily="49" charset="0"/>
                <a:ea typeface="JetBrains Mono" pitchFamily="49" charset="-122"/>
                <a:cs typeface="JetBrains Mono" pitchFamily="49" charset="-120"/>
              </a:rPr>
              <a:t>font-size</a:t>
            </a:r>
            <a:r>
              <a:rPr lang="en-US" sz="2000" dirty="0">
                <a:solidFill>
                  <a:srgbClr val="E3E8F1"/>
                </a:solidFill>
                <a:latin typeface="JetBrains Mono" pitchFamily="49" charset="0"/>
                <a:ea typeface="JetBrains Mono" pitchFamily="49" charset="-122"/>
                <a:cs typeface="JetBrains Mono" pitchFamily="49" charset="-120"/>
              </a:rPr>
              <a:t>: </a:t>
            </a:r>
            <a:r>
              <a:rPr lang="en-US" sz="2000" dirty="0">
                <a:solidFill>
                  <a:srgbClr val="7FD1A1"/>
                </a:solidFill>
                <a:latin typeface="JetBrains Mono" pitchFamily="49" charset="0"/>
                <a:ea typeface="JetBrains Mono" pitchFamily="49" charset="-122"/>
                <a:cs typeface="JetBrains Mono" pitchFamily="49" charset="-120"/>
              </a:rPr>
              <a:t>48px</a:t>
            </a:r>
            <a:r>
              <a:rPr lang="en-US" sz="2000" dirty="0">
                <a:solidFill>
                  <a:srgbClr val="E3E8F1"/>
                </a:solidFill>
                <a:latin typeface="JetBrains Mono" pitchFamily="49" charset="0"/>
                <a:ea typeface="JetBrains Mono" pitchFamily="49" charset="-122"/>
                <a:cs typeface="JetBrains Mono" pitchFamily="49" charset="-120"/>
              </a:rPr>
              <a:t>;</a:t>
            </a:r>
            <a:endParaRPr lang="en-US" sz="2000" dirty="0"/>
          </a:p>
          <a:p>
            <a:pPr algn="l" indent="0" marL="0">
              <a:lnSpc>
                <a:spcPts val="3000"/>
              </a:lnSpc>
              <a:buNone/>
            </a:pPr>
            <a:r>
              <a:rPr lang="en-US" sz="2000" dirty="0">
                <a:solidFill>
                  <a:srgbClr val="E3E8F1"/>
                </a:solidFill>
                <a:latin typeface="JetBrains Mono" pitchFamily="49" charset="0"/>
                <a:ea typeface="JetBrains Mono" pitchFamily="49" charset="-122"/>
                <a:cs typeface="JetBrains Mono" pitchFamily="49" charset="-120"/>
              </a:rPr>
              <a:t>}</a:t>
            </a:r>
            <a:endParaRPr lang="en-US" sz="2000" dirty="0"/>
          </a:p>
        </p:txBody>
      </p:sp>
      <p:sp>
        <p:nvSpPr>
          <p:cNvPr id="6" name="Text 4"/>
          <p:cNvSpPr/>
          <p:nvPr/>
        </p:nvSpPr>
        <p:spPr>
          <a:xfrm>
            <a:off x="812800" y="4086858"/>
            <a:ext cx="1540933" cy="640080"/>
          </a:xfrm>
          <a:prstGeom prst="roundRect">
            <a:avLst>
              <a:gd name="adj" fmla="val 9921"/>
            </a:avLst>
          </a:prstGeom>
          <a:solidFill>
            <a:srgbClr val="FBEDE3"/>
          </a:solidFill>
          <a:ln/>
        </p:spPr>
        <p:txBody>
          <a:bodyPr wrap="square" lIns="108401" tIns="70301" rIns="57601" bIns="44901" rtlCol="0" anchor="t">
            <a:normAutofit/>
          </a:bodyPr>
          <a:lstStyle/>
          <a:p>
            <a:pPr algn="l" indent="0" marL="0">
              <a:lnSpc>
                <a:spcPts val="1820"/>
              </a:lnSpc>
              <a:buNone/>
            </a:pPr>
            <a:r>
              <a:rPr lang="en-US" sz="1300" b="1" dirty="0">
                <a:solidFill>
                  <a:srgbClr val="B4531A"/>
                </a:solidFill>
                <a:latin typeface="IBM Plex Sans" pitchFamily="34" charset="0"/>
                <a:ea typeface="IBM Plex Sans" pitchFamily="34" charset="-122"/>
                <a:cs typeface="IBM Plex Sans" pitchFamily="34" charset="-120"/>
              </a:rPr>
              <a:t>Selector</a:t>
            </a:r>
            <a:endParaRPr lang="en-US" sz="1300" dirty="0"/>
          </a:p>
          <a:p>
            <a:pPr algn="l"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who</a:t>
            </a:r>
            <a:endParaRPr lang="en-US" sz="1300" dirty="0"/>
          </a:p>
        </p:txBody>
      </p:sp>
      <p:sp>
        <p:nvSpPr>
          <p:cNvPr id="7" name="Text 5"/>
          <p:cNvSpPr/>
          <p:nvPr/>
        </p:nvSpPr>
        <p:spPr>
          <a:xfrm>
            <a:off x="2455333" y="4086858"/>
            <a:ext cx="1540933" cy="640080"/>
          </a:xfrm>
          <a:prstGeom prst="roundRect">
            <a:avLst>
              <a:gd name="adj" fmla="val 9921"/>
            </a:avLst>
          </a:prstGeom>
          <a:solidFill>
            <a:srgbClr val="E3E9F5"/>
          </a:solidFill>
          <a:ln/>
        </p:spPr>
        <p:txBody>
          <a:bodyPr wrap="square" lIns="108401" tIns="70301" rIns="57601" bIns="44901" rtlCol="0" anchor="t">
            <a:normAutofit/>
          </a:bodyPr>
          <a:lstStyle/>
          <a:p>
            <a:pPr algn="l" indent="0" marL="0">
              <a:lnSpc>
                <a:spcPts val="1820"/>
              </a:lnSpc>
              <a:buNone/>
            </a:pPr>
            <a:r>
              <a:rPr lang="en-US" sz="1300" b="1" dirty="0">
                <a:solidFill>
                  <a:srgbClr val="2F5FA8"/>
                </a:solidFill>
                <a:latin typeface="IBM Plex Sans" pitchFamily="34" charset="0"/>
                <a:ea typeface="IBM Plex Sans" pitchFamily="34" charset="-122"/>
                <a:cs typeface="IBM Plex Sans" pitchFamily="34" charset="-120"/>
              </a:rPr>
              <a:t>Property</a:t>
            </a:r>
            <a:endParaRPr lang="en-US" sz="1300" dirty="0"/>
          </a:p>
          <a:p>
            <a:pPr algn="l"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what</a:t>
            </a:r>
            <a:endParaRPr lang="en-US" sz="1300" dirty="0"/>
          </a:p>
        </p:txBody>
      </p:sp>
      <p:sp>
        <p:nvSpPr>
          <p:cNvPr id="8" name="Text 6"/>
          <p:cNvSpPr/>
          <p:nvPr/>
        </p:nvSpPr>
        <p:spPr>
          <a:xfrm>
            <a:off x="4097867" y="4086858"/>
            <a:ext cx="1540933" cy="640080"/>
          </a:xfrm>
          <a:prstGeom prst="roundRect">
            <a:avLst>
              <a:gd name="adj" fmla="val 9921"/>
            </a:avLst>
          </a:prstGeom>
          <a:solidFill>
            <a:srgbClr val="E4F2E6"/>
          </a:solidFill>
          <a:ln/>
        </p:spPr>
        <p:txBody>
          <a:bodyPr wrap="square" lIns="108401" tIns="70301" rIns="57601" bIns="44901" rtlCol="0" anchor="t">
            <a:normAutofit/>
          </a:bodyPr>
          <a:lstStyle/>
          <a:p>
            <a:pPr algn="l" indent="0" marL="0">
              <a:lnSpc>
                <a:spcPts val="1820"/>
              </a:lnSpc>
              <a:buNone/>
            </a:pPr>
            <a:r>
              <a:rPr lang="en-US" sz="1300" b="1" dirty="0">
                <a:solidFill>
                  <a:srgbClr val="3E7D5A"/>
                </a:solidFill>
                <a:latin typeface="IBM Plex Sans" pitchFamily="34" charset="0"/>
                <a:ea typeface="IBM Plex Sans" pitchFamily="34" charset="-122"/>
                <a:cs typeface="IBM Plex Sans" pitchFamily="34" charset="-120"/>
              </a:rPr>
              <a:t>Value</a:t>
            </a:r>
            <a:endParaRPr lang="en-US" sz="1300" dirty="0"/>
          </a:p>
          <a:p>
            <a:pPr algn="l"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how much</a:t>
            </a:r>
            <a:endParaRPr lang="en-US" sz="1300" dirty="0"/>
          </a:p>
        </p:txBody>
      </p:sp>
      <p:sp>
        <p:nvSpPr>
          <p:cNvPr id="9" name="Text 7"/>
          <p:cNvSpPr/>
          <p:nvPr/>
        </p:nvSpPr>
        <p:spPr>
          <a:xfrm>
            <a:off x="5943600" y="1927858"/>
            <a:ext cx="559866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236"/>
                </a:solidFill>
                <a:latin typeface="Space Grotesk" pitchFamily="34" charset="0"/>
                <a:ea typeface="Space Grotesk" pitchFamily="34" charset="-122"/>
                <a:cs typeface="Space Grotesk" pitchFamily="34" charset="-120"/>
              </a:rPr>
              <a:t>Three ways to add CSS</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54818" y="2340403"/>
          <a:ext cx="5424382" cy="1431713"/>
        </p:xfrm>
        <a:graphic>
          <a:graphicData uri="http://schemas.openxmlformats.org/drawingml/2006/table">
            <a:tbl>
              <a:tblPr/>
              <a:tblGrid>
                <a:gridCol w="1518827"/>
                <a:gridCol w="2169753"/>
                <a:gridCol w="1735802"/>
              </a:tblGrid>
              <a:tr h="357928">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Method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Where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Use for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Inline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style="" on a tag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Quick demo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Internal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&lt;style&gt; in head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One-page test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External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&lt;link&gt; to style.css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Real projects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11" name="Text 8"/>
          <p:cNvSpPr/>
          <p:nvPr/>
        </p:nvSpPr>
        <p:spPr>
          <a:xfrm>
            <a:off x="5943600" y="3899111"/>
            <a:ext cx="559866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6"/>
                </a:solidFill>
                <a:latin typeface="IBM Plex Sans" pitchFamily="34" charset="0"/>
                <a:ea typeface="IBM Plex Sans" pitchFamily="34" charset="-122"/>
                <a:cs typeface="IBM Plex Sans" pitchFamily="34" charset="-120"/>
              </a:rPr>
              <a:t>External wins: one file styles every page, and HTML stays clean.</a:t>
            </a:r>
            <a:endParaRPr lang="en-US" sz="1300" dirty="0"/>
          </a:p>
        </p:txBody>
      </p:sp>
      <p:sp>
        <p:nvSpPr>
          <p:cNvPr id="12" name="Text 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p.13–14 · Sections 6, 6.1</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17604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11:15 AM · Selectors</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Selectors decide who gets styled</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018" y="1939076"/>
          <a:ext cx="10555182" cy="3325707"/>
        </p:xfrm>
        <a:graphic>
          <a:graphicData uri="http://schemas.openxmlformats.org/drawingml/2006/table">
            <a:tbl>
              <a:tblPr/>
              <a:tblGrid>
                <a:gridCol w="1899933"/>
                <a:gridCol w="3166554"/>
                <a:gridCol w="3166554"/>
                <a:gridCol w="2322140"/>
              </a:tblGrid>
              <a:tr h="384598">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Selector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Example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Targets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Class analogy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Element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Every &lt;p&gt;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All students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Class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.card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Anything with class="card"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All CSE students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ID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#about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The one id="about"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One USN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Descendant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.card 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&lt;p&gt; anywhere inside .card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CSE students in Lab 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Child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.card &gt; 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Direct children only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Front row only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Attribute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input[type="email"]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Email inputs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Students with laptops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3351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Pseudo-class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a:hover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A state: mouse over 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Student who raised a hand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p.14 · Section 6.2</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1934951" cy="289560"/>
          </a:xfrm>
          <a:custGeom>
            <a:avLst/>
            <a:gdLst/>
            <a:ahLst/>
            <a:cxnLst/>
            <a:rect l="l" t="t" r="r" b="b"/>
            <a:pathLst>
              <a:path w="1934951" h="289560">
                <a:moveTo>
                  <a:pt x="144780" y="0"/>
                </a:moveTo>
                <a:lnTo>
                  <a:pt x="1790171" y="0"/>
                </a:lnTo>
                <a:arcTo hR="144780" wR="144780" stAng="16200000" swAng="5400000"/>
                <a:lnTo>
                  <a:pt x="1934951"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PREDICT, THEN RUN</a:t>
            </a:r>
            <a:endParaRPr lang="en-US" sz="1200" dirty="0"/>
          </a:p>
        </p:txBody>
      </p:sp>
      <p:sp>
        <p:nvSpPr>
          <p:cNvPr id="3" name="Text 1"/>
          <p:cNvSpPr/>
          <p:nvPr/>
        </p:nvSpPr>
        <p:spPr>
          <a:xfrm>
            <a:off x="2874751" y="850900"/>
            <a:ext cx="3022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11:17 AM · 3 min · Specificity battle</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3F1EA"/>
                </a:solidFill>
                <a:latin typeface="Space Grotesk" pitchFamily="34" charset="0"/>
                <a:ea typeface="Space Grotesk" pitchFamily="34" charset="-122"/>
                <a:cs typeface="Space Grotesk" pitchFamily="34" charset="-120"/>
              </a:rPr>
              <a:t>Four rules fight over one paragraph. Who wins?</a:t>
            </a:r>
            <a:endParaRPr lang="en-US" sz="3000" dirty="0"/>
          </a:p>
        </p:txBody>
      </p:sp>
      <p:sp>
        <p:nvSpPr>
          <p:cNvPr id="5" name="Shape 3"/>
          <p:cNvSpPr/>
          <p:nvPr/>
        </p:nvSpPr>
        <p:spPr>
          <a:xfrm>
            <a:off x="815975" y="1931033"/>
            <a:ext cx="6369050" cy="2312670"/>
          </a:xfrm>
          <a:prstGeom prst="roundRect">
            <a:avLst>
              <a:gd name="adj" fmla="val 4256"/>
            </a:avLst>
          </a:prstGeom>
          <a:solidFill>
            <a:srgbClr val="0D1220"/>
          </a:solidFill>
          <a:ln w="6350">
            <a:solidFill>
              <a:srgbClr val="2A3550"/>
            </a:solidFill>
            <a:prstDash val="solid"/>
          </a:ln>
        </p:spPr>
      </p:sp>
      <p:sp>
        <p:nvSpPr>
          <p:cNvPr id="6" name="Text 4"/>
          <p:cNvSpPr/>
          <p:nvPr/>
        </p:nvSpPr>
        <p:spPr>
          <a:xfrm>
            <a:off x="1047009" y="2136663"/>
            <a:ext cx="6084191" cy="14541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E3E8F1"/>
                </a:solidFill>
                <a:latin typeface="JetBrains Mono" pitchFamily="49" charset="0"/>
                <a:ea typeface="JetBrains Mono" pitchFamily="49" charset="-122"/>
                <a:cs typeface="JetBrains Mono" pitchFamily="49" charset="-120"/>
              </a:rPr>
              <a:t>&lt;p id="intro" class="lead"&gt;Who wins?&lt;/p&gt;</a:t>
            </a:r>
            <a:endParaRPr lang="en-US" sz="1250" dirty="0"/>
          </a:p>
          <a:p>
            <a:pPr algn="l" indent="0" marL="0">
              <a:lnSpc>
                <a:spcPts val="1875"/>
              </a:lnSpc>
              <a:buNone/>
            </a:pPr>
            <a:endParaRPr lang="en-US" sz="1250" dirty="0"/>
          </a:p>
          <a:p>
            <a:pPr algn="l" indent="0" marL="0">
              <a:lnSpc>
                <a:spcPts val="1875"/>
              </a:lnSpc>
              <a:buNone/>
            </a:pPr>
            <a:r>
              <a:rPr lang="en-US" sz="1250" dirty="0">
                <a:solidFill>
                  <a:srgbClr val="F2994A"/>
                </a:solidFill>
                <a:latin typeface="JetBrains Mono" pitchFamily="49" charset="0"/>
                <a:ea typeface="JetBrains Mono" pitchFamily="49" charset="-122"/>
                <a:cs typeface="JetBrains Mono" pitchFamily="49" charset="-120"/>
              </a:rPr>
              <a:t>p</a:t>
            </a:r>
            <a:r>
              <a:rPr lang="en-US" sz="1250" dirty="0">
                <a:solidFill>
                  <a:srgbClr val="E3E8F1"/>
                </a:solidFill>
                <a:latin typeface="JetBrains Mono" pitchFamily="49" charset="0"/>
                <a:ea typeface="JetBrains Mono" pitchFamily="49" charset="-122"/>
                <a:cs typeface="JetBrains Mono" pitchFamily="49" charset="-120"/>
              </a:rPr>
              <a:t>      { color: green; }</a:t>
            </a:r>
            <a:endParaRPr lang="en-US" sz="1250" dirty="0"/>
          </a:p>
          <a:p>
            <a:pPr algn="l" indent="0" marL="0">
              <a:lnSpc>
                <a:spcPts val="1875"/>
              </a:lnSpc>
              <a:buNone/>
            </a:pPr>
            <a:r>
              <a:rPr lang="en-US" sz="1250" dirty="0">
                <a:solidFill>
                  <a:srgbClr val="F2994A"/>
                </a:solidFill>
                <a:latin typeface="JetBrains Mono" pitchFamily="49" charset="0"/>
                <a:ea typeface="JetBrains Mono" pitchFamily="49" charset="-122"/>
                <a:cs typeface="JetBrains Mono" pitchFamily="49" charset="-120"/>
              </a:rPr>
              <a:t>.lead</a:t>
            </a:r>
            <a:r>
              <a:rPr lang="en-US" sz="1250" dirty="0">
                <a:solidFill>
                  <a:srgbClr val="E3E8F1"/>
                </a:solidFill>
                <a:latin typeface="JetBrains Mono" pitchFamily="49" charset="0"/>
                <a:ea typeface="JetBrains Mono" pitchFamily="49" charset="-122"/>
                <a:cs typeface="JetBrains Mono" pitchFamily="49" charset="-120"/>
              </a:rPr>
              <a:t>  { color: blue; }</a:t>
            </a:r>
            <a:endParaRPr lang="en-US" sz="1250" dirty="0"/>
          </a:p>
          <a:p>
            <a:pPr algn="l" indent="0" marL="0">
              <a:lnSpc>
                <a:spcPts val="1875"/>
              </a:lnSpc>
              <a:buNone/>
            </a:pPr>
            <a:r>
              <a:rPr lang="en-US" sz="1250" dirty="0">
                <a:solidFill>
                  <a:srgbClr val="F2994A"/>
                </a:solidFill>
                <a:latin typeface="JetBrains Mono" pitchFamily="49" charset="0"/>
                <a:ea typeface="JetBrains Mono" pitchFamily="49" charset="-122"/>
                <a:cs typeface="JetBrains Mono" pitchFamily="49" charset="-120"/>
              </a:rPr>
              <a:t>#intro</a:t>
            </a:r>
            <a:r>
              <a:rPr lang="en-US" sz="1250" dirty="0">
                <a:solidFill>
                  <a:srgbClr val="E3E8F1"/>
                </a:solidFill>
                <a:latin typeface="JetBrains Mono" pitchFamily="49" charset="0"/>
                <a:ea typeface="JetBrains Mono" pitchFamily="49" charset="-122"/>
                <a:cs typeface="JetBrains Mono" pitchFamily="49" charset="-120"/>
              </a:rPr>
              <a:t> { color: red; }</a:t>
            </a:r>
            <a:endParaRPr lang="en-US" sz="1250" dirty="0"/>
          </a:p>
          <a:p>
            <a:pPr algn="l" indent="0" marL="0">
              <a:lnSpc>
                <a:spcPts val="1875"/>
              </a:lnSpc>
              <a:buNone/>
            </a:pPr>
            <a:r>
              <a:rPr lang="en-US" sz="1250" dirty="0">
                <a:solidFill>
                  <a:srgbClr val="F2994A"/>
                </a:solidFill>
                <a:latin typeface="JetBrains Mono" pitchFamily="49" charset="0"/>
                <a:ea typeface="JetBrains Mono" pitchFamily="49" charset="-122"/>
                <a:cs typeface="JetBrains Mono" pitchFamily="49" charset="-120"/>
              </a:rPr>
              <a:t>p</a:t>
            </a:r>
            <a:r>
              <a:rPr lang="en-US" sz="1250" dirty="0">
                <a:solidFill>
                  <a:srgbClr val="E3E8F1"/>
                </a:solidFill>
                <a:latin typeface="JetBrains Mono" pitchFamily="49" charset="0"/>
                <a:ea typeface="JetBrains Mono" pitchFamily="49" charset="-122"/>
                <a:cs typeface="JetBrains Mono" pitchFamily="49" charset="-120"/>
              </a:rPr>
              <a:t>      { color: purple; }</a:t>
            </a:r>
            <a:endParaRPr lang="en-US" sz="1250" dirty="0"/>
          </a:p>
        </p:txBody>
      </p:sp>
      <p:sp>
        <p:nvSpPr>
          <p:cNvPr id="7" name="Text 5"/>
          <p:cNvSpPr/>
          <p:nvPr/>
        </p:nvSpPr>
        <p:spPr>
          <a:xfrm>
            <a:off x="1047009" y="3667013"/>
            <a:ext cx="608419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2D3"/>
                </a:solidFill>
                <a:latin typeface="IBM Plex Sans" pitchFamily="34" charset="0"/>
                <a:ea typeface="IBM Plex Sans" pitchFamily="34" charset="-122"/>
                <a:cs typeface="IBM Plex Sans" pitchFamily="34" charset="-120"/>
              </a:rPr>
              <a:t>Vote: green, blue, red or purple?</a:t>
            </a:r>
            <a:endParaRPr lang="en-US" sz="1300" dirty="0"/>
          </a:p>
        </p:txBody>
      </p:sp>
      <p:sp>
        <p:nvSpPr>
          <p:cNvPr id="8" name="Text 6"/>
          <p:cNvSpPr/>
          <p:nvPr/>
        </p:nvSpPr>
        <p:spPr>
          <a:xfrm>
            <a:off x="7442200" y="1927858"/>
            <a:ext cx="40551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4F0"/>
                </a:solidFill>
                <a:latin typeface="IBM Plex Sans" pitchFamily="34" charset="0"/>
                <a:ea typeface="IBM Plex Sans" pitchFamily="34" charset="-122"/>
                <a:cs typeface="IBM Plex Sans" pitchFamily="34" charset="-120"/>
              </a:rPr>
              <a:t>HOW THE BROWSER DECIDES</a:t>
            </a:r>
            <a:endParaRPr lang="en-US" sz="1200" dirty="0"/>
          </a:p>
        </p:txBody>
      </p:sp>
      <p:sp>
        <p:nvSpPr>
          <p:cNvPr id="9" name="Text 7"/>
          <p:cNvSpPr/>
          <p:nvPr/>
        </p:nvSpPr>
        <p:spPr>
          <a:xfrm>
            <a:off x="7442200" y="2230115"/>
            <a:ext cx="3937000" cy="426720"/>
          </a:xfrm>
          <a:prstGeom prst="roundRect">
            <a:avLst>
              <a:gd name="adj" fmla="val 14881"/>
            </a:avLst>
          </a:prstGeom>
          <a:solidFill>
            <a:srgbClr val="1E2840"/>
          </a:solidFill>
          <a:ln/>
        </p:spPr>
        <p:txBody>
          <a:bodyPr wrap="square" lIns="108401" tIns="70301" rIns="0" bIns="44901"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1.</a:t>
            </a:r>
            <a:r>
              <a:rPr lang="en-US" sz="1400" dirty="0">
                <a:solidFill>
                  <a:srgbClr val="F3F1EA"/>
                </a:solidFill>
                <a:latin typeface="IBM Plex Sans" pitchFamily="34" charset="0"/>
                <a:ea typeface="IBM Plex Sans" pitchFamily="34" charset="-122"/>
                <a:cs typeface="IBM Plex Sans" pitchFamily="34" charset="-120"/>
              </a:rPr>
              <a:t> Inline style="" beats everything</a:t>
            </a:r>
            <a:endParaRPr lang="en-US" sz="1400" dirty="0"/>
          </a:p>
        </p:txBody>
      </p:sp>
      <p:sp>
        <p:nvSpPr>
          <p:cNvPr id="10" name="Text 8"/>
          <p:cNvSpPr/>
          <p:nvPr/>
        </p:nvSpPr>
        <p:spPr>
          <a:xfrm>
            <a:off x="7442200" y="2745742"/>
            <a:ext cx="3937000" cy="426720"/>
          </a:xfrm>
          <a:prstGeom prst="roundRect">
            <a:avLst>
              <a:gd name="adj" fmla="val 14881"/>
            </a:avLst>
          </a:prstGeom>
          <a:solidFill>
            <a:srgbClr val="1E2840"/>
          </a:solidFill>
          <a:ln/>
        </p:spPr>
        <p:txBody>
          <a:bodyPr wrap="square" lIns="108401" tIns="70301" rIns="0" bIns="44901"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2.</a:t>
            </a:r>
            <a:r>
              <a:rPr lang="en-US" sz="1400" dirty="0">
                <a:solidFill>
                  <a:srgbClr val="F3F1EA"/>
                </a:solidFill>
                <a:latin typeface="IBM Plex Sans" pitchFamily="34" charset="0"/>
                <a:ea typeface="IBM Plex Sans" pitchFamily="34" charset="-122"/>
                <a:cs typeface="IBM Plex Sans" pitchFamily="34" charset="-120"/>
              </a:rPr>
              <a:t> Then </a:t>
            </a:r>
            <a:r>
              <a:rPr lang="en-US" sz="1400" b="1" dirty="0">
                <a:solidFill>
                  <a:srgbClr val="F3F1EA"/>
                </a:solidFill>
                <a:latin typeface="IBM Plex Sans" pitchFamily="34" charset="0"/>
                <a:ea typeface="IBM Plex Sans" pitchFamily="34" charset="-122"/>
                <a:cs typeface="IBM Plex Sans" pitchFamily="34" charset="-120"/>
              </a:rPr>
              <a:t>#id</a:t>
            </a:r>
            <a:r>
              <a:rPr lang="en-US" sz="1400" dirty="0">
                <a:solidFill>
                  <a:srgbClr val="F3F1EA"/>
                </a:solidFill>
                <a:latin typeface="IBM Plex Sans" pitchFamily="34" charset="0"/>
                <a:ea typeface="IBM Plex Sans" pitchFamily="34" charset="-122"/>
                <a:cs typeface="IBM Plex Sans" pitchFamily="34" charset="-120"/>
              </a:rPr>
              <a:t> &gt; </a:t>
            </a:r>
            <a:r>
              <a:rPr lang="en-US" sz="1400" b="1" dirty="0">
                <a:solidFill>
                  <a:srgbClr val="F3F1EA"/>
                </a:solidFill>
                <a:latin typeface="IBM Plex Sans" pitchFamily="34" charset="0"/>
                <a:ea typeface="IBM Plex Sans" pitchFamily="34" charset="-122"/>
                <a:cs typeface="IBM Plex Sans" pitchFamily="34" charset="-120"/>
              </a:rPr>
              <a:t>.class</a:t>
            </a:r>
            <a:r>
              <a:rPr lang="en-US" sz="1400" dirty="0">
                <a:solidFill>
                  <a:srgbClr val="F3F1EA"/>
                </a:solidFill>
                <a:latin typeface="IBM Plex Sans" pitchFamily="34" charset="0"/>
                <a:ea typeface="IBM Plex Sans" pitchFamily="34" charset="-122"/>
                <a:cs typeface="IBM Plex Sans" pitchFamily="34" charset="-120"/>
              </a:rPr>
              <a:t> &gt; </a:t>
            </a:r>
            <a:r>
              <a:rPr lang="en-US" sz="1400" b="1" dirty="0">
                <a:solidFill>
                  <a:srgbClr val="F3F1EA"/>
                </a:solidFill>
                <a:latin typeface="IBM Plex Sans" pitchFamily="34" charset="0"/>
                <a:ea typeface="IBM Plex Sans" pitchFamily="34" charset="-122"/>
                <a:cs typeface="IBM Plex Sans" pitchFamily="34" charset="-120"/>
              </a:rPr>
              <a:t>element</a:t>
            </a:r>
            <a:endParaRPr lang="en-US" sz="1400" dirty="0"/>
          </a:p>
        </p:txBody>
      </p:sp>
      <p:sp>
        <p:nvSpPr>
          <p:cNvPr id="11" name="Text 9"/>
          <p:cNvSpPr/>
          <p:nvPr/>
        </p:nvSpPr>
        <p:spPr>
          <a:xfrm>
            <a:off x="7442200" y="3261358"/>
            <a:ext cx="3937000" cy="426720"/>
          </a:xfrm>
          <a:prstGeom prst="roundRect">
            <a:avLst>
              <a:gd name="adj" fmla="val 14881"/>
            </a:avLst>
          </a:prstGeom>
          <a:solidFill>
            <a:srgbClr val="1E2840"/>
          </a:solidFill>
          <a:ln/>
        </p:spPr>
        <p:txBody>
          <a:bodyPr wrap="square" lIns="108401" tIns="70301" rIns="0" bIns="44901"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3.</a:t>
            </a:r>
            <a:r>
              <a:rPr lang="en-US" sz="1400" dirty="0">
                <a:solidFill>
                  <a:srgbClr val="F3F1EA"/>
                </a:solidFill>
                <a:latin typeface="IBM Plex Sans" pitchFamily="34" charset="0"/>
                <a:ea typeface="IBM Plex Sans" pitchFamily="34" charset="-122"/>
                <a:cs typeface="IBM Plex Sans" pitchFamily="34" charset="-120"/>
              </a:rPr>
              <a:t> Tie? The rule written </a:t>
            </a:r>
            <a:r>
              <a:rPr lang="en-US" sz="1400" b="1" dirty="0">
                <a:solidFill>
                  <a:srgbClr val="F3F1EA"/>
                </a:solidFill>
                <a:latin typeface="IBM Plex Sans" pitchFamily="34" charset="0"/>
                <a:ea typeface="IBM Plex Sans" pitchFamily="34" charset="-122"/>
                <a:cs typeface="IBM Plex Sans" pitchFamily="34" charset="-120"/>
              </a:rPr>
              <a:t>later</a:t>
            </a:r>
            <a:r>
              <a:rPr lang="en-US" sz="1400" dirty="0">
                <a:solidFill>
                  <a:srgbClr val="F3F1EA"/>
                </a:solidFill>
                <a:latin typeface="IBM Plex Sans" pitchFamily="34" charset="0"/>
                <a:ea typeface="IBM Plex Sans" pitchFamily="34" charset="-122"/>
                <a:cs typeface="IBM Plex Sans" pitchFamily="34" charset="-120"/>
              </a:rPr>
              <a:t> wins</a:t>
            </a:r>
            <a:endParaRPr lang="en-US" sz="1400" dirty="0"/>
          </a:p>
        </p:txBody>
      </p:sp>
      <p:sp>
        <p:nvSpPr>
          <p:cNvPr id="12" name="Text 10"/>
          <p:cNvSpPr/>
          <p:nvPr/>
        </p:nvSpPr>
        <p:spPr>
          <a:xfrm>
            <a:off x="7442200" y="3776985"/>
            <a:ext cx="3937000" cy="469900"/>
          </a:xfrm>
          <a:prstGeom prst="roundRect">
            <a:avLst>
              <a:gd name="adj" fmla="val 13514"/>
            </a:avLst>
          </a:prstGeom>
          <a:solidFill>
            <a:srgbClr val="F2994A"/>
          </a:solidFill>
          <a:ln/>
        </p:spPr>
        <p:txBody>
          <a:bodyPr wrap="square" lIns="108401" tIns="83001" rIns="0" bIns="57601" rtlCol="0" anchor="t">
            <a:normAutofit/>
          </a:bodyPr>
          <a:lstStyle/>
          <a:p>
            <a:pPr algn="l" indent="0" marL="0">
              <a:lnSpc>
                <a:spcPts val="2100"/>
              </a:lnSpc>
              <a:buNone/>
            </a:pPr>
            <a:r>
              <a:rPr lang="en-US" sz="1500" b="1" dirty="0">
                <a:solidFill>
                  <a:srgbClr val="141B2D"/>
                </a:solidFill>
                <a:latin typeface="IBM Plex Sans" pitchFamily="34" charset="0"/>
                <a:ea typeface="IBM Plex Sans" pitchFamily="34" charset="-122"/>
                <a:cs typeface="IBM Plex Sans" pitchFamily="34" charset="-120"/>
              </a:rPr>
              <a:t>Answer: red (#intro)</a:t>
            </a:r>
            <a:endParaRPr lang="en-US" sz="1500" dirty="0"/>
          </a:p>
        </p:txBody>
      </p:sp>
      <p:sp>
        <p:nvSpPr>
          <p:cNvPr id="13"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Manual p.13 · Figure 3 · Viva Q6 and Q18</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2070947" cy="289560"/>
          </a:xfrm>
          <a:custGeom>
            <a:avLst/>
            <a:gdLst/>
            <a:ahLst/>
            <a:cxnLst/>
            <a:rect l="l" t="t" r="r" b="b"/>
            <a:pathLst>
              <a:path w="2070947" h="289560">
                <a:moveTo>
                  <a:pt x="144780" y="0"/>
                </a:moveTo>
                <a:lnTo>
                  <a:pt x="1926167" y="0"/>
                </a:lnTo>
                <a:arcTo hR="144780" wR="144780" stAng="16200000" swAng="5400000"/>
                <a:lnTo>
                  <a:pt x="2070947"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 · CHUNK 4</a:t>
            </a:r>
            <a:endParaRPr lang="en-US" sz="1200" dirty="0"/>
          </a:p>
        </p:txBody>
      </p:sp>
      <p:sp>
        <p:nvSpPr>
          <p:cNvPr id="3" name="Text 1"/>
          <p:cNvSpPr/>
          <p:nvPr/>
        </p:nvSpPr>
        <p:spPr>
          <a:xfrm>
            <a:off x="3010747" y="850900"/>
            <a:ext cx="24306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11:20 AM · 15 min · style.css</a:t>
            </a:r>
            <a:endParaRPr lang="en-US" sz="1200" dirty="0"/>
          </a:p>
        </p:txBody>
      </p:sp>
      <p:sp>
        <p:nvSpPr>
          <p:cNvPr id="4" name="Text 2"/>
          <p:cNvSpPr/>
          <p:nvPr>
            <p:ph type="title"/>
          </p:nvPr>
        </p:nvSpPr>
        <p:spPr>
          <a:xfrm>
            <a:off x="812800" y="13055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1EA"/>
                </a:solidFill>
                <a:latin typeface="Space Grotesk" pitchFamily="34" charset="0"/>
                <a:ea typeface="Space Grotesk" pitchFamily="34" charset="-122"/>
                <a:cs typeface="Space Grotesk" pitchFamily="34" charset="-120"/>
              </a:rPr>
              <a:t>Link style.css and give the page its skin</a:t>
            </a:r>
            <a:endParaRPr lang="en-US" sz="2800" dirty="0"/>
          </a:p>
        </p:txBody>
      </p:sp>
      <p:sp>
        <p:nvSpPr>
          <p:cNvPr id="5" name="Text 3"/>
          <p:cNvSpPr/>
          <p:nvPr/>
        </p:nvSpPr>
        <p:spPr>
          <a:xfrm>
            <a:off x="812800" y="1899915"/>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4F0"/>
                </a:solidFill>
                <a:latin typeface="IBM Plex Sans" pitchFamily="34" charset="0"/>
                <a:ea typeface="IBM Plex Sans" pitchFamily="34" charset="-122"/>
                <a:cs typeface="IBM Plex Sans" pitchFamily="34" charset="-120"/>
              </a:rPr>
              <a:t>STEP 1 · in index.html &lt;head&gt;</a:t>
            </a:r>
            <a:endParaRPr lang="en-US" sz="1200" dirty="0"/>
          </a:p>
        </p:txBody>
      </p:sp>
      <p:sp>
        <p:nvSpPr>
          <p:cNvPr id="6" name="Text 4"/>
          <p:cNvSpPr/>
          <p:nvPr/>
        </p:nvSpPr>
        <p:spPr>
          <a:xfrm>
            <a:off x="812800" y="2214885"/>
            <a:ext cx="3556000" cy="746760"/>
          </a:xfrm>
          <a:prstGeom prst="roundRect">
            <a:avLst>
              <a:gd name="adj" fmla="val 10204"/>
            </a:avLst>
          </a:prstGeom>
          <a:solidFill>
            <a:srgbClr val="0D1220"/>
          </a:solidFill>
          <a:ln/>
        </p:spPr>
        <p:txBody>
          <a:bodyPr wrap="square" lIns="130082" tIns="130082" rIns="32546" bIns="104682" rtlCol="0" anchor="t">
            <a:normAutofit/>
          </a:bodyPr>
          <a:lstStyle/>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&lt;link rel="stylesheet"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href="style.css"&gt;</a:t>
            </a:r>
            <a:endParaRPr lang="en-US" sz="1200" dirty="0"/>
          </a:p>
        </p:txBody>
      </p:sp>
      <p:sp>
        <p:nvSpPr>
          <p:cNvPr id="7" name="Text 5"/>
          <p:cNvSpPr/>
          <p:nvPr/>
        </p:nvSpPr>
        <p:spPr>
          <a:xfrm>
            <a:off x="812800" y="3063242"/>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4F0"/>
                </a:solidFill>
                <a:latin typeface="IBM Plex Sans" pitchFamily="34" charset="0"/>
                <a:ea typeface="IBM Plex Sans" pitchFamily="34" charset="-122"/>
                <a:cs typeface="IBM Plex Sans" pitchFamily="34" charset="-120"/>
              </a:rPr>
              <a:t>STEP 2 · new file style.css →</a:t>
            </a:r>
            <a:endParaRPr lang="en-US" sz="1200" dirty="0"/>
          </a:p>
        </p:txBody>
      </p:sp>
      <p:sp>
        <p:nvSpPr>
          <p:cNvPr id="8" name="Text 6"/>
          <p:cNvSpPr/>
          <p:nvPr/>
        </p:nvSpPr>
        <p:spPr>
          <a:xfrm>
            <a:off x="812800" y="3378200"/>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4F0"/>
                </a:solidFill>
                <a:latin typeface="IBM Plex Sans" pitchFamily="34" charset="0"/>
                <a:ea typeface="IBM Plex Sans" pitchFamily="34" charset="-122"/>
                <a:cs typeface="IBM Plex Sans" pitchFamily="34" charset="-120"/>
              </a:rPr>
              <a:t>STEP 3 · make it yours</a:t>
            </a:r>
            <a:endParaRPr lang="en-US" sz="1200" dirty="0"/>
          </a:p>
        </p:txBody>
      </p:sp>
      <p:sp>
        <p:nvSpPr>
          <p:cNvPr id="9" name="Text 7"/>
          <p:cNvSpPr/>
          <p:nvPr/>
        </p:nvSpPr>
        <p:spPr>
          <a:xfrm>
            <a:off x="812800" y="3693158"/>
            <a:ext cx="36626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E8F1"/>
                </a:solidFill>
                <a:latin typeface="IBM Plex Sans" pitchFamily="34" charset="0"/>
                <a:ea typeface="IBM Plex Sans" pitchFamily="34" charset="-122"/>
                <a:cs typeface="IBM Plex Sans" pitchFamily="34" charset="-120"/>
              </a:rPr>
              <a:t>Change the header colour and font to your taste. Hover over the nav links.</a:t>
            </a:r>
            <a:endParaRPr lang="en-US" sz="1300" dirty="0"/>
          </a:p>
        </p:txBody>
      </p:sp>
      <p:sp>
        <p:nvSpPr>
          <p:cNvPr id="10" name="Text 8"/>
          <p:cNvSpPr/>
          <p:nvPr/>
        </p:nvSpPr>
        <p:spPr>
          <a:xfrm>
            <a:off x="4575175" y="1903090"/>
            <a:ext cx="6800850" cy="3504988"/>
          </a:xfrm>
          <a:prstGeom prst="roundRect">
            <a:avLst>
              <a:gd name="adj" fmla="val 2808"/>
            </a:avLst>
          </a:prstGeom>
          <a:solidFill>
            <a:srgbClr val="0D1220"/>
          </a:solidFill>
          <a:ln w="6350">
            <a:solidFill>
              <a:srgbClr val="2A3550"/>
            </a:solidFill>
            <a:prstDash val="solid"/>
          </a:ln>
        </p:spPr>
        <p:txBody>
          <a:bodyPr wrap="square" lIns="202206" tIns="176806" rIns="12043" bIns="151406" rtlCol="0" anchor="t">
            <a:normAutofit/>
          </a:bodyPr>
          <a:lstStyle/>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 *::before, *::after</a:t>
            </a:r>
            <a:r>
              <a:rPr lang="en-US" sz="1200" dirty="0">
                <a:solidFill>
                  <a:srgbClr val="E3E8F1"/>
                </a:solidFill>
                <a:latin typeface="JetBrains Mono" pitchFamily="49" charset="0"/>
                <a:ea typeface="JetBrains Mono" pitchFamily="49" charset="-122"/>
                <a:cs typeface="JetBrains Mono" pitchFamily="49" charset="-120"/>
              </a:rPr>
              <a:t> { box-sizing: border-box; }</a:t>
            </a:r>
            <a:endParaRPr lang="en-US" sz="1200" dirty="0"/>
          </a:p>
          <a:p>
            <a:pPr algn="l" indent="0" marL="0">
              <a:lnSpc>
                <a:spcPts val="1740"/>
              </a:lnSpc>
              <a:buNone/>
            </a:pP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body</a:t>
            </a:r>
            <a:r>
              <a:rPr lang="en-US" sz="1200" dirty="0">
                <a:solidFill>
                  <a:srgbClr val="E3E8F1"/>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margin: 0;</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font-family: system-ui, sans-serif;</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line-height: 1.6;</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.container</a:t>
            </a:r>
            <a:r>
              <a:rPr lang="en-US" sz="1200" dirty="0">
                <a:solidFill>
                  <a:srgbClr val="E3E8F1"/>
                </a:solidFill>
                <a:latin typeface="JetBrains Mono" pitchFamily="49" charset="0"/>
                <a:ea typeface="JetBrains Mono" pitchFamily="49" charset="-122"/>
                <a:cs typeface="JetBrains Mono" pitchFamily="49" charset="-120"/>
              </a:rPr>
              <a:t> { width: 92%; max-width: 1100px; margin: 0 auto; }</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header</a:t>
            </a:r>
            <a:r>
              <a:rPr lang="en-US" sz="1200" dirty="0">
                <a:solidFill>
                  <a:srgbClr val="E3E8F1"/>
                </a:solidFill>
                <a:latin typeface="JetBrains Mono" pitchFamily="49" charset="0"/>
                <a:ea typeface="JetBrains Mono" pitchFamily="49" charset="-122"/>
                <a:cs typeface="JetBrains Mono" pitchFamily="49" charset="-120"/>
              </a:rPr>
              <a:t> { background: #1e3a8a; color: white; padding: 16px 4%; }</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nav a</a:t>
            </a:r>
            <a:r>
              <a:rPr lang="en-US" sz="1200" dirty="0">
                <a:solidFill>
                  <a:srgbClr val="E3E8F1"/>
                </a:solidFill>
                <a:latin typeface="JetBrains Mono" pitchFamily="49" charset="0"/>
                <a:ea typeface="JetBrains Mono" pitchFamily="49" charset="-122"/>
                <a:cs typeface="JetBrains Mono" pitchFamily="49" charset="-120"/>
              </a:rPr>
              <a:t> { color: white; margin-right: 12px; text-decoration: none; }</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nav a:hover, nav a:focus</a:t>
            </a:r>
            <a:r>
              <a:rPr lang="en-US" sz="1200" dirty="0">
                <a:solidFill>
                  <a:srgbClr val="E3E8F1"/>
                </a:solidFill>
                <a:latin typeface="JetBrains Mono" pitchFamily="49" charset="0"/>
                <a:ea typeface="JetBrains Mono" pitchFamily="49" charset="-122"/>
                <a:cs typeface="JetBrains Mono" pitchFamily="49" charset="-120"/>
              </a:rPr>
              <a:t> { text-decoration: underline; }</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img</a:t>
            </a:r>
            <a:r>
              <a:rPr lang="en-US" sz="1200" dirty="0">
                <a:solidFill>
                  <a:srgbClr val="E3E8F1"/>
                </a:solidFill>
                <a:latin typeface="JetBrains Mono" pitchFamily="49" charset="0"/>
                <a:ea typeface="JetBrains Mono" pitchFamily="49" charset="-122"/>
                <a:cs typeface="JetBrains Mono" pitchFamily="49" charset="-120"/>
              </a:rPr>
              <a:t> { max-width: 100%; height: auto; border-radius: 50%; }</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table, th, td</a:t>
            </a:r>
            <a:r>
              <a:rPr lang="en-US" sz="1200" dirty="0">
                <a:solidFill>
                  <a:srgbClr val="E3E8F1"/>
                </a:solidFill>
                <a:latin typeface="JetBrains Mono" pitchFamily="49" charset="0"/>
                <a:ea typeface="JetBrains Mono" pitchFamily="49" charset="-122"/>
                <a:cs typeface="JetBrains Mono" pitchFamily="49" charset="-120"/>
              </a:rPr>
              <a:t> { border: 1px solid #ccc; border-collapse: collapse; padding: 8px; }</a:t>
            </a:r>
            <a:endParaRPr lang="en-US" sz="1200" dirty="0"/>
          </a:p>
        </p:txBody>
      </p:sp>
      <p:sp>
        <p:nvSpPr>
          <p:cNvPr id="11" name="Text 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No change on screen? Check the file name, save both files, then Ctrl+Shift+R</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507173" cy="289560"/>
          </a:xfrm>
          <a:custGeom>
            <a:avLst/>
            <a:gdLst/>
            <a:ahLst/>
            <a:cxnLst/>
            <a:rect l="l" t="t" r="r" b="b"/>
            <a:pathLst>
              <a:path w="1507173" h="289560">
                <a:moveTo>
                  <a:pt x="144780" y="0"/>
                </a:moveTo>
                <a:lnTo>
                  <a:pt x="1362393" y="0"/>
                </a:lnTo>
                <a:arcTo hR="144780" wR="144780" stAng="16200000" swAng="5400000"/>
                <a:lnTo>
                  <a:pt x="1507173"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 + SHOW</a:t>
            </a:r>
            <a:endParaRPr lang="en-US" sz="1200" dirty="0"/>
          </a:p>
        </p:txBody>
      </p:sp>
      <p:sp>
        <p:nvSpPr>
          <p:cNvPr id="3" name="Text 1"/>
          <p:cNvSpPr/>
          <p:nvPr/>
        </p:nvSpPr>
        <p:spPr>
          <a:xfrm>
            <a:off x="2446973" y="850900"/>
            <a:ext cx="26146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11:35 AM · Hold up your phone</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Every element is a box inside boxes</a:t>
            </a:r>
            <a:endParaRPr lang="en-US" sz="3000" dirty="0"/>
          </a:p>
        </p:txBody>
      </p:sp>
      <p:sp>
        <p:nvSpPr>
          <p:cNvPr id="5" name="Shape 3"/>
          <p:cNvSpPr/>
          <p:nvPr/>
        </p:nvSpPr>
        <p:spPr>
          <a:xfrm>
            <a:off x="819150" y="1934208"/>
            <a:ext cx="5575300" cy="2465917"/>
          </a:xfrm>
          <a:prstGeom prst="roundRect">
            <a:avLst>
              <a:gd name="adj" fmla="val 1803"/>
            </a:avLst>
          </a:prstGeom>
          <a:solidFill>
            <a:srgbClr val="FCEFD9"/>
          </a:solidFill>
          <a:ln w="12700">
            <a:solidFill>
              <a:srgbClr val="B4531A"/>
            </a:solidFill>
            <a:prstDash val="dash"/>
          </a:ln>
        </p:spPr>
      </p:sp>
      <p:sp>
        <p:nvSpPr>
          <p:cNvPr id="6" name="Text 4"/>
          <p:cNvSpPr/>
          <p:nvPr/>
        </p:nvSpPr>
        <p:spPr>
          <a:xfrm>
            <a:off x="1027218" y="2066082"/>
            <a:ext cx="531393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1A"/>
                </a:solidFill>
                <a:latin typeface="IBM Plex Sans" pitchFamily="34" charset="0"/>
                <a:ea typeface="IBM Plex Sans" pitchFamily="34" charset="-122"/>
                <a:cs typeface="IBM Plex Sans" pitchFamily="34" charset="-120"/>
              </a:rPr>
              <a:t>MARGIN · space outside</a:t>
            </a:r>
            <a:endParaRPr lang="en-US" sz="1200" dirty="0"/>
          </a:p>
        </p:txBody>
      </p:sp>
      <p:sp>
        <p:nvSpPr>
          <p:cNvPr id="7" name="Shape 5"/>
          <p:cNvSpPr/>
          <p:nvPr/>
        </p:nvSpPr>
        <p:spPr>
          <a:xfrm>
            <a:off x="1027218" y="2330239"/>
            <a:ext cx="5159163" cy="1861820"/>
          </a:xfrm>
          <a:prstGeom prst="rect">
            <a:avLst/>
          </a:prstGeom>
          <a:solidFill>
            <a:srgbClr val="4A5266"/>
          </a:solidFill>
          <a:ln/>
        </p:spPr>
      </p:sp>
      <p:sp>
        <p:nvSpPr>
          <p:cNvPr id="8" name="Text 6"/>
          <p:cNvSpPr/>
          <p:nvPr/>
        </p:nvSpPr>
        <p:spPr>
          <a:xfrm>
            <a:off x="1205018" y="2431839"/>
            <a:ext cx="49476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BORDER · the edge</a:t>
            </a:r>
            <a:endParaRPr lang="en-US" sz="1200" dirty="0"/>
          </a:p>
        </p:txBody>
      </p:sp>
      <p:sp>
        <p:nvSpPr>
          <p:cNvPr id="9" name="Shape 7"/>
          <p:cNvSpPr/>
          <p:nvPr/>
        </p:nvSpPr>
        <p:spPr>
          <a:xfrm>
            <a:off x="1205018" y="2695997"/>
            <a:ext cx="4803563" cy="1318260"/>
          </a:xfrm>
          <a:prstGeom prst="rect">
            <a:avLst/>
          </a:prstGeom>
          <a:solidFill>
            <a:srgbClr val="E4F2E6"/>
          </a:solidFill>
          <a:ln/>
        </p:spPr>
      </p:sp>
      <p:sp>
        <p:nvSpPr>
          <p:cNvPr id="10" name="Text 8"/>
          <p:cNvSpPr/>
          <p:nvPr/>
        </p:nvSpPr>
        <p:spPr>
          <a:xfrm>
            <a:off x="1382818" y="2797597"/>
            <a:ext cx="458140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7D5A"/>
                </a:solidFill>
                <a:latin typeface="IBM Plex Sans" pitchFamily="34" charset="0"/>
                <a:ea typeface="IBM Plex Sans" pitchFamily="34" charset="-122"/>
                <a:cs typeface="IBM Plex Sans" pitchFamily="34" charset="-120"/>
              </a:rPr>
              <a:t>PADDING · space inside</a:t>
            </a:r>
            <a:endParaRPr lang="en-US" sz="1200" dirty="0"/>
          </a:p>
        </p:txBody>
      </p:sp>
      <p:sp>
        <p:nvSpPr>
          <p:cNvPr id="11" name="Text 9"/>
          <p:cNvSpPr/>
          <p:nvPr/>
        </p:nvSpPr>
        <p:spPr>
          <a:xfrm>
            <a:off x="1382818" y="3061754"/>
            <a:ext cx="4447963" cy="774700"/>
          </a:xfrm>
          <a:prstGeom prst="rect">
            <a:avLst/>
          </a:prstGeom>
          <a:solidFill>
            <a:srgbClr val="2F5FA8"/>
          </a:solidFill>
          <a:ln/>
        </p:spPr>
        <p:txBody>
          <a:bodyPr wrap="square" lIns="254000" tIns="241300" rIns="254000" bIns="241300" rtlCol="0" anchor="ctr">
            <a:normAutofit/>
          </a:bodyPr>
          <a:lstStyle/>
          <a:p>
            <a:pPr algn="ctr" indent="0" marL="0">
              <a:lnSpc>
                <a:spcPts val="2100"/>
              </a:lnSpc>
              <a:buNone/>
            </a:pPr>
            <a:r>
              <a:rPr lang="en-US" sz="1500" b="1" dirty="0">
                <a:solidFill>
                  <a:srgbClr val="F5F3EE"/>
                </a:solidFill>
                <a:latin typeface="IBM Plex Sans" pitchFamily="34" charset="0"/>
                <a:ea typeface="IBM Plex Sans" pitchFamily="34" charset="-122"/>
                <a:cs typeface="IBM Plex Sans" pitchFamily="34" charset="-120"/>
              </a:rPr>
              <a:t>CONTENT · text, image</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716818" y="2086825"/>
          <a:ext cx="4662382" cy="2171912"/>
        </p:xfrm>
        <a:graphic>
          <a:graphicData uri="http://schemas.openxmlformats.org/drawingml/2006/table">
            <a:tbl>
              <a:tblPr/>
              <a:tblGrid>
                <a:gridCol w="1958200"/>
                <a:gridCol w="2704181"/>
              </a:tblGrid>
              <a:tr h="384598">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Box part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Your phone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Content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The screen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Padding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Rubber case thickness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Border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Case’s outer rim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3351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Margin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Gap to the next phone on the desk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13" name="Text 1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p.14 · Section 7 · Viva Q7, Q8: margin vs padding</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1241848" cy="289560"/>
          </a:xfrm>
          <a:custGeom>
            <a:avLst/>
            <a:gdLst/>
            <a:ahLst/>
            <a:cxnLst/>
            <a:rect l="l" t="t" r="r" b="b"/>
            <a:pathLst>
              <a:path w="1241848" h="289560">
                <a:moveTo>
                  <a:pt x="144780" y="0"/>
                </a:moveTo>
                <a:lnTo>
                  <a:pt x="1097068" y="0"/>
                </a:lnTo>
                <a:arcTo hR="144780" wR="144780" stAng="16200000" swAng="5400000"/>
                <a:lnTo>
                  <a:pt x="1241848"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LEARN + DO</a:t>
            </a:r>
            <a:endParaRPr lang="en-US" sz="1200" dirty="0"/>
          </a:p>
        </p:txBody>
      </p:sp>
      <p:sp>
        <p:nvSpPr>
          <p:cNvPr id="3" name="Text 1"/>
          <p:cNvSpPr/>
          <p:nvPr/>
        </p:nvSpPr>
        <p:spPr>
          <a:xfrm>
            <a:off x="2181648" y="850900"/>
            <a:ext cx="302475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11:40 AM · 8 min · box-sizing toggle</a:t>
            </a:r>
            <a:endParaRPr lang="en-US" sz="1200" dirty="0"/>
          </a:p>
        </p:txBody>
      </p:sp>
      <p:sp>
        <p:nvSpPr>
          <p:cNvPr id="4" name="Text 2"/>
          <p:cNvSpPr/>
          <p:nvPr>
            <p:ph type="title"/>
          </p:nvPr>
        </p:nvSpPr>
        <p:spPr>
          <a:xfrm>
            <a:off x="812800" y="13055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1EA"/>
                </a:solidFill>
                <a:latin typeface="Space Grotesk" pitchFamily="34" charset="0"/>
                <a:ea typeface="Space Grotesk" pitchFamily="34" charset="-122"/>
                <a:cs typeface="Space Grotesk" pitchFamily="34" charset="-120"/>
              </a:rPr>
              <a:t>Why my 300px card is actually 350px wide</a:t>
            </a:r>
            <a:endParaRPr lang="en-US" sz="2800" dirty="0"/>
          </a:p>
        </p:txBody>
      </p:sp>
      <p:sp>
        <p:nvSpPr>
          <p:cNvPr id="5" name="Text 3"/>
          <p:cNvSpPr/>
          <p:nvPr/>
        </p:nvSpPr>
        <p:spPr>
          <a:xfrm>
            <a:off x="815975" y="1903090"/>
            <a:ext cx="3930650" cy="1846368"/>
          </a:xfrm>
          <a:prstGeom prst="roundRect">
            <a:avLst>
              <a:gd name="adj" fmla="val 3955"/>
            </a:avLst>
          </a:prstGeom>
          <a:solidFill>
            <a:srgbClr val="0D1220"/>
          </a:solidFill>
          <a:ln w="6350">
            <a:solidFill>
              <a:srgbClr val="2A3550"/>
            </a:solidFill>
            <a:prstDash val="solid"/>
          </a:ln>
        </p:spPr>
        <p:txBody>
          <a:bodyPr wrap="square" lIns="158846" tIns="158846" rIns="51740" bIns="133446" rtlCol="0" anchor="t">
            <a:normAutofit/>
          </a:bodyPr>
          <a:lstStyle/>
          <a:p>
            <a:pPr algn="l" indent="0" marL="0">
              <a:lnSpc>
                <a:spcPts val="1950"/>
              </a:lnSpc>
              <a:buNone/>
            </a:pPr>
            <a:r>
              <a:rPr lang="en-US" sz="1300" dirty="0">
                <a:solidFill>
                  <a:srgbClr val="F2994A"/>
                </a:solidFill>
                <a:latin typeface="JetBrains Mono" pitchFamily="49" charset="0"/>
                <a:ea typeface="JetBrains Mono" pitchFamily="49" charset="-122"/>
                <a:cs typeface="JetBrains Mono" pitchFamily="49" charset="-120"/>
              </a:rPr>
              <a:t>.card</a:t>
            </a:r>
            <a:r>
              <a:rPr lang="en-US" sz="1300" dirty="0">
                <a:solidFill>
                  <a:srgbClr val="E3E8F1"/>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3E8F1"/>
                </a:solidFill>
                <a:latin typeface="JetBrains Mono" pitchFamily="49" charset="0"/>
                <a:ea typeface="JetBrains Mono" pitchFamily="49" charset="-122"/>
                <a:cs typeface="JetBrains Mono" pitchFamily="49" charset="-120"/>
              </a:rPr>
              <a:t>  width: 300px;</a:t>
            </a:r>
            <a:endParaRPr lang="en-US" sz="1300" dirty="0"/>
          </a:p>
          <a:p>
            <a:pPr algn="l" indent="0" marL="0">
              <a:lnSpc>
                <a:spcPts val="1950"/>
              </a:lnSpc>
              <a:buNone/>
            </a:pPr>
            <a:r>
              <a:rPr lang="en-US" sz="1300" dirty="0">
                <a:solidFill>
                  <a:srgbClr val="E3E8F1"/>
                </a:solidFill>
                <a:latin typeface="JetBrains Mono" pitchFamily="49" charset="0"/>
                <a:ea typeface="JetBrains Mono" pitchFamily="49" charset="-122"/>
                <a:cs typeface="JetBrains Mono" pitchFamily="49" charset="-120"/>
              </a:rPr>
              <a:t>  padding: 20px;</a:t>
            </a:r>
            <a:endParaRPr lang="en-US" sz="1300" dirty="0"/>
          </a:p>
          <a:p>
            <a:pPr algn="l" indent="0" marL="0">
              <a:lnSpc>
                <a:spcPts val="1950"/>
              </a:lnSpc>
              <a:buNone/>
            </a:pPr>
            <a:r>
              <a:rPr lang="en-US" sz="1300" dirty="0">
                <a:solidFill>
                  <a:srgbClr val="E3E8F1"/>
                </a:solidFill>
                <a:latin typeface="JetBrains Mono" pitchFamily="49" charset="0"/>
                <a:ea typeface="JetBrains Mono" pitchFamily="49" charset="-122"/>
                <a:cs typeface="JetBrains Mono" pitchFamily="49" charset="-120"/>
              </a:rPr>
              <a:t>  border: 5px solid navy;</a:t>
            </a:r>
            <a:endParaRPr lang="en-US" sz="1300" dirty="0"/>
          </a:p>
          <a:p>
            <a:pPr algn="l" indent="0" marL="0">
              <a:lnSpc>
                <a:spcPts val="1950"/>
              </a:lnSpc>
              <a:buNone/>
            </a:pPr>
            <a:r>
              <a:rPr lang="en-US" sz="1300" dirty="0">
                <a:solidFill>
                  <a:srgbClr val="E3E8F1"/>
                </a:solidFill>
                <a:latin typeface="JetBrains Mono" pitchFamily="49" charset="0"/>
                <a:ea typeface="JetBrains Mono" pitchFamily="49" charset="-122"/>
                <a:cs typeface="JetBrains Mono" pitchFamily="49" charset="-120"/>
              </a:rPr>
              <a:t>  box-sizing: </a:t>
            </a:r>
            <a:r>
              <a:rPr lang="en-US" sz="1300" dirty="0">
                <a:solidFill>
                  <a:srgbClr val="7FD1A1"/>
                </a:solidFill>
                <a:latin typeface="JetBrains Mono" pitchFamily="49" charset="0"/>
                <a:ea typeface="JetBrains Mono" pitchFamily="49" charset="-122"/>
                <a:cs typeface="JetBrains Mono" pitchFamily="49" charset="-120"/>
              </a:rPr>
              <a:t>content-box</a:t>
            </a:r>
            <a:r>
              <a:rPr lang="en-US" sz="1300" dirty="0">
                <a:solidFill>
                  <a:srgbClr val="E3E8F1"/>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3E8F1"/>
                </a:solidFill>
                <a:latin typeface="JetBrains Mono" pitchFamily="49" charset="0"/>
                <a:ea typeface="JetBrains Mono" pitchFamily="49" charset="-122"/>
                <a:cs typeface="JetBrains Mono" pitchFamily="49" charset="-120"/>
              </a:rPr>
              <a:t>}</a:t>
            </a:r>
            <a:endParaRPr lang="en-US" sz="1300" dirty="0"/>
          </a:p>
        </p:txBody>
      </p:sp>
      <p:sp>
        <p:nvSpPr>
          <p:cNvPr id="6" name="Text 4"/>
          <p:cNvSpPr/>
          <p:nvPr/>
        </p:nvSpPr>
        <p:spPr>
          <a:xfrm>
            <a:off x="883920" y="3879639"/>
            <a:ext cx="3976370" cy="768350"/>
          </a:xfrm>
          <a:prstGeom prst="rect">
            <a:avLst/>
          </a:prstGeom>
          <a:noFill/>
          <a:ln/>
        </p:spPr>
        <p:txBody>
          <a:bodyPr wrap="square" lIns="0" tIns="0" rIns="0" bIns="0" rtlCol="0" anchor="t">
            <a:normAutofit/>
          </a:bodyPr>
          <a:lstStyle/>
          <a:p>
            <a:pPr algn="l" marL="182880" indent="-182880">
              <a:lnSpc>
                <a:spcPts val="1950"/>
              </a:lnSpc>
              <a:buSzPct val="100000"/>
              <a:buFontTx/>
              <a:buAutoNum type="arabicPeriod" startAt="1"/>
            </a:pPr>
            <a:r>
              <a:rPr lang="en-US" sz="1300" dirty="0">
                <a:solidFill>
                  <a:srgbClr val="E3E8F1"/>
                </a:solidFill>
                <a:latin typeface="IBM Plex Sans" pitchFamily="34" charset="0"/>
                <a:ea typeface="IBM Plex Sans" pitchFamily="34" charset="-122"/>
                <a:cs typeface="IBM Plex Sans" pitchFamily="34" charset="-120"/>
              </a:rPr>
              <a:t>Add this class to a div, inspect it</a:t>
            </a:r>
            <a:endParaRPr lang="en-US" sz="1300" dirty="0"/>
          </a:p>
          <a:p>
            <a:pPr algn="l" marL="182880" indent="-182880">
              <a:lnSpc>
                <a:spcPts val="1950"/>
              </a:lnSpc>
              <a:buSzPct val="100000"/>
              <a:buFontTx/>
              <a:buAutoNum type="arabicPeriod" startAt="1"/>
            </a:pPr>
            <a:r>
              <a:rPr lang="en-US" sz="1300" dirty="0">
                <a:solidFill>
                  <a:srgbClr val="E3E8F1"/>
                </a:solidFill>
                <a:latin typeface="IBM Plex Sans" pitchFamily="34" charset="0"/>
                <a:ea typeface="IBM Plex Sans" pitchFamily="34" charset="-122"/>
                <a:cs typeface="IBM Plex Sans" pitchFamily="34" charset="-120"/>
              </a:rPr>
              <a:t>Read the width in DevTools: 350</a:t>
            </a:r>
            <a:endParaRPr lang="en-US" sz="1300" dirty="0"/>
          </a:p>
          <a:p>
            <a:pPr algn="l" marL="182880" indent="-182880">
              <a:lnSpc>
                <a:spcPts val="1950"/>
              </a:lnSpc>
              <a:buSzPct val="100000"/>
              <a:buFontTx/>
              <a:buAutoNum type="arabicPeriod" startAt="1"/>
            </a:pPr>
            <a:r>
              <a:rPr lang="en-US" sz="1300" dirty="0">
                <a:solidFill>
                  <a:srgbClr val="E3E8F1"/>
                </a:solidFill>
                <a:latin typeface="IBM Plex Sans" pitchFamily="34" charset="0"/>
                <a:ea typeface="IBM Plex Sans" pitchFamily="34" charset="-122"/>
                <a:cs typeface="IBM Plex Sans" pitchFamily="34" charset="-120"/>
              </a:rPr>
              <a:t>Change to </a:t>
            </a:r>
            <a:r>
              <a:rPr lang="en-US" sz="1300" b="1" dirty="0">
                <a:solidFill>
                  <a:srgbClr val="E3E8F1"/>
                </a:solidFill>
                <a:latin typeface="IBM Plex Sans" pitchFamily="34" charset="0"/>
                <a:ea typeface="IBM Plex Sans" pitchFamily="34" charset="-122"/>
                <a:cs typeface="IBM Plex Sans" pitchFamily="34" charset="-120"/>
              </a:rPr>
              <a:t>border-box</a:t>
            </a:r>
            <a:r>
              <a:rPr lang="en-US" sz="1300" dirty="0">
                <a:solidFill>
                  <a:srgbClr val="E3E8F1"/>
                </a:solidFill>
                <a:latin typeface="IBM Plex Sans" pitchFamily="34" charset="0"/>
                <a:ea typeface="IBM Plex Sans" pitchFamily="34" charset="-122"/>
                <a:cs typeface="IBM Plex Sans" pitchFamily="34" charset="-120"/>
              </a:rPr>
              <a:t>, read again: 300</a:t>
            </a:r>
            <a:endParaRPr lang="en-US" sz="1300" dirty="0"/>
          </a:p>
        </p:txBody>
      </p:sp>
      <p:sp>
        <p:nvSpPr>
          <p:cNvPr id="7" name="Text 5"/>
          <p:cNvSpPr/>
          <p:nvPr/>
        </p:nvSpPr>
        <p:spPr>
          <a:xfrm>
            <a:off x="5054600" y="1899915"/>
            <a:ext cx="65143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3F1EA"/>
                </a:solidFill>
                <a:latin typeface="IBM Plex Sans" pitchFamily="34" charset="0"/>
                <a:ea typeface="IBM Plex Sans" pitchFamily="34" charset="-122"/>
                <a:cs typeface="IBM Plex Sans" pitchFamily="34" charset="-120"/>
              </a:rPr>
              <a:t>content-box</a:t>
            </a:r>
            <a:r>
              <a:rPr lang="en-US" sz="1300" dirty="0">
                <a:solidFill>
                  <a:srgbClr val="B9C2D3"/>
                </a:solidFill>
                <a:latin typeface="IBM Plex Sans" pitchFamily="34" charset="0"/>
                <a:ea typeface="IBM Plex Sans" pitchFamily="34" charset="-122"/>
                <a:cs typeface="IBM Plex Sans" pitchFamily="34" charset="-120"/>
              </a:rPr>
              <a:t> (browser default): width = content only</a:t>
            </a:r>
            <a:endParaRPr lang="en-US" sz="1300" dirty="0"/>
          </a:p>
        </p:txBody>
      </p:sp>
      <p:sp>
        <p:nvSpPr>
          <p:cNvPr id="8" name="Shape 6"/>
          <p:cNvSpPr/>
          <p:nvPr/>
        </p:nvSpPr>
        <p:spPr>
          <a:xfrm>
            <a:off x="5054600" y="2207258"/>
            <a:ext cx="63500" cy="406400"/>
          </a:xfrm>
          <a:prstGeom prst="rect">
            <a:avLst/>
          </a:prstGeom>
          <a:solidFill>
            <a:srgbClr val="8DB4F0"/>
          </a:solidFill>
          <a:ln/>
        </p:spPr>
      </p:sp>
      <p:sp>
        <p:nvSpPr>
          <p:cNvPr id="9" name="Shape 7"/>
          <p:cNvSpPr/>
          <p:nvPr/>
        </p:nvSpPr>
        <p:spPr>
          <a:xfrm>
            <a:off x="5118100" y="2207258"/>
            <a:ext cx="254000" cy="406400"/>
          </a:xfrm>
          <a:prstGeom prst="rect">
            <a:avLst/>
          </a:prstGeom>
          <a:solidFill>
            <a:srgbClr val="7FD1A1"/>
          </a:solidFill>
          <a:ln/>
        </p:spPr>
      </p:sp>
      <p:sp>
        <p:nvSpPr>
          <p:cNvPr id="10" name="Shape 8"/>
          <p:cNvSpPr/>
          <p:nvPr/>
        </p:nvSpPr>
        <p:spPr>
          <a:xfrm>
            <a:off x="5372100" y="2207258"/>
            <a:ext cx="3810000" cy="406400"/>
          </a:xfrm>
          <a:prstGeom prst="rect">
            <a:avLst/>
          </a:prstGeom>
          <a:solidFill>
            <a:srgbClr val="2F5FA8"/>
          </a:solidFill>
          <a:ln/>
        </p:spPr>
      </p:sp>
      <p:sp>
        <p:nvSpPr>
          <p:cNvPr id="11" name="Shape 9"/>
          <p:cNvSpPr/>
          <p:nvPr/>
        </p:nvSpPr>
        <p:spPr>
          <a:xfrm>
            <a:off x="9182100" y="2207258"/>
            <a:ext cx="254000" cy="406400"/>
          </a:xfrm>
          <a:prstGeom prst="rect">
            <a:avLst/>
          </a:prstGeom>
          <a:solidFill>
            <a:srgbClr val="7FD1A1"/>
          </a:solidFill>
          <a:ln/>
        </p:spPr>
      </p:sp>
      <p:sp>
        <p:nvSpPr>
          <p:cNvPr id="12" name="Shape 10"/>
          <p:cNvSpPr/>
          <p:nvPr/>
        </p:nvSpPr>
        <p:spPr>
          <a:xfrm>
            <a:off x="9436100" y="2207258"/>
            <a:ext cx="63500" cy="406400"/>
          </a:xfrm>
          <a:prstGeom prst="rect">
            <a:avLst/>
          </a:prstGeom>
          <a:solidFill>
            <a:srgbClr val="8DB4F0"/>
          </a:solidFill>
          <a:ln/>
        </p:spPr>
      </p:sp>
      <p:sp>
        <p:nvSpPr>
          <p:cNvPr id="13" name="Text 11"/>
          <p:cNvSpPr/>
          <p:nvPr/>
        </p:nvSpPr>
        <p:spPr>
          <a:xfrm>
            <a:off x="5054600" y="2689858"/>
            <a:ext cx="651433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994A"/>
                </a:solidFill>
                <a:latin typeface="JetBrains Mono" pitchFamily="49" charset="0"/>
                <a:ea typeface="JetBrains Mono" pitchFamily="49" charset="-122"/>
                <a:cs typeface="JetBrains Mono" pitchFamily="49" charset="-120"/>
              </a:rPr>
              <a:t>5 + 20 + 300 + 20 + 5 = 350px</a:t>
            </a:r>
            <a:endParaRPr lang="en-US" sz="1300" dirty="0"/>
          </a:p>
        </p:txBody>
      </p:sp>
      <p:sp>
        <p:nvSpPr>
          <p:cNvPr id="14" name="Text 12"/>
          <p:cNvSpPr/>
          <p:nvPr/>
        </p:nvSpPr>
        <p:spPr>
          <a:xfrm>
            <a:off x="5054600" y="3098800"/>
            <a:ext cx="65143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3F1EA"/>
                </a:solidFill>
                <a:latin typeface="IBM Plex Sans" pitchFamily="34" charset="0"/>
                <a:ea typeface="IBM Plex Sans" pitchFamily="34" charset="-122"/>
                <a:cs typeface="IBM Plex Sans" pitchFamily="34" charset="-120"/>
              </a:rPr>
              <a:t>border-box</a:t>
            </a:r>
            <a:r>
              <a:rPr lang="en-US" sz="1300" dirty="0">
                <a:solidFill>
                  <a:srgbClr val="B9C2D3"/>
                </a:solidFill>
                <a:latin typeface="IBM Plex Sans" pitchFamily="34" charset="0"/>
                <a:ea typeface="IBM Plex Sans" pitchFamily="34" charset="-122"/>
                <a:cs typeface="IBM Plex Sans" pitchFamily="34" charset="-120"/>
              </a:rPr>
              <a:t>: width includes padding + border</a:t>
            </a:r>
            <a:endParaRPr lang="en-US" sz="1300" dirty="0"/>
          </a:p>
        </p:txBody>
      </p:sp>
      <p:sp>
        <p:nvSpPr>
          <p:cNvPr id="15" name="Shape 13"/>
          <p:cNvSpPr/>
          <p:nvPr/>
        </p:nvSpPr>
        <p:spPr>
          <a:xfrm>
            <a:off x="5054600" y="3406142"/>
            <a:ext cx="63500" cy="406400"/>
          </a:xfrm>
          <a:prstGeom prst="rect">
            <a:avLst/>
          </a:prstGeom>
          <a:solidFill>
            <a:srgbClr val="8DB4F0"/>
          </a:solidFill>
          <a:ln/>
        </p:spPr>
      </p:sp>
      <p:sp>
        <p:nvSpPr>
          <p:cNvPr id="16" name="Shape 14"/>
          <p:cNvSpPr/>
          <p:nvPr/>
        </p:nvSpPr>
        <p:spPr>
          <a:xfrm>
            <a:off x="5118100" y="3406142"/>
            <a:ext cx="254000" cy="406400"/>
          </a:xfrm>
          <a:prstGeom prst="rect">
            <a:avLst/>
          </a:prstGeom>
          <a:solidFill>
            <a:srgbClr val="7FD1A1"/>
          </a:solidFill>
          <a:ln/>
        </p:spPr>
      </p:sp>
      <p:sp>
        <p:nvSpPr>
          <p:cNvPr id="17" name="Shape 15"/>
          <p:cNvSpPr/>
          <p:nvPr/>
        </p:nvSpPr>
        <p:spPr>
          <a:xfrm>
            <a:off x="5372100" y="3406142"/>
            <a:ext cx="3175000" cy="406400"/>
          </a:xfrm>
          <a:prstGeom prst="rect">
            <a:avLst/>
          </a:prstGeom>
          <a:solidFill>
            <a:srgbClr val="2F5FA8"/>
          </a:solidFill>
          <a:ln/>
        </p:spPr>
      </p:sp>
      <p:sp>
        <p:nvSpPr>
          <p:cNvPr id="18" name="Shape 16"/>
          <p:cNvSpPr/>
          <p:nvPr/>
        </p:nvSpPr>
        <p:spPr>
          <a:xfrm>
            <a:off x="8547100" y="3406142"/>
            <a:ext cx="254000" cy="406400"/>
          </a:xfrm>
          <a:prstGeom prst="rect">
            <a:avLst/>
          </a:prstGeom>
          <a:solidFill>
            <a:srgbClr val="7FD1A1"/>
          </a:solidFill>
          <a:ln/>
        </p:spPr>
      </p:sp>
      <p:sp>
        <p:nvSpPr>
          <p:cNvPr id="19" name="Shape 17"/>
          <p:cNvSpPr/>
          <p:nvPr/>
        </p:nvSpPr>
        <p:spPr>
          <a:xfrm>
            <a:off x="8801100" y="3406142"/>
            <a:ext cx="63500" cy="406400"/>
          </a:xfrm>
          <a:prstGeom prst="rect">
            <a:avLst/>
          </a:prstGeom>
          <a:solidFill>
            <a:srgbClr val="8DB4F0"/>
          </a:solidFill>
          <a:ln/>
        </p:spPr>
      </p:sp>
      <p:sp>
        <p:nvSpPr>
          <p:cNvPr id="20" name="Text 18"/>
          <p:cNvSpPr/>
          <p:nvPr/>
        </p:nvSpPr>
        <p:spPr>
          <a:xfrm>
            <a:off x="5054600" y="3888742"/>
            <a:ext cx="651433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7FD1A1"/>
                </a:solidFill>
                <a:latin typeface="JetBrains Mono" pitchFamily="49" charset="0"/>
                <a:ea typeface="JetBrains Mono" pitchFamily="49" charset="-122"/>
                <a:cs typeface="JetBrains Mono" pitchFamily="49" charset="-120"/>
              </a:rPr>
              <a:t>total = 300px exactly</a:t>
            </a:r>
            <a:endParaRPr lang="en-US" sz="1300" dirty="0"/>
          </a:p>
        </p:txBody>
      </p:sp>
      <p:sp>
        <p:nvSpPr>
          <p:cNvPr id="21" name="Text 19"/>
          <p:cNvSpPr/>
          <p:nvPr/>
        </p:nvSpPr>
        <p:spPr>
          <a:xfrm>
            <a:off x="5054600" y="4297685"/>
            <a:ext cx="651433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2D3"/>
                </a:solidFill>
                <a:latin typeface="IBM Plex Sans" pitchFamily="34" charset="0"/>
                <a:ea typeface="IBM Plex Sans" pitchFamily="34" charset="-122"/>
                <a:cs typeface="IBM Plex Sans" pitchFamily="34" charset="-120"/>
              </a:rPr>
              <a:t>That’s why line 1 of our style.css sets border-box for everything.</a:t>
            </a:r>
            <a:endParaRPr lang="en-US" sz="1300" dirty="0"/>
          </a:p>
        </p:txBody>
      </p:sp>
      <p:sp>
        <p:nvSpPr>
          <p:cNvPr id="22" name="Text 2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Manual p.14 · Section 7.1 · Viva Q11 · Light blue = border, green = padding, dark blue = content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163042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11:48 AM · Flexbox</a:t>
            </a:r>
            <a:endParaRPr lang="en-US" sz="1200" dirty="0"/>
          </a:p>
        </p:txBody>
      </p:sp>
      <p:sp>
        <p:nvSpPr>
          <p:cNvPr id="4" name="Text 2"/>
          <p:cNvSpPr/>
          <p:nvPr>
            <p:ph type="title"/>
          </p:nvPr>
        </p:nvSpPr>
        <p:spPr>
          <a:xfrm>
            <a:off x="812800" y="13055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Flexbox lines items up along one axis</a:t>
            </a:r>
            <a:endParaRPr lang="en-US" sz="3000" dirty="0"/>
          </a:p>
        </p:txBody>
      </p:sp>
      <p:sp>
        <p:nvSpPr>
          <p:cNvPr id="5" name="Shape 3"/>
          <p:cNvSpPr/>
          <p:nvPr/>
        </p:nvSpPr>
        <p:spPr>
          <a:xfrm>
            <a:off x="819150" y="1934208"/>
            <a:ext cx="5067300" cy="2273300"/>
          </a:xfrm>
          <a:prstGeom prst="roundRect">
            <a:avLst>
              <a:gd name="adj" fmla="val 3073"/>
            </a:avLst>
          </a:prstGeom>
          <a:solidFill>
            <a:srgbClr val="FFFFFF"/>
          </a:solidFill>
          <a:ln w="12700">
            <a:solidFill>
              <a:srgbClr val="2F5FA8"/>
            </a:solidFill>
            <a:prstDash val="solid"/>
          </a:ln>
        </p:spPr>
      </p:sp>
      <p:sp>
        <p:nvSpPr>
          <p:cNvPr id="6" name="Text 4"/>
          <p:cNvSpPr/>
          <p:nvPr/>
        </p:nvSpPr>
        <p:spPr>
          <a:xfrm>
            <a:off x="965200" y="2029458"/>
            <a:ext cx="32702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FA8"/>
                </a:solidFill>
                <a:latin typeface="JetBrains Mono" pitchFamily="49" charset="0"/>
                <a:ea typeface="JetBrains Mono" pitchFamily="49" charset="-122"/>
                <a:cs typeface="JetBrains Mono" pitchFamily="49" charset="-120"/>
              </a:rPr>
              <a:t>.cards { display: flex; }</a:t>
            </a:r>
            <a:endParaRPr lang="en-US" sz="1200" dirty="0"/>
          </a:p>
        </p:txBody>
      </p:sp>
      <p:sp>
        <p:nvSpPr>
          <p:cNvPr id="7" name="Shape 5"/>
          <p:cNvSpPr/>
          <p:nvPr/>
        </p:nvSpPr>
        <p:spPr>
          <a:xfrm>
            <a:off x="1193800" y="2626370"/>
            <a:ext cx="1143000" cy="889000"/>
          </a:xfrm>
          <a:prstGeom prst="roundRect">
            <a:avLst>
              <a:gd name="adj" fmla="val 7143"/>
            </a:avLst>
          </a:prstGeom>
          <a:solidFill>
            <a:srgbClr val="F2994A"/>
          </a:solidFill>
          <a:ln/>
        </p:spPr>
      </p:sp>
      <p:sp>
        <p:nvSpPr>
          <p:cNvPr id="8" name="Shape 6"/>
          <p:cNvSpPr/>
          <p:nvPr/>
        </p:nvSpPr>
        <p:spPr>
          <a:xfrm>
            <a:off x="2781300" y="2626370"/>
            <a:ext cx="1143000" cy="889000"/>
          </a:xfrm>
          <a:prstGeom prst="roundRect">
            <a:avLst>
              <a:gd name="adj" fmla="val 7143"/>
            </a:avLst>
          </a:prstGeom>
          <a:solidFill>
            <a:srgbClr val="F2994A"/>
          </a:solidFill>
          <a:ln/>
        </p:spPr>
      </p:sp>
      <p:sp>
        <p:nvSpPr>
          <p:cNvPr id="9" name="Shape 7"/>
          <p:cNvSpPr/>
          <p:nvPr/>
        </p:nvSpPr>
        <p:spPr>
          <a:xfrm>
            <a:off x="4368800" y="2626370"/>
            <a:ext cx="1143000" cy="889000"/>
          </a:xfrm>
          <a:prstGeom prst="roundRect">
            <a:avLst>
              <a:gd name="adj" fmla="val 7143"/>
            </a:avLst>
          </a:prstGeom>
          <a:solidFill>
            <a:srgbClr val="F2994A"/>
          </a:solidFill>
          <a:ln/>
        </p:spPr>
      </p:sp>
      <p:pic>
        <p:nvPicPr>
          <p:cNvPr id="10" name="Image 0" descr="connector">    </p:cNvPr>
          <p:cNvPicPr>
            <a:picLocks noChangeAspect="1"/>
          </p:cNvPicPr>
          <p:nvPr/>
        </p:nvPicPr>
        <p:blipFill>
          <a:blip r:embed="rId1"/>
          <a:srcRect l="0" r="0" t="0" b="0"/>
          <a:stretch/>
        </p:blipFill>
        <p:spPr>
          <a:xfrm>
            <a:off x="1130300" y="3769370"/>
            <a:ext cx="4445000" cy="127000"/>
          </a:xfrm>
          <a:prstGeom prst="rect">
            <a:avLst/>
          </a:prstGeom>
        </p:spPr>
      </p:pic>
      <p:sp>
        <p:nvSpPr>
          <p:cNvPr id="11" name="Text 8"/>
          <p:cNvSpPr/>
          <p:nvPr/>
        </p:nvSpPr>
        <p:spPr>
          <a:xfrm>
            <a:off x="1129030" y="3896370"/>
            <a:ext cx="444754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531A"/>
                </a:solidFill>
                <a:latin typeface="IBM Plex Sans" pitchFamily="34" charset="0"/>
                <a:ea typeface="IBM Plex Sans" pitchFamily="34" charset="-122"/>
                <a:cs typeface="IBM Plex Sans" pitchFamily="34" charset="-120"/>
              </a:rPr>
              <a:t>main axis → justify-content</a:t>
            </a:r>
            <a:endParaRPr lang="en-US" sz="1200" dirty="0"/>
          </a:p>
        </p:txBody>
      </p:sp>
      <p:pic>
        <p:nvPicPr>
          <p:cNvPr id="12" name="Image 1" descr="connector">    </p:cNvPr>
          <p:cNvPicPr>
            <a:picLocks noChangeAspect="1"/>
          </p:cNvPicPr>
          <p:nvPr/>
        </p:nvPicPr>
        <p:blipFill>
          <a:blip r:embed="rId2"/>
          <a:srcRect l="0" r="0" t="0" b="0"/>
          <a:stretch/>
        </p:blipFill>
        <p:spPr>
          <a:xfrm>
            <a:off x="939800" y="2562870"/>
            <a:ext cx="127000" cy="1016000"/>
          </a:xfrm>
          <a:prstGeom prst="rect">
            <a:avLst/>
          </a:prstGeom>
        </p:spPr>
      </p:pic>
      <p:sp>
        <p:nvSpPr>
          <p:cNvPr id="13" name="Text 9"/>
          <p:cNvSpPr/>
          <p:nvPr/>
        </p:nvSpPr>
        <p:spPr>
          <a:xfrm>
            <a:off x="812800" y="4340870"/>
            <a:ext cx="52324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7D5A"/>
                </a:solidFill>
                <a:latin typeface="IBM Plex Sans" pitchFamily="34" charset="0"/>
                <a:ea typeface="IBM Plex Sans" pitchFamily="34" charset="-122"/>
                <a:cs typeface="IBM Plex Sans" pitchFamily="34" charset="-120"/>
              </a:rPr>
              <a:t>↓ cross axis → align-items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208818" y="1939076"/>
          <a:ext cx="5170382" cy="2863427"/>
        </p:xfrm>
        <a:graphic>
          <a:graphicData uri="http://schemas.openxmlformats.org/drawingml/2006/table">
            <a:tbl>
              <a:tblPr/>
              <a:tblGrid>
                <a:gridCol w="2378376"/>
                <a:gridCol w="2792006"/>
              </a:tblGrid>
              <a:tr h="357928">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Property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Does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display: flex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Turns on Flexbox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flex-direction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row or column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justify-content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Spread on main axis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align-items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Align on cross axis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flex-wrap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Allow new lines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gap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Even spacing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flex: 1 1 260px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Grow, shrink, start size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15" name="Text 10"/>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p.15 · Section 8 · Parent = flex container, children = flex items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1807104" cy="289560"/>
          </a:xfrm>
          <a:custGeom>
            <a:avLst/>
            <a:gdLst/>
            <a:ahLst/>
            <a:cxnLst/>
            <a:rect l="l" t="t" r="r" b="b"/>
            <a:pathLst>
              <a:path w="1807104" h="289560">
                <a:moveTo>
                  <a:pt x="144780" y="0"/>
                </a:moveTo>
                <a:lnTo>
                  <a:pt x="1662324" y="0"/>
                </a:lnTo>
                <a:arcTo hR="144780" wR="144780" stAng="16200000" swAng="5400000"/>
                <a:lnTo>
                  <a:pt x="1807104"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 · GAME</a:t>
            </a:r>
            <a:endParaRPr lang="en-US" sz="1200" dirty="0"/>
          </a:p>
        </p:txBody>
      </p:sp>
      <p:sp>
        <p:nvSpPr>
          <p:cNvPr id="3" name="Text 1"/>
          <p:cNvSpPr/>
          <p:nvPr/>
        </p:nvSpPr>
        <p:spPr>
          <a:xfrm>
            <a:off x="2746904" y="850900"/>
            <a:ext cx="37858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11:50 AM · 12 min · Human Flexbox + Froggy</a:t>
            </a:r>
            <a:endParaRPr lang="en-US" sz="1200" dirty="0"/>
          </a:p>
        </p:txBody>
      </p:sp>
      <p:sp>
        <p:nvSpPr>
          <p:cNvPr id="4" name="Text 2"/>
          <p:cNvSpPr/>
          <p:nvPr>
            <p:ph type="title"/>
          </p:nvPr>
        </p:nvSpPr>
        <p:spPr>
          <a:xfrm>
            <a:off x="812800" y="13055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3F1EA"/>
                </a:solidFill>
                <a:latin typeface="Space Grotesk" pitchFamily="34" charset="0"/>
                <a:ea typeface="Space Grotesk" pitchFamily="34" charset="-122"/>
                <a:cs typeface="Space Grotesk" pitchFamily="34" charset="-120"/>
              </a:rPr>
              <a:t>Be the flex items, then play the game</a:t>
            </a:r>
            <a:endParaRPr lang="en-US" sz="3000" dirty="0"/>
          </a:p>
        </p:txBody>
      </p:sp>
      <p:sp>
        <p:nvSpPr>
          <p:cNvPr id="5" name="Shape 3"/>
          <p:cNvSpPr/>
          <p:nvPr/>
        </p:nvSpPr>
        <p:spPr>
          <a:xfrm>
            <a:off x="812800" y="1927870"/>
            <a:ext cx="5156200" cy="2555240"/>
          </a:xfrm>
          <a:prstGeom prst="roundRect">
            <a:avLst>
              <a:gd name="adj" fmla="val 3976"/>
            </a:avLst>
          </a:prstGeom>
          <a:solidFill>
            <a:srgbClr val="1E2840"/>
          </a:solidFill>
          <a:ln/>
        </p:spPr>
      </p:sp>
      <p:sp>
        <p:nvSpPr>
          <p:cNvPr id="6" name="Text 4"/>
          <p:cNvSpPr/>
          <p:nvPr/>
        </p:nvSpPr>
        <p:spPr>
          <a:xfrm>
            <a:off x="1041400" y="2156470"/>
            <a:ext cx="483997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4F0"/>
                </a:solidFill>
                <a:latin typeface="IBM Plex Sans" pitchFamily="34" charset="0"/>
                <a:ea typeface="IBM Plex Sans" pitchFamily="34" charset="-122"/>
                <a:cs typeface="IBM Plex Sans" pitchFamily="34" charset="-120"/>
              </a:rPr>
              <a:t>ROUND 1 · HUMAN FLEXBOX (4 min)</a:t>
            </a:r>
            <a:endParaRPr lang="en-US" sz="1200" dirty="0"/>
          </a:p>
        </p:txBody>
      </p:sp>
      <p:sp>
        <p:nvSpPr>
          <p:cNvPr id="7" name="Text 5"/>
          <p:cNvSpPr/>
          <p:nvPr/>
        </p:nvSpPr>
        <p:spPr>
          <a:xfrm>
            <a:off x="1041400" y="2471415"/>
            <a:ext cx="483997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2D3"/>
                </a:solidFill>
                <a:latin typeface="IBM Plex Sans" pitchFamily="34" charset="0"/>
                <a:ea typeface="IBM Plex Sans" pitchFamily="34" charset="-122"/>
                <a:cs typeface="IBM Plex Sans" pitchFamily="34" charset="-120"/>
              </a:rPr>
              <a:t>5 volunteers stand at the front = flex items. Class calls out a rule:</a:t>
            </a:r>
            <a:endParaRPr lang="en-US" sz="1300" dirty="0"/>
          </a:p>
        </p:txBody>
      </p:sp>
      <p:sp>
        <p:nvSpPr>
          <p:cNvPr id="8" name="Text 6"/>
          <p:cNvSpPr/>
          <p:nvPr/>
        </p:nvSpPr>
        <p:spPr>
          <a:xfrm>
            <a:off x="1041400" y="3035300"/>
            <a:ext cx="4839970" cy="124460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E3E8F1"/>
                </a:solidFill>
                <a:latin typeface="JetBrains Mono" pitchFamily="49" charset="0"/>
                <a:ea typeface="JetBrains Mono" pitchFamily="49" charset="-122"/>
                <a:cs typeface="JetBrains Mono" pitchFamily="49" charset="-120"/>
              </a:rPr>
              <a:t>justify-content: </a:t>
            </a:r>
            <a:r>
              <a:rPr lang="en-US" sz="1200" dirty="0">
                <a:solidFill>
                  <a:srgbClr val="F2994A"/>
                </a:solidFill>
                <a:latin typeface="JetBrains Mono" pitchFamily="49" charset="0"/>
                <a:ea typeface="JetBrains Mono" pitchFamily="49" charset="-122"/>
                <a:cs typeface="JetBrains Mono" pitchFamily="49" charset="-120"/>
              </a:rPr>
              <a:t>center</a:t>
            </a:r>
            <a:endParaRPr lang="en-US" sz="1200" dirty="0"/>
          </a:p>
          <a:p>
            <a:pPr algn="l" indent="0" marL="0">
              <a:lnSpc>
                <a:spcPts val="1920"/>
              </a:lnSpc>
              <a:buNone/>
            </a:pPr>
            <a:r>
              <a:rPr lang="en-US" sz="1200" dirty="0">
                <a:solidFill>
                  <a:srgbClr val="E3E8F1"/>
                </a:solidFill>
                <a:latin typeface="JetBrains Mono" pitchFamily="49" charset="0"/>
                <a:ea typeface="JetBrains Mono" pitchFamily="49" charset="-122"/>
                <a:cs typeface="JetBrains Mono" pitchFamily="49" charset="-120"/>
              </a:rPr>
              <a:t>justify-content: </a:t>
            </a:r>
            <a:r>
              <a:rPr lang="en-US" sz="1200" dirty="0">
                <a:solidFill>
                  <a:srgbClr val="F2994A"/>
                </a:solidFill>
                <a:latin typeface="JetBrains Mono" pitchFamily="49" charset="0"/>
                <a:ea typeface="JetBrains Mono" pitchFamily="49" charset="-122"/>
                <a:cs typeface="JetBrains Mono" pitchFamily="49" charset="-120"/>
              </a:rPr>
              <a:t>space-between</a:t>
            </a:r>
            <a:endParaRPr lang="en-US" sz="1200" dirty="0"/>
          </a:p>
          <a:p>
            <a:pPr algn="l" indent="0" marL="0">
              <a:lnSpc>
                <a:spcPts val="1920"/>
              </a:lnSpc>
              <a:buNone/>
            </a:pPr>
            <a:r>
              <a:rPr lang="en-US" sz="1200" dirty="0">
                <a:solidFill>
                  <a:srgbClr val="E3E8F1"/>
                </a:solidFill>
                <a:latin typeface="JetBrains Mono" pitchFamily="49" charset="0"/>
                <a:ea typeface="JetBrains Mono" pitchFamily="49" charset="-122"/>
                <a:cs typeface="JetBrains Mono" pitchFamily="49" charset="-120"/>
              </a:rPr>
              <a:t>justify-content: </a:t>
            </a:r>
            <a:r>
              <a:rPr lang="en-US" sz="1200" dirty="0">
                <a:solidFill>
                  <a:srgbClr val="F2994A"/>
                </a:solidFill>
                <a:latin typeface="JetBrains Mono" pitchFamily="49" charset="0"/>
                <a:ea typeface="JetBrains Mono" pitchFamily="49" charset="-122"/>
                <a:cs typeface="JetBrains Mono" pitchFamily="49" charset="-120"/>
              </a:rPr>
              <a:t>space-evenly</a:t>
            </a:r>
            <a:endParaRPr lang="en-US" sz="1200" dirty="0"/>
          </a:p>
          <a:p>
            <a:pPr algn="l" indent="0" marL="0">
              <a:lnSpc>
                <a:spcPts val="1920"/>
              </a:lnSpc>
              <a:buNone/>
            </a:pPr>
            <a:r>
              <a:rPr lang="en-US" sz="1200" dirty="0">
                <a:solidFill>
                  <a:srgbClr val="E3E8F1"/>
                </a:solidFill>
                <a:latin typeface="JetBrains Mono" pitchFamily="49" charset="0"/>
                <a:ea typeface="JetBrains Mono" pitchFamily="49" charset="-122"/>
                <a:cs typeface="JetBrains Mono" pitchFamily="49" charset="-120"/>
              </a:rPr>
              <a:t>flex-direction: </a:t>
            </a:r>
            <a:r>
              <a:rPr lang="en-US" sz="1200" dirty="0">
                <a:solidFill>
                  <a:srgbClr val="F2994A"/>
                </a:solidFill>
                <a:latin typeface="JetBrains Mono" pitchFamily="49" charset="0"/>
                <a:ea typeface="JetBrains Mono" pitchFamily="49" charset="-122"/>
                <a:cs typeface="JetBrains Mono" pitchFamily="49" charset="-120"/>
              </a:rPr>
              <a:t>column</a:t>
            </a:r>
            <a:endParaRPr lang="en-US" sz="1200" dirty="0"/>
          </a:p>
          <a:p>
            <a:pPr algn="l" indent="0" marL="0">
              <a:lnSpc>
                <a:spcPts val="1920"/>
              </a:lnSpc>
              <a:buNone/>
            </a:pPr>
            <a:r>
              <a:rPr lang="en-US" sz="1200" dirty="0">
                <a:solidFill>
                  <a:srgbClr val="E3E8F1"/>
                </a:solidFill>
                <a:latin typeface="JetBrains Mono" pitchFamily="49" charset="0"/>
                <a:ea typeface="JetBrains Mono" pitchFamily="49" charset="-122"/>
                <a:cs typeface="JetBrains Mono" pitchFamily="49" charset="-120"/>
              </a:rPr>
              <a:t>align-items: </a:t>
            </a:r>
            <a:r>
              <a:rPr lang="en-US" sz="1200" dirty="0">
                <a:solidFill>
                  <a:srgbClr val="F2994A"/>
                </a:solidFill>
                <a:latin typeface="JetBrains Mono" pitchFamily="49" charset="0"/>
                <a:ea typeface="JetBrains Mono" pitchFamily="49" charset="-122"/>
                <a:cs typeface="JetBrains Mono" pitchFamily="49" charset="-120"/>
              </a:rPr>
              <a:t>flex-end</a:t>
            </a:r>
            <a:endParaRPr lang="en-US" sz="1200" dirty="0"/>
          </a:p>
        </p:txBody>
      </p:sp>
      <p:sp>
        <p:nvSpPr>
          <p:cNvPr id="9" name="Shape 7"/>
          <p:cNvSpPr/>
          <p:nvPr/>
        </p:nvSpPr>
        <p:spPr>
          <a:xfrm>
            <a:off x="6223000" y="1927870"/>
            <a:ext cx="5156200" cy="2555240"/>
          </a:xfrm>
          <a:prstGeom prst="roundRect">
            <a:avLst>
              <a:gd name="adj" fmla="val 3976"/>
            </a:avLst>
          </a:prstGeom>
          <a:solidFill>
            <a:srgbClr val="1E2840"/>
          </a:solidFill>
          <a:ln/>
        </p:spPr>
      </p:sp>
      <p:sp>
        <p:nvSpPr>
          <p:cNvPr id="10" name="Text 8"/>
          <p:cNvSpPr/>
          <p:nvPr/>
        </p:nvSpPr>
        <p:spPr>
          <a:xfrm>
            <a:off x="6451600" y="2156470"/>
            <a:ext cx="483997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94A"/>
                </a:solidFill>
                <a:latin typeface="IBM Plex Sans" pitchFamily="34" charset="0"/>
                <a:ea typeface="IBM Plex Sans" pitchFamily="34" charset="-122"/>
                <a:cs typeface="IBM Plex Sans" pitchFamily="34" charset="-120"/>
              </a:rPr>
              <a:t>ROUND 2 · FLEXBOX FROGGY (8 min)</a:t>
            </a:r>
            <a:endParaRPr lang="en-US" sz="1200" dirty="0"/>
          </a:p>
        </p:txBody>
      </p:sp>
      <p:sp>
        <p:nvSpPr>
          <p:cNvPr id="11" name="Text 9"/>
          <p:cNvSpPr/>
          <p:nvPr/>
        </p:nvSpPr>
        <p:spPr>
          <a:xfrm>
            <a:off x="6451600" y="24714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F1EA"/>
                </a:solidFill>
                <a:latin typeface="JetBrains Mono" pitchFamily="49" charset="0"/>
                <a:ea typeface="JetBrains Mono" pitchFamily="49" charset="-122"/>
                <a:cs typeface="JetBrains Mono" pitchFamily="49" charset="-120"/>
              </a:rPr>
              <a:t>flexboxfroggy.com</a:t>
            </a:r>
            <a:endParaRPr lang="en-US" sz="1500" dirty="0"/>
          </a:p>
        </p:txBody>
      </p:sp>
      <p:sp>
        <p:nvSpPr>
          <p:cNvPr id="12" name="Text 10"/>
          <p:cNvSpPr/>
          <p:nvPr/>
        </p:nvSpPr>
        <p:spPr>
          <a:xfrm>
            <a:off x="6522720" y="2839715"/>
            <a:ext cx="4761230" cy="768350"/>
          </a:xfrm>
          <a:prstGeom prst="rect">
            <a:avLst/>
          </a:prstGeom>
          <a:noFill/>
          <a:ln/>
        </p:spPr>
        <p:txBody>
          <a:bodyPr wrap="square" lIns="0" tIns="0" rIns="0" bIns="0" rtlCol="0" anchor="t">
            <a:normAutofit/>
          </a:bodyPr>
          <a:lstStyle/>
          <a:p>
            <a:pPr algn="l" marL="182880" indent="-182880">
              <a:lnSpc>
                <a:spcPts val="1950"/>
              </a:lnSpc>
              <a:buSzPct val="100000"/>
              <a:buFontTx/>
              <a:buAutoNum type="arabicPeriod" startAt="1"/>
            </a:pPr>
            <a:r>
              <a:rPr lang="en-US" sz="1300" dirty="0">
                <a:solidFill>
                  <a:srgbClr val="E3E8F1"/>
                </a:solidFill>
                <a:latin typeface="IBM Plex Sans" pitchFamily="34" charset="0"/>
                <a:ea typeface="IBM Plex Sans" pitchFamily="34" charset="-122"/>
                <a:cs typeface="IBM Plex Sans" pitchFamily="34" charset="-120"/>
              </a:rPr>
              <a:t>Get the frogs onto their lily pads</a:t>
            </a:r>
            <a:endParaRPr lang="en-US" sz="1300" dirty="0"/>
          </a:p>
          <a:p>
            <a:pPr algn="l" marL="182880" indent="-182880">
              <a:lnSpc>
                <a:spcPts val="1950"/>
              </a:lnSpc>
              <a:buSzPct val="100000"/>
              <a:buFontTx/>
              <a:buAutoNum type="arabicPeriod" startAt="1"/>
            </a:pPr>
            <a:r>
              <a:rPr lang="en-US" sz="1300" dirty="0">
                <a:solidFill>
                  <a:srgbClr val="E3E8F1"/>
                </a:solidFill>
                <a:latin typeface="IBM Plex Sans" pitchFamily="34" charset="0"/>
                <a:ea typeface="IBM Plex Sans" pitchFamily="34" charset="-122"/>
                <a:cs typeface="IBM Plex Sans" pitchFamily="34" charset="-120"/>
              </a:rPr>
              <a:t>Target: </a:t>
            </a:r>
            <a:r>
              <a:rPr lang="en-US" sz="1300" b="1" dirty="0">
                <a:solidFill>
                  <a:srgbClr val="E3E8F1"/>
                </a:solidFill>
                <a:latin typeface="IBM Plex Sans" pitchFamily="34" charset="0"/>
                <a:ea typeface="IBM Plex Sans" pitchFamily="34" charset="-122"/>
                <a:cs typeface="IBM Plex Sans" pitchFamily="34" charset="-120"/>
              </a:rPr>
              <a:t>level 10</a:t>
            </a:r>
            <a:r>
              <a:rPr lang="en-US" sz="1300" dirty="0">
                <a:solidFill>
                  <a:srgbClr val="E3E8F1"/>
                </a:solidFill>
                <a:latin typeface="IBM Plex Sans" pitchFamily="34" charset="0"/>
                <a:ea typeface="IBM Plex Sans" pitchFamily="34" charset="-122"/>
                <a:cs typeface="IBM Plex Sans" pitchFamily="34" charset="-120"/>
              </a:rPr>
              <a:t> in 8 minutes</a:t>
            </a:r>
            <a:endParaRPr lang="en-US" sz="1300" dirty="0"/>
          </a:p>
          <a:p>
            <a:pPr algn="l" marL="182880" indent="-182880">
              <a:lnSpc>
                <a:spcPts val="1950"/>
              </a:lnSpc>
              <a:buSzPct val="100000"/>
              <a:buFontTx/>
              <a:buAutoNum type="arabicPeriod" startAt="1"/>
            </a:pPr>
            <a:r>
              <a:rPr lang="en-US" sz="1300" dirty="0">
                <a:solidFill>
                  <a:srgbClr val="E3E8F1"/>
                </a:solidFill>
                <a:latin typeface="IBM Plex Sans" pitchFamily="34" charset="0"/>
                <a:ea typeface="IBM Plex Sans" pitchFamily="34" charset="-122"/>
                <a:cs typeface="IBM Plex Sans" pitchFamily="34" charset="-120"/>
              </a:rPr>
              <a:t>Reached level 13? Tech buddy!</a:t>
            </a:r>
            <a:endParaRPr lang="en-US" sz="1300" dirty="0"/>
          </a:p>
        </p:txBody>
      </p:sp>
      <p:sp>
        <p:nvSpPr>
          <p:cNvPr id="13" name="Text 11"/>
          <p:cNvSpPr/>
          <p:nvPr/>
        </p:nvSpPr>
        <p:spPr>
          <a:xfrm>
            <a:off x="6451600" y="3684265"/>
            <a:ext cx="48399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2D3"/>
                </a:solidFill>
                <a:latin typeface="IBM Plex Sans" pitchFamily="34" charset="0"/>
                <a:ea typeface="IBM Plex Sans" pitchFamily="34" charset="-122"/>
                <a:cs typeface="IBM Plex Sans" pitchFamily="34" charset="-120"/>
              </a:rPr>
              <a:t>Level number on your sticky note when time is up.</a:t>
            </a:r>
            <a:endParaRPr lang="en-US" sz="1200" dirty="0"/>
          </a:p>
        </p:txBody>
      </p:sp>
      <p:sp>
        <p:nvSpPr>
          <p:cNvPr id="14" name="Text 12"/>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No internet? Run Human Flexbox for 8 minutes with more rules instead</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2070947" cy="289560"/>
          </a:xfrm>
          <a:custGeom>
            <a:avLst/>
            <a:gdLst/>
            <a:ahLst/>
            <a:cxnLst/>
            <a:rect l="l" t="t" r="r" b="b"/>
            <a:pathLst>
              <a:path w="2070947" h="289560">
                <a:moveTo>
                  <a:pt x="144780" y="0"/>
                </a:moveTo>
                <a:lnTo>
                  <a:pt x="1926167" y="0"/>
                </a:lnTo>
                <a:arcTo hR="144780" wR="144780" stAng="16200000" swAng="5400000"/>
                <a:lnTo>
                  <a:pt x="2070947"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 · CHUNK 5</a:t>
            </a:r>
            <a:endParaRPr lang="en-US" sz="1200" dirty="0"/>
          </a:p>
        </p:txBody>
      </p:sp>
      <p:sp>
        <p:nvSpPr>
          <p:cNvPr id="3" name="Text 1"/>
          <p:cNvSpPr/>
          <p:nvPr/>
        </p:nvSpPr>
        <p:spPr>
          <a:xfrm>
            <a:off x="3010747" y="850900"/>
            <a:ext cx="342455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12:00 PM · 8 min · index.html + style.css</a:t>
            </a:r>
            <a:endParaRPr lang="en-US" sz="1200" dirty="0"/>
          </a:p>
        </p:txBody>
      </p:sp>
      <p:sp>
        <p:nvSpPr>
          <p:cNvPr id="4" name="Text 2"/>
          <p:cNvSpPr/>
          <p:nvPr>
            <p:ph type="title"/>
          </p:nvPr>
        </p:nvSpPr>
        <p:spPr>
          <a:xfrm>
            <a:off x="812800" y="13055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1EA"/>
                </a:solidFill>
                <a:latin typeface="Space Grotesk" pitchFamily="34" charset="0"/>
                <a:ea typeface="Space Grotesk" pitchFamily="34" charset="-122"/>
                <a:cs typeface="Space Grotesk" pitchFamily="34" charset="-120"/>
              </a:rPr>
              <a:t>Three project cards in a flexible row</a:t>
            </a:r>
            <a:endParaRPr lang="en-US" sz="2800" dirty="0"/>
          </a:p>
        </p:txBody>
      </p:sp>
      <p:sp>
        <p:nvSpPr>
          <p:cNvPr id="5" name="Shape 3"/>
          <p:cNvSpPr/>
          <p:nvPr/>
        </p:nvSpPr>
        <p:spPr>
          <a:xfrm>
            <a:off x="815975" y="1903090"/>
            <a:ext cx="5175250" cy="3794548"/>
          </a:xfrm>
          <a:prstGeom prst="roundRect">
            <a:avLst>
              <a:gd name="adj" fmla="val 2594"/>
            </a:avLst>
          </a:prstGeom>
          <a:solidFill>
            <a:srgbClr val="0D1220"/>
          </a:solidFill>
          <a:ln w="6350">
            <a:solidFill>
              <a:srgbClr val="2A3550"/>
            </a:solidFill>
            <a:prstDash val="solid"/>
          </a:ln>
        </p:spPr>
      </p:sp>
      <p:sp>
        <p:nvSpPr>
          <p:cNvPr id="6" name="Text 4"/>
          <p:cNvSpPr/>
          <p:nvPr/>
        </p:nvSpPr>
        <p:spPr>
          <a:xfrm>
            <a:off x="1021609" y="2108721"/>
            <a:ext cx="490690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BA3"/>
                </a:solidFill>
                <a:latin typeface="IBM Plex Sans" pitchFamily="34" charset="0"/>
                <a:ea typeface="IBM Plex Sans" pitchFamily="34" charset="-122"/>
                <a:cs typeface="IBM Plex Sans" pitchFamily="34" charset="-120"/>
              </a:rPr>
              <a:t>INDEX.HTML · before #contact</a:t>
            </a:r>
            <a:endParaRPr lang="en-US" sz="1200" dirty="0"/>
          </a:p>
        </p:txBody>
      </p:sp>
      <p:sp>
        <p:nvSpPr>
          <p:cNvPr id="7" name="Text 5"/>
          <p:cNvSpPr/>
          <p:nvPr/>
        </p:nvSpPr>
        <p:spPr>
          <a:xfrm>
            <a:off x="1021609" y="2398291"/>
            <a:ext cx="4906901" cy="24561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&lt;section id="</a:t>
            </a:r>
            <a:r>
              <a:rPr lang="en-US" sz="1200" dirty="0">
                <a:solidFill>
                  <a:srgbClr val="7FD1A1"/>
                </a:solidFill>
                <a:latin typeface="JetBrains Mono" pitchFamily="49" charset="0"/>
                <a:ea typeface="JetBrains Mono" pitchFamily="49" charset="-122"/>
                <a:cs typeface="JetBrains Mono" pitchFamily="49" charset="-120"/>
              </a:rPr>
              <a:t>projects</a:t>
            </a:r>
            <a:r>
              <a:rPr lang="en-US" sz="1200" dirty="0">
                <a:solidFill>
                  <a:srgbClr val="E3E8F1"/>
                </a:solidFill>
                <a:latin typeface="JetBrains Mono" pitchFamily="49" charset="0"/>
                <a:ea typeface="JetBrains Mono" pitchFamily="49" charset="-122"/>
                <a:cs typeface="JetBrains Mono" pitchFamily="49" charset="-120"/>
              </a:rPr>
              <a:t>"&gt;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&lt;h2&gt;Projects&lt;/h2&gt;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&lt;div class="</a:t>
            </a:r>
            <a:r>
              <a:rPr lang="en-US" sz="1200" dirty="0">
                <a:solidFill>
                  <a:srgbClr val="F2994A"/>
                </a:solidFill>
                <a:latin typeface="JetBrains Mono" pitchFamily="49" charset="0"/>
                <a:ea typeface="JetBrains Mono" pitchFamily="49" charset="-122"/>
                <a:cs typeface="JetBrains Mono" pitchFamily="49" charset="-120"/>
              </a:rPr>
              <a:t>cards</a:t>
            </a:r>
            <a:r>
              <a:rPr lang="en-US" sz="1200" dirty="0">
                <a:solidFill>
                  <a:srgbClr val="E3E8F1"/>
                </a:solidFill>
                <a:latin typeface="JetBrains Mono" pitchFamily="49" charset="0"/>
                <a:ea typeface="JetBrains Mono" pitchFamily="49" charset="-122"/>
                <a:cs typeface="JetBrains Mono" pitchFamily="49" charset="-120"/>
              </a:rPr>
              <a:t>"&gt;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&lt;article class="</a:t>
            </a:r>
            <a:r>
              <a:rPr lang="en-US" sz="1200" dirty="0">
                <a:solidFill>
                  <a:srgbClr val="F2994A"/>
                </a:solidFill>
                <a:latin typeface="JetBrains Mono" pitchFamily="49" charset="0"/>
                <a:ea typeface="JetBrains Mono" pitchFamily="49" charset="-122"/>
                <a:cs typeface="JetBrains Mono" pitchFamily="49" charset="-120"/>
              </a:rPr>
              <a:t>card</a:t>
            </a:r>
            <a:r>
              <a:rPr lang="en-US" sz="1200" dirty="0">
                <a:solidFill>
                  <a:srgbClr val="E3E8F1"/>
                </a:solidFill>
                <a:latin typeface="JetBrains Mono" pitchFamily="49" charset="0"/>
                <a:ea typeface="JetBrains Mono" pitchFamily="49" charset="-122"/>
                <a:cs typeface="JetBrains Mono" pitchFamily="49" charset="-120"/>
              </a:rPr>
              <a:t>"&gt;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&lt;h3&gt;Portfolio&lt;/h3&gt;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&lt;p&gt;This website.&lt;/p&gt;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&lt;/article&gt;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a:t>
            </a:r>
            <a:r>
              <a:rPr lang="en-US" sz="1200" dirty="0">
                <a:solidFill>
                  <a:srgbClr val="7F8BA3"/>
                </a:solidFill>
                <a:latin typeface="JetBrains Mono" pitchFamily="49" charset="0"/>
                <a:ea typeface="JetBrains Mono" pitchFamily="49" charset="-122"/>
                <a:cs typeface="JetBrains Mono" pitchFamily="49" charset="-120"/>
              </a:rPr>
              <a:t>&lt;!-- copy 2 more cards:</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a:t>
            </a:r>
            <a:r>
              <a:rPr lang="en-US" sz="1200" dirty="0">
                <a:solidFill>
                  <a:srgbClr val="7F8BA3"/>
                </a:solidFill>
                <a:latin typeface="JetBrains Mono" pitchFamily="49" charset="0"/>
                <a:ea typeface="JetBrains Mono" pitchFamily="49" charset="-122"/>
                <a:cs typeface="JetBrains Mono" pitchFamily="49" charset="-120"/>
              </a:rPr>
              <a:t>Calculator, Line follower --&gt;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&lt;/div&gt;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&lt;/section&gt;</a:t>
            </a:r>
            <a:endParaRPr lang="en-US" sz="1200" dirty="0"/>
          </a:p>
        </p:txBody>
      </p:sp>
      <p:sp>
        <p:nvSpPr>
          <p:cNvPr id="8" name="Shape 6"/>
          <p:cNvSpPr/>
          <p:nvPr/>
        </p:nvSpPr>
        <p:spPr>
          <a:xfrm>
            <a:off x="6200775" y="1903090"/>
            <a:ext cx="5175250" cy="3794548"/>
          </a:xfrm>
          <a:prstGeom prst="roundRect">
            <a:avLst>
              <a:gd name="adj" fmla="val 2594"/>
            </a:avLst>
          </a:prstGeom>
          <a:solidFill>
            <a:srgbClr val="0D1220"/>
          </a:solidFill>
          <a:ln w="6350">
            <a:solidFill>
              <a:srgbClr val="2A3550"/>
            </a:solidFill>
            <a:prstDash val="solid"/>
          </a:ln>
        </p:spPr>
      </p:sp>
      <p:sp>
        <p:nvSpPr>
          <p:cNvPr id="9" name="Text 7"/>
          <p:cNvSpPr/>
          <p:nvPr/>
        </p:nvSpPr>
        <p:spPr>
          <a:xfrm>
            <a:off x="6406409" y="2108721"/>
            <a:ext cx="490690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BA3"/>
                </a:solidFill>
                <a:latin typeface="IBM Plex Sans" pitchFamily="34" charset="0"/>
                <a:ea typeface="IBM Plex Sans" pitchFamily="34" charset="-122"/>
                <a:cs typeface="IBM Plex Sans" pitchFamily="34" charset="-120"/>
              </a:rPr>
              <a:t>STYLE.CSS · add at the end</a:t>
            </a:r>
            <a:endParaRPr lang="en-US" sz="1200" dirty="0"/>
          </a:p>
        </p:txBody>
      </p:sp>
      <p:sp>
        <p:nvSpPr>
          <p:cNvPr id="10" name="Text 8"/>
          <p:cNvSpPr/>
          <p:nvPr/>
        </p:nvSpPr>
        <p:spPr>
          <a:xfrm>
            <a:off x="6406409" y="2398291"/>
            <a:ext cx="4906901" cy="31191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.cards</a:t>
            </a:r>
            <a:r>
              <a:rPr lang="en-US" sz="1200" dirty="0">
                <a:solidFill>
                  <a:srgbClr val="E3E8F1"/>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display: flex;</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flex-wrap: wrap;</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gap: 20px;</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.card</a:t>
            </a:r>
            <a:r>
              <a:rPr lang="en-US" sz="1200" dirty="0">
                <a:solidFill>
                  <a:srgbClr val="E3E8F1"/>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flex: 1 1 260px;</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padding: 16px;</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border: 1px solid #ddd;</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border-radius: 8px;</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.card:hover</a:t>
            </a:r>
            <a:r>
              <a:rPr lang="en-US" sz="1200" dirty="0">
                <a:solidFill>
                  <a:srgbClr val="E3E8F1"/>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box-shadow: 0 4px 12px rgba(0,0,0,.15);</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a:t>
            </a:r>
            <a:endParaRPr lang="en-US" sz="1200" dirty="0"/>
          </a:p>
        </p:txBody>
      </p:sp>
      <p:sp>
        <p:nvSpPr>
          <p:cNvPr id="11" name="Text 9"/>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Test: drag the browser narrower. Cards should wrap onto new lines, never squash.</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29349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12:08 PM · Responsive web design</a:t>
            </a:r>
            <a:endParaRPr lang="en-US" sz="1200" dirty="0"/>
          </a:p>
        </p:txBody>
      </p:sp>
      <p:sp>
        <p:nvSpPr>
          <p:cNvPr id="4" name="Text 2"/>
          <p:cNvSpPr/>
          <p:nvPr>
            <p:ph type="title"/>
          </p:nvPr>
        </p:nvSpPr>
        <p:spPr>
          <a:xfrm>
            <a:off x="812800" y="13055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One page, every screen: design mobile first</a:t>
            </a:r>
            <a:endParaRPr lang="en-US" sz="3000" dirty="0"/>
          </a:p>
        </p:txBody>
      </p:sp>
      <p:sp>
        <p:nvSpPr>
          <p:cNvPr id="5" name="Shape 3"/>
          <p:cNvSpPr/>
          <p:nvPr/>
        </p:nvSpPr>
        <p:spPr>
          <a:xfrm>
            <a:off x="831850" y="1946920"/>
            <a:ext cx="1358900" cy="2628900"/>
          </a:xfrm>
          <a:prstGeom prst="roundRect">
            <a:avLst>
              <a:gd name="adj" fmla="val 11682"/>
            </a:avLst>
          </a:prstGeom>
          <a:solidFill>
            <a:srgbClr val="FFFFFF"/>
          </a:solidFill>
          <a:ln w="38100">
            <a:solidFill>
              <a:srgbClr val="1A2236"/>
            </a:solidFill>
            <a:prstDash val="solid"/>
          </a:ln>
        </p:spPr>
      </p:sp>
      <p:sp>
        <p:nvSpPr>
          <p:cNvPr id="6" name="Shape 4"/>
          <p:cNvSpPr/>
          <p:nvPr/>
        </p:nvSpPr>
        <p:spPr>
          <a:xfrm>
            <a:off x="948055" y="2088505"/>
            <a:ext cx="1126490" cy="254000"/>
          </a:xfrm>
          <a:prstGeom prst="roundRect">
            <a:avLst>
              <a:gd name="adj" fmla="val 15000"/>
            </a:avLst>
          </a:prstGeom>
          <a:solidFill>
            <a:srgbClr val="2F5FA8"/>
          </a:solidFill>
          <a:ln/>
        </p:spPr>
      </p:sp>
      <p:sp>
        <p:nvSpPr>
          <p:cNvPr id="7" name="Shape 5"/>
          <p:cNvSpPr/>
          <p:nvPr/>
        </p:nvSpPr>
        <p:spPr>
          <a:xfrm>
            <a:off x="948055" y="2406005"/>
            <a:ext cx="1126490" cy="508000"/>
          </a:xfrm>
          <a:prstGeom prst="roundRect">
            <a:avLst>
              <a:gd name="adj" fmla="val 7500"/>
            </a:avLst>
          </a:prstGeom>
          <a:solidFill>
            <a:srgbClr val="F2994A"/>
          </a:solidFill>
          <a:ln/>
        </p:spPr>
      </p:sp>
      <p:sp>
        <p:nvSpPr>
          <p:cNvPr id="8" name="Shape 6"/>
          <p:cNvSpPr/>
          <p:nvPr/>
        </p:nvSpPr>
        <p:spPr>
          <a:xfrm>
            <a:off x="948055" y="2977505"/>
            <a:ext cx="1126490" cy="508000"/>
          </a:xfrm>
          <a:prstGeom prst="roundRect">
            <a:avLst>
              <a:gd name="adj" fmla="val 7500"/>
            </a:avLst>
          </a:prstGeom>
          <a:solidFill>
            <a:srgbClr val="F2994A"/>
          </a:solidFill>
          <a:ln/>
        </p:spPr>
      </p:sp>
      <p:sp>
        <p:nvSpPr>
          <p:cNvPr id="9" name="Shape 7"/>
          <p:cNvSpPr/>
          <p:nvPr/>
        </p:nvSpPr>
        <p:spPr>
          <a:xfrm>
            <a:off x="948055" y="3549005"/>
            <a:ext cx="1126490" cy="508000"/>
          </a:xfrm>
          <a:prstGeom prst="roundRect">
            <a:avLst>
              <a:gd name="adj" fmla="val 7500"/>
            </a:avLst>
          </a:prstGeom>
          <a:solidFill>
            <a:srgbClr val="F2994A"/>
          </a:solidFill>
          <a:ln/>
        </p:spPr>
      </p:sp>
      <p:sp>
        <p:nvSpPr>
          <p:cNvPr id="10" name="Text 8"/>
          <p:cNvSpPr/>
          <p:nvPr/>
        </p:nvSpPr>
        <p:spPr>
          <a:xfrm>
            <a:off x="853832" y="4671070"/>
            <a:ext cx="1314831"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A2236"/>
                </a:solidFill>
                <a:latin typeface="IBM Plex Sans" pitchFamily="34" charset="0"/>
                <a:ea typeface="IBM Plex Sans" pitchFamily="34" charset="-122"/>
                <a:cs typeface="IBM Plex Sans" pitchFamily="34" charset="-120"/>
              </a:rPr>
              <a:t>Phone · column</a:t>
            </a:r>
            <a:endParaRPr lang="en-US" sz="1200" dirty="0"/>
          </a:p>
        </p:txBody>
      </p:sp>
      <p:sp>
        <p:nvSpPr>
          <p:cNvPr id="11" name="Shape 9"/>
          <p:cNvSpPr/>
          <p:nvPr/>
        </p:nvSpPr>
        <p:spPr>
          <a:xfrm>
            <a:off x="2432050" y="2581920"/>
            <a:ext cx="3263900" cy="1993900"/>
          </a:xfrm>
          <a:prstGeom prst="roundRect">
            <a:avLst>
              <a:gd name="adj" fmla="val 2866"/>
            </a:avLst>
          </a:prstGeom>
          <a:solidFill>
            <a:srgbClr val="FFFFFF"/>
          </a:solidFill>
          <a:ln w="38100">
            <a:solidFill>
              <a:srgbClr val="1A2236"/>
            </a:solidFill>
            <a:prstDash val="solid"/>
          </a:ln>
        </p:spPr>
      </p:sp>
      <p:sp>
        <p:nvSpPr>
          <p:cNvPr id="12" name="Shape 10"/>
          <p:cNvSpPr/>
          <p:nvPr/>
        </p:nvSpPr>
        <p:spPr>
          <a:xfrm>
            <a:off x="2573655" y="2723505"/>
            <a:ext cx="2980690" cy="254000"/>
          </a:xfrm>
          <a:prstGeom prst="roundRect">
            <a:avLst>
              <a:gd name="adj" fmla="val 15000"/>
            </a:avLst>
          </a:prstGeom>
          <a:solidFill>
            <a:srgbClr val="2F5FA8"/>
          </a:solidFill>
          <a:ln/>
        </p:spPr>
      </p:sp>
      <p:sp>
        <p:nvSpPr>
          <p:cNvPr id="13" name="Shape 11"/>
          <p:cNvSpPr/>
          <p:nvPr/>
        </p:nvSpPr>
        <p:spPr>
          <a:xfrm>
            <a:off x="2573655" y="3066405"/>
            <a:ext cx="934297" cy="762000"/>
          </a:xfrm>
          <a:prstGeom prst="roundRect">
            <a:avLst>
              <a:gd name="adj" fmla="val 5000"/>
            </a:avLst>
          </a:prstGeom>
          <a:solidFill>
            <a:srgbClr val="F2994A"/>
          </a:solidFill>
          <a:ln/>
        </p:spPr>
      </p:sp>
      <p:sp>
        <p:nvSpPr>
          <p:cNvPr id="14" name="Shape 12"/>
          <p:cNvSpPr/>
          <p:nvPr/>
        </p:nvSpPr>
        <p:spPr>
          <a:xfrm>
            <a:off x="3596852" y="3066405"/>
            <a:ext cx="934297" cy="762000"/>
          </a:xfrm>
          <a:prstGeom prst="roundRect">
            <a:avLst>
              <a:gd name="adj" fmla="val 5000"/>
            </a:avLst>
          </a:prstGeom>
          <a:solidFill>
            <a:srgbClr val="F2994A"/>
          </a:solidFill>
          <a:ln/>
        </p:spPr>
      </p:sp>
      <p:sp>
        <p:nvSpPr>
          <p:cNvPr id="15" name="Shape 13"/>
          <p:cNvSpPr/>
          <p:nvPr/>
        </p:nvSpPr>
        <p:spPr>
          <a:xfrm>
            <a:off x="4620048" y="3066405"/>
            <a:ext cx="934297" cy="762000"/>
          </a:xfrm>
          <a:prstGeom prst="roundRect">
            <a:avLst>
              <a:gd name="adj" fmla="val 5000"/>
            </a:avLst>
          </a:prstGeom>
          <a:solidFill>
            <a:srgbClr val="F2994A"/>
          </a:solidFill>
          <a:ln/>
        </p:spPr>
      </p:sp>
      <p:sp>
        <p:nvSpPr>
          <p:cNvPr id="16" name="Text 14"/>
          <p:cNvSpPr/>
          <p:nvPr/>
        </p:nvSpPr>
        <p:spPr>
          <a:xfrm>
            <a:off x="3534283" y="4671070"/>
            <a:ext cx="1059434"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A2236"/>
                </a:solidFill>
                <a:latin typeface="IBM Plex Sans" pitchFamily="34" charset="0"/>
                <a:ea typeface="IBM Plex Sans" pitchFamily="34" charset="-122"/>
                <a:cs typeface="IBM Plex Sans" pitchFamily="34" charset="-120"/>
              </a:rPr>
              <a:t>Laptop · row</a:t>
            </a:r>
            <a:endParaRPr lang="en-US" sz="1200" dirty="0"/>
          </a:p>
        </p:txBody>
      </p:sp>
      <p:sp>
        <p:nvSpPr>
          <p:cNvPr id="17" name="Text 15"/>
          <p:cNvSpPr/>
          <p:nvPr/>
        </p:nvSpPr>
        <p:spPr>
          <a:xfrm>
            <a:off x="6019800" y="1927870"/>
            <a:ext cx="552018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236"/>
                </a:solidFill>
                <a:latin typeface="Space Grotesk" pitchFamily="34" charset="0"/>
                <a:ea typeface="Space Grotesk" pitchFamily="34" charset="-122"/>
                <a:cs typeface="Space Grotesk" pitchFamily="34" charset="-120"/>
              </a:rPr>
              <a:t>Four habits</a:t>
            </a:r>
            <a:endParaRPr lang="en-US" sz="1800" dirty="0"/>
          </a:p>
        </p:txBody>
      </p:sp>
      <p:sp>
        <p:nvSpPr>
          <p:cNvPr id="18" name="Text 16"/>
          <p:cNvSpPr/>
          <p:nvPr/>
        </p:nvSpPr>
        <p:spPr>
          <a:xfrm>
            <a:off x="6104763" y="2303785"/>
            <a:ext cx="5427599" cy="1054100"/>
          </a:xfrm>
          <a:prstGeom prst="rect">
            <a:avLst/>
          </a:prstGeom>
          <a:noFill/>
          <a:ln/>
        </p:spPr>
        <p:txBody>
          <a:bodyPr wrap="square" lIns="0" tIns="0" rIns="0" bIns="0" rtlCol="0" anchor="t">
            <a:normAutofit/>
          </a:bodyPr>
          <a:lstStyle/>
          <a:p>
            <a:pPr algn="l" marL="169037" indent="-169037">
              <a:lnSpc>
                <a:spcPts val="2025"/>
              </a:lnSpc>
              <a:buSzPct val="100000"/>
              <a:buChar char="•"/>
            </a:pPr>
            <a:r>
              <a:rPr lang="en-US" sz="1350" dirty="0">
                <a:solidFill>
                  <a:srgbClr val="4A5266"/>
                </a:solidFill>
                <a:latin typeface="IBM Plex Sans" pitchFamily="34" charset="0"/>
                <a:ea typeface="IBM Plex Sans" pitchFamily="34" charset="-122"/>
                <a:cs typeface="IBM Plex Sans" pitchFamily="34" charset="-120"/>
              </a:rPr>
              <a:t>Flexible widths (%, max-width), not 800px</a:t>
            </a:r>
            <a:endParaRPr lang="en-US" sz="1350" dirty="0"/>
          </a:p>
          <a:p>
            <a:pPr algn="l" marL="169037" indent="-169037">
              <a:lnSpc>
                <a:spcPts val="2025"/>
              </a:lnSpc>
              <a:buSzPct val="100000"/>
              <a:buChar char="•"/>
            </a:pPr>
            <a:r>
              <a:rPr lang="en-US" sz="1350" dirty="0">
                <a:solidFill>
                  <a:srgbClr val="4A5266"/>
                </a:solidFill>
                <a:latin typeface="IBM Plex Sans" pitchFamily="34" charset="0"/>
                <a:ea typeface="IBM Plex Sans" pitchFamily="34" charset="-122"/>
                <a:cs typeface="IBM Plex Sans" pitchFamily="34" charset="-120"/>
              </a:rPr>
              <a:t>Images: max-width 100%; height auto</a:t>
            </a:r>
            <a:endParaRPr lang="en-US" sz="1350" dirty="0"/>
          </a:p>
          <a:p>
            <a:pPr algn="l" marL="169037" indent="-169037">
              <a:lnSpc>
                <a:spcPts val="2025"/>
              </a:lnSpc>
              <a:buSzPct val="100000"/>
              <a:buChar char="•"/>
            </a:pPr>
            <a:r>
              <a:rPr lang="en-US" sz="1350" dirty="0">
                <a:solidFill>
                  <a:srgbClr val="4A5266"/>
                </a:solidFill>
                <a:latin typeface="IBM Plex Sans" pitchFamily="34" charset="0"/>
                <a:ea typeface="IBM Plex Sans" pitchFamily="34" charset="-122"/>
                <a:cs typeface="IBM Plex Sans" pitchFamily="34" charset="-120"/>
              </a:rPr>
              <a:t>Flexbox with wrap and gap</a:t>
            </a:r>
            <a:endParaRPr lang="en-US" sz="1350" dirty="0"/>
          </a:p>
          <a:p>
            <a:pPr algn="l" marL="169037" indent="-169037">
              <a:lnSpc>
                <a:spcPts val="2025"/>
              </a:lnSpc>
              <a:buSzPct val="100000"/>
              <a:buChar char="•"/>
            </a:pPr>
            <a:r>
              <a:rPr lang="en-US" sz="1350" b="1" dirty="0">
                <a:solidFill>
                  <a:srgbClr val="4A5266"/>
                </a:solidFill>
                <a:latin typeface="IBM Plex Sans" pitchFamily="34" charset="0"/>
                <a:ea typeface="IBM Plex Sans" pitchFamily="34" charset="-122"/>
                <a:cs typeface="IBM Plex Sans" pitchFamily="34" charset="-120"/>
              </a:rPr>
              <a:t>Media queries</a:t>
            </a:r>
            <a:r>
              <a:rPr lang="en-US" sz="1350" dirty="0">
                <a:solidFill>
                  <a:srgbClr val="4A5266"/>
                </a:solidFill>
                <a:latin typeface="IBM Plex Sans" pitchFamily="34" charset="0"/>
                <a:ea typeface="IBM Plex Sans" pitchFamily="34" charset="-122"/>
                <a:cs typeface="IBM Plex Sans" pitchFamily="34" charset="-120"/>
              </a:rPr>
              <a:t> change layout at a breakpoint</a:t>
            </a:r>
            <a:endParaRPr lang="en-US" sz="1350" dirty="0"/>
          </a:p>
        </p:txBody>
      </p:sp>
      <p:sp>
        <p:nvSpPr>
          <p:cNvPr id="19" name="Text 17"/>
          <p:cNvSpPr/>
          <p:nvPr/>
        </p:nvSpPr>
        <p:spPr>
          <a:xfrm>
            <a:off x="6019800" y="3434085"/>
            <a:ext cx="5359400" cy="665480"/>
          </a:xfrm>
          <a:prstGeom prst="roundRect">
            <a:avLst>
              <a:gd name="adj" fmla="val 11450"/>
            </a:avLst>
          </a:prstGeom>
          <a:solidFill>
            <a:srgbClr val="FCEFD9"/>
          </a:solidFill>
          <a:ln/>
        </p:spPr>
        <p:txBody>
          <a:bodyPr wrap="square" lIns="130082" tIns="79282" rIns="0" bIns="53882" rtlCol="0" anchor="t">
            <a:normAutofit/>
          </a:bodyPr>
          <a:lstStyle/>
          <a:p>
            <a:pPr algn="l"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Mobile first = write the phone layout, then add rules for bigger screens.</a:t>
            </a:r>
            <a:endParaRPr lang="en-US" sz="1300" dirty="0"/>
          </a:p>
        </p:txBody>
      </p:sp>
      <p:sp>
        <p:nvSpPr>
          <p:cNvPr id="20" name="Text 18"/>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p.15 · Section 9 · Viva Q9, Q10</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08038"/>
            <a:ext cx="2070947" cy="289560"/>
          </a:xfrm>
          <a:custGeom>
            <a:avLst/>
            <a:gdLst/>
            <a:ahLst/>
            <a:cxnLst/>
            <a:rect l="l" t="t" r="r" b="b"/>
            <a:pathLst>
              <a:path w="2070947" h="289560">
                <a:moveTo>
                  <a:pt x="144780" y="0"/>
                </a:moveTo>
                <a:lnTo>
                  <a:pt x="1926167" y="0"/>
                </a:lnTo>
                <a:arcTo hR="144780" wR="144780" stAng="16200000" swAng="5400000"/>
                <a:lnTo>
                  <a:pt x="2070947"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 · CHUNK 6</a:t>
            </a:r>
            <a:endParaRPr lang="en-US" sz="1200" dirty="0"/>
          </a:p>
        </p:txBody>
      </p:sp>
      <p:sp>
        <p:nvSpPr>
          <p:cNvPr id="3" name="Text 1"/>
          <p:cNvSpPr/>
          <p:nvPr/>
        </p:nvSpPr>
        <p:spPr>
          <a:xfrm>
            <a:off x="3010747" y="846038"/>
            <a:ext cx="306171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12:11 PM · 8 min · The Squeeze Test</a:t>
            </a:r>
            <a:endParaRPr lang="en-US" sz="1200" dirty="0"/>
          </a:p>
        </p:txBody>
      </p:sp>
      <p:sp>
        <p:nvSpPr>
          <p:cNvPr id="4" name="Text 2"/>
          <p:cNvSpPr/>
          <p:nvPr>
            <p:ph type="title"/>
          </p:nvPr>
        </p:nvSpPr>
        <p:spPr>
          <a:xfrm>
            <a:off x="812800" y="1295921"/>
            <a:ext cx="10883392" cy="403648"/>
          </a:xfrm>
          <a:prstGeom prst="rect">
            <a:avLst/>
          </a:prstGeom>
          <a:noFill/>
          <a:ln/>
        </p:spPr>
        <p:txBody>
          <a:bodyPr wrap="square" lIns="0" tIns="0" rIns="0" bIns="0" rtlCol="0" anchor="t">
            <a:normAutofit/>
          </a:bodyPr>
          <a:lstStyle/>
          <a:p>
            <a:pPr algn="l" indent="0" marL="0">
              <a:lnSpc>
                <a:spcPts val="3022"/>
              </a:lnSpc>
              <a:buNone/>
            </a:pPr>
            <a:r>
              <a:rPr lang="en-US" sz="2748" b="1" i="0" dirty="0">
                <a:solidFill>
                  <a:srgbClr val="F3F1EA"/>
                </a:solidFill>
                <a:latin typeface="Space Grotesk" pitchFamily="34" charset="0"/>
                <a:ea typeface="Space Grotesk" pitchFamily="34" charset="-122"/>
                <a:cs typeface="Space Grotesk" pitchFamily="34" charset="-120"/>
              </a:rPr>
              <a:t>Squeeze your page until it breaks, then fix it</a:t>
            </a:r>
            <a:endParaRPr lang="en-US" sz="2748" dirty="0"/>
          </a:p>
        </p:txBody>
      </p:sp>
      <p:sp>
        <p:nvSpPr>
          <p:cNvPr id="5" name="Text 3"/>
          <p:cNvSpPr/>
          <p:nvPr/>
        </p:nvSpPr>
        <p:spPr>
          <a:xfrm>
            <a:off x="876829" y="1877368"/>
            <a:ext cx="4114271" cy="1568450"/>
          </a:xfrm>
          <a:prstGeom prst="rect">
            <a:avLst/>
          </a:prstGeom>
          <a:noFill/>
          <a:ln/>
        </p:spPr>
        <p:txBody>
          <a:bodyPr wrap="square" lIns="0" tIns="0" rIns="0" bIns="0" rtlCol="0" anchor="t">
            <a:normAutofit/>
          </a:bodyPr>
          <a:lstStyle/>
          <a:p>
            <a:pPr algn="l" marL="189971" indent="-189971">
              <a:lnSpc>
                <a:spcPts val="2025"/>
              </a:lnSpc>
              <a:buSzPct val="100000"/>
              <a:buFontTx/>
              <a:buAutoNum type="arabicPeriod" startAt="1"/>
            </a:pPr>
            <a:r>
              <a:rPr lang="en-US" sz="1350" dirty="0">
                <a:solidFill>
                  <a:srgbClr val="E3E8F1"/>
                </a:solidFill>
                <a:latin typeface="IBM Plex Sans" pitchFamily="34" charset="0"/>
                <a:ea typeface="IBM Plex Sans" pitchFamily="34" charset="-122"/>
                <a:cs typeface="IBM Plex Sans" pitchFamily="34" charset="-120"/>
              </a:rPr>
              <a:t>F12 → </a:t>
            </a:r>
            <a:r>
              <a:rPr lang="en-US" sz="1350" b="1" dirty="0">
                <a:solidFill>
                  <a:srgbClr val="E3E8F1"/>
                </a:solidFill>
                <a:latin typeface="IBM Plex Sans" pitchFamily="34" charset="0"/>
                <a:ea typeface="IBM Plex Sans" pitchFamily="34" charset="-122"/>
                <a:cs typeface="IBM Plex Sans" pitchFamily="34" charset="-120"/>
              </a:rPr>
              <a:t>Ctrl+Shift+M</a:t>
            </a:r>
            <a:r>
              <a:rPr lang="en-US" sz="1350" dirty="0">
                <a:solidFill>
                  <a:srgbClr val="E3E8F1"/>
                </a:solidFill>
                <a:latin typeface="IBM Plex Sans" pitchFamily="34" charset="0"/>
                <a:ea typeface="IBM Plex Sans" pitchFamily="34" charset="-122"/>
                <a:cs typeface="IBM Plex Sans" pitchFamily="34" charset="-120"/>
              </a:rPr>
              <a:t> (device toolbar)</a:t>
            </a:r>
            <a:endParaRPr lang="en-US" sz="1350" dirty="0"/>
          </a:p>
          <a:p>
            <a:pPr algn="l" marL="189971" indent="-189971">
              <a:lnSpc>
                <a:spcPts val="2025"/>
              </a:lnSpc>
              <a:buSzPct val="100000"/>
              <a:buFontTx/>
              <a:buAutoNum type="arabicPeriod" startAt="1"/>
            </a:pPr>
            <a:r>
              <a:rPr lang="en-US" sz="1350" dirty="0">
                <a:solidFill>
                  <a:srgbClr val="E3E8F1"/>
                </a:solidFill>
                <a:latin typeface="IBM Plex Sans" pitchFamily="34" charset="0"/>
                <a:ea typeface="IBM Plex Sans" pitchFamily="34" charset="-122"/>
                <a:cs typeface="IBM Plex Sans" pitchFamily="34" charset="-120"/>
              </a:rPr>
              <a:t>Pick </a:t>
            </a:r>
            <a:r>
              <a:rPr lang="en-US" sz="1350" b="1" dirty="0">
                <a:solidFill>
                  <a:srgbClr val="E3E8F1"/>
                </a:solidFill>
                <a:latin typeface="IBM Plex Sans" pitchFamily="34" charset="0"/>
                <a:ea typeface="IBM Plex Sans" pitchFamily="34" charset="-122"/>
                <a:cs typeface="IBM Plex Sans" pitchFamily="34" charset="-120"/>
              </a:rPr>
              <a:t>iPhone SE</a:t>
            </a:r>
            <a:r>
              <a:rPr lang="en-US" sz="1350" dirty="0">
                <a:solidFill>
                  <a:srgbClr val="E3E8F1"/>
                </a:solidFill>
                <a:latin typeface="IBM Plex Sans" pitchFamily="34" charset="0"/>
                <a:ea typeface="IBM Plex Sans" pitchFamily="34" charset="-122"/>
                <a:cs typeface="IBM Plex Sans" pitchFamily="34" charset="-120"/>
              </a:rPr>
              <a:t> (375px wide)</a:t>
            </a:r>
            <a:endParaRPr lang="en-US" sz="1350" dirty="0"/>
          </a:p>
          <a:p>
            <a:pPr algn="l" marL="189971" indent="-189971">
              <a:lnSpc>
                <a:spcPts val="2025"/>
              </a:lnSpc>
              <a:buSzPct val="100000"/>
              <a:buFontTx/>
              <a:buAutoNum type="arabicPeriod" startAt="1"/>
            </a:pPr>
            <a:r>
              <a:rPr lang="en-US" sz="1350" dirty="0">
                <a:solidFill>
                  <a:srgbClr val="E3E8F1"/>
                </a:solidFill>
                <a:latin typeface="IBM Plex Sans" pitchFamily="34" charset="0"/>
                <a:ea typeface="IBM Plex Sans" pitchFamily="34" charset="-122"/>
                <a:cs typeface="IBM Plex Sans" pitchFamily="34" charset="-120"/>
              </a:rPr>
              <a:t>Find the ugliest break. Shout it out!</a:t>
            </a:r>
            <a:endParaRPr lang="en-US" sz="1350" dirty="0"/>
          </a:p>
          <a:p>
            <a:pPr algn="l" marL="189971" indent="-189971">
              <a:lnSpc>
                <a:spcPts val="2025"/>
              </a:lnSpc>
              <a:buSzPct val="100000"/>
              <a:buFontTx/>
              <a:buAutoNum type="arabicPeriod" startAt="1"/>
            </a:pPr>
            <a:r>
              <a:rPr lang="en-US" sz="1350" dirty="0">
                <a:solidFill>
                  <a:srgbClr val="E3E8F1"/>
                </a:solidFill>
                <a:latin typeface="IBM Plex Sans" pitchFamily="34" charset="0"/>
                <a:ea typeface="IBM Plex Sans" pitchFamily="34" charset="-122"/>
                <a:cs typeface="IBM Plex Sans" pitchFamily="34" charset="-120"/>
              </a:rPr>
              <a:t>Replace your header rule with the code →</a:t>
            </a:r>
            <a:endParaRPr lang="en-US" sz="1350" dirty="0"/>
          </a:p>
          <a:p>
            <a:pPr algn="l" marL="189971" indent="-189971">
              <a:lnSpc>
                <a:spcPts val="2025"/>
              </a:lnSpc>
              <a:buSzPct val="100000"/>
              <a:buFontTx/>
              <a:buAutoNum type="arabicPeriod" startAt="1"/>
            </a:pPr>
            <a:r>
              <a:rPr lang="en-US" sz="1350" dirty="0">
                <a:solidFill>
                  <a:srgbClr val="E3E8F1"/>
                </a:solidFill>
                <a:latin typeface="IBM Plex Sans" pitchFamily="34" charset="0"/>
                <a:ea typeface="IBM Plex Sans" pitchFamily="34" charset="-122"/>
                <a:cs typeface="IBM Plex Sans" pitchFamily="34" charset="-120"/>
              </a:rPr>
              <a:t>Drag width past </a:t>
            </a:r>
            <a:r>
              <a:rPr lang="en-US" sz="1350" b="1" dirty="0">
                <a:solidFill>
                  <a:srgbClr val="E3E8F1"/>
                </a:solidFill>
                <a:latin typeface="IBM Plex Sans" pitchFamily="34" charset="0"/>
                <a:ea typeface="IBM Plex Sans" pitchFamily="34" charset="-122"/>
                <a:cs typeface="IBM Plex Sans" pitchFamily="34" charset="-120"/>
              </a:rPr>
              <a:t>768px</a:t>
            </a:r>
            <a:r>
              <a:rPr lang="en-US" sz="1350" dirty="0">
                <a:solidFill>
                  <a:srgbClr val="E3E8F1"/>
                </a:solidFill>
                <a:latin typeface="IBM Plex Sans" pitchFamily="34" charset="0"/>
                <a:ea typeface="IBM Plex Sans" pitchFamily="34" charset="-122"/>
                <a:cs typeface="IBM Plex Sans" pitchFamily="34" charset="-120"/>
              </a:rPr>
              <a:t>: header flips to a row</a:t>
            </a:r>
            <a:endParaRPr lang="en-US" sz="1350" dirty="0"/>
          </a:p>
          <a:p>
            <a:pPr algn="l" marL="189971" indent="-189971">
              <a:lnSpc>
                <a:spcPts val="2025"/>
              </a:lnSpc>
              <a:buSzPct val="100000"/>
              <a:buFontTx/>
              <a:buAutoNum type="arabicPeriod" startAt="1"/>
            </a:pPr>
            <a:r>
              <a:rPr lang="en-US" sz="1350" dirty="0">
                <a:solidFill>
                  <a:srgbClr val="E3E8F1"/>
                </a:solidFill>
                <a:latin typeface="IBM Plex Sans" pitchFamily="34" charset="0"/>
                <a:ea typeface="IBM Plex Sans" pitchFamily="34" charset="-122"/>
                <a:cs typeface="IBM Plex Sans" pitchFamily="34" charset="-120"/>
              </a:rPr>
              <a:t>Check: no sideways scrollbar at 375px</a:t>
            </a:r>
            <a:endParaRPr lang="en-US" sz="1350" dirty="0"/>
          </a:p>
        </p:txBody>
      </p:sp>
      <p:sp>
        <p:nvSpPr>
          <p:cNvPr id="6" name="Text 4"/>
          <p:cNvSpPr/>
          <p:nvPr/>
        </p:nvSpPr>
        <p:spPr>
          <a:xfrm>
            <a:off x="5133975" y="1880543"/>
            <a:ext cx="6242050" cy="3958272"/>
          </a:xfrm>
          <a:prstGeom prst="roundRect">
            <a:avLst>
              <a:gd name="adj" fmla="val 2487"/>
            </a:avLst>
          </a:prstGeom>
          <a:solidFill>
            <a:srgbClr val="0D1220"/>
          </a:solidFill>
          <a:ln w="6350">
            <a:solidFill>
              <a:srgbClr val="2A3550"/>
            </a:solidFill>
            <a:prstDash val="solid"/>
          </a:ln>
        </p:spPr>
        <p:txBody>
          <a:bodyPr wrap="square" lIns="202206" tIns="176806" rIns="28807" bIns="151406" rtlCol="0" anchor="t">
            <a:normAutofit/>
          </a:bodyPr>
          <a:lstStyle/>
          <a:p>
            <a:pPr algn="l" indent="0" marL="0">
              <a:lnSpc>
                <a:spcPts val="1745"/>
              </a:lnSpc>
              <a:buNone/>
            </a:pPr>
            <a:r>
              <a:rPr lang="en-US" sz="1203" dirty="0">
                <a:solidFill>
                  <a:srgbClr val="7F8BA3"/>
                </a:solidFill>
                <a:latin typeface="JetBrains Mono" pitchFamily="49" charset="0"/>
                <a:ea typeface="JetBrains Mono" pitchFamily="49" charset="-122"/>
                <a:cs typeface="JetBrains Mono" pitchFamily="49" charset="-120"/>
              </a:rPr>
              <a:t>/* phone first (default) */</a:t>
            </a:r>
            <a:endParaRPr lang="en-US" sz="1203" dirty="0"/>
          </a:p>
          <a:p>
            <a:pPr algn="l" indent="0" marL="0">
              <a:lnSpc>
                <a:spcPts val="1745"/>
              </a:lnSpc>
              <a:buNone/>
            </a:pPr>
            <a:r>
              <a:rPr lang="en-US" sz="1203" dirty="0">
                <a:solidFill>
                  <a:srgbClr val="F2994A"/>
                </a:solidFill>
                <a:latin typeface="JetBrains Mono" pitchFamily="49" charset="0"/>
                <a:ea typeface="JetBrains Mono" pitchFamily="49" charset="-122"/>
                <a:cs typeface="JetBrains Mono" pitchFamily="49" charset="-120"/>
              </a:rPr>
              <a:t>header</a:t>
            </a:r>
            <a:r>
              <a:rPr lang="en-US" sz="1203" dirty="0">
                <a:solidFill>
                  <a:srgbClr val="E3E8F1"/>
                </a:solidFill>
                <a:latin typeface="JetBrains Mono" pitchFamily="49" charset="0"/>
                <a:ea typeface="JetBrains Mono" pitchFamily="49" charset="-122"/>
                <a:cs typeface="JetBrains Mono" pitchFamily="49" charset="-120"/>
              </a:rPr>
              <a:t> {</a:t>
            </a:r>
            <a:endParaRPr lang="en-US" sz="1203" dirty="0"/>
          </a:p>
          <a:p>
            <a:pPr algn="l" indent="0" marL="0">
              <a:lnSpc>
                <a:spcPts val="1745"/>
              </a:lnSpc>
              <a:buNone/>
            </a:pPr>
            <a:r>
              <a:rPr lang="en-US" sz="1203" dirty="0">
                <a:solidFill>
                  <a:srgbClr val="E3E8F1"/>
                </a:solidFill>
                <a:latin typeface="JetBrains Mono" pitchFamily="49" charset="0"/>
                <a:ea typeface="JetBrains Mono" pitchFamily="49" charset="-122"/>
                <a:cs typeface="JetBrains Mono" pitchFamily="49" charset="-120"/>
              </a:rPr>
              <a:t>  display: flex;</a:t>
            </a:r>
            <a:endParaRPr lang="en-US" sz="1203" dirty="0"/>
          </a:p>
          <a:p>
            <a:pPr algn="l" indent="0" marL="0">
              <a:lnSpc>
                <a:spcPts val="1745"/>
              </a:lnSpc>
              <a:buNone/>
            </a:pPr>
            <a:r>
              <a:rPr lang="en-US" sz="1203" dirty="0">
                <a:solidFill>
                  <a:srgbClr val="E3E8F1"/>
                </a:solidFill>
                <a:latin typeface="JetBrains Mono" pitchFamily="49" charset="0"/>
                <a:ea typeface="JetBrains Mono" pitchFamily="49" charset="-122"/>
                <a:cs typeface="JetBrains Mono" pitchFamily="49" charset="-120"/>
              </a:rPr>
              <a:t>  flex-direction: column;</a:t>
            </a:r>
            <a:endParaRPr lang="en-US" sz="1203" dirty="0"/>
          </a:p>
          <a:p>
            <a:pPr algn="l" indent="0" marL="0">
              <a:lnSpc>
                <a:spcPts val="1745"/>
              </a:lnSpc>
              <a:buNone/>
            </a:pPr>
            <a:r>
              <a:rPr lang="en-US" sz="1203" dirty="0">
                <a:solidFill>
                  <a:srgbClr val="E3E8F1"/>
                </a:solidFill>
                <a:latin typeface="JetBrains Mono" pitchFamily="49" charset="0"/>
                <a:ea typeface="JetBrains Mono" pitchFamily="49" charset="-122"/>
                <a:cs typeface="JetBrains Mono" pitchFamily="49" charset="-120"/>
              </a:rPr>
              <a:t>  gap: 12px;</a:t>
            </a:r>
            <a:endParaRPr lang="en-US" sz="1203" dirty="0"/>
          </a:p>
          <a:p>
            <a:pPr algn="l" indent="0" marL="0">
              <a:lnSpc>
                <a:spcPts val="1745"/>
              </a:lnSpc>
              <a:buNone/>
            </a:pPr>
            <a:r>
              <a:rPr lang="en-US" sz="1203" dirty="0">
                <a:solidFill>
                  <a:srgbClr val="E3E8F1"/>
                </a:solidFill>
                <a:latin typeface="JetBrains Mono" pitchFamily="49" charset="0"/>
                <a:ea typeface="JetBrains Mono" pitchFamily="49" charset="-122"/>
                <a:cs typeface="JetBrains Mono" pitchFamily="49" charset="-120"/>
              </a:rPr>
              <a:t>  background: #1e3a8a; color: white;</a:t>
            </a:r>
            <a:endParaRPr lang="en-US" sz="1203" dirty="0"/>
          </a:p>
          <a:p>
            <a:pPr algn="l" indent="0" marL="0">
              <a:lnSpc>
                <a:spcPts val="1745"/>
              </a:lnSpc>
              <a:buNone/>
            </a:pPr>
            <a:r>
              <a:rPr lang="en-US" sz="1203" dirty="0">
                <a:solidFill>
                  <a:srgbClr val="E3E8F1"/>
                </a:solidFill>
                <a:latin typeface="JetBrains Mono" pitchFamily="49" charset="0"/>
                <a:ea typeface="JetBrains Mono" pitchFamily="49" charset="-122"/>
                <a:cs typeface="JetBrains Mono" pitchFamily="49" charset="-120"/>
              </a:rPr>
              <a:t>  padding: 16px 4%;</a:t>
            </a:r>
            <a:endParaRPr lang="en-US" sz="1203" dirty="0"/>
          </a:p>
          <a:p>
            <a:pPr algn="l" indent="0" marL="0">
              <a:lnSpc>
                <a:spcPts val="1745"/>
              </a:lnSpc>
              <a:buNone/>
            </a:pPr>
            <a:r>
              <a:rPr lang="en-US" sz="1203" dirty="0">
                <a:solidFill>
                  <a:srgbClr val="E3E8F1"/>
                </a:solidFill>
                <a:latin typeface="JetBrains Mono" pitchFamily="49" charset="0"/>
                <a:ea typeface="JetBrains Mono" pitchFamily="49" charset="-122"/>
                <a:cs typeface="JetBrains Mono" pitchFamily="49" charset="-120"/>
              </a:rPr>
              <a:t>}</a:t>
            </a:r>
            <a:endParaRPr lang="en-US" sz="1203" dirty="0"/>
          </a:p>
          <a:p>
            <a:pPr algn="l" indent="0" marL="0">
              <a:lnSpc>
                <a:spcPts val="1745"/>
              </a:lnSpc>
              <a:buNone/>
            </a:pPr>
            <a:r>
              <a:rPr lang="en-US" sz="1203" dirty="0">
                <a:solidFill>
                  <a:srgbClr val="7F8BA3"/>
                </a:solidFill>
                <a:latin typeface="JetBrains Mono" pitchFamily="49" charset="0"/>
                <a:ea typeface="JetBrains Mono" pitchFamily="49" charset="-122"/>
                <a:cs typeface="JetBrains Mono" pitchFamily="49" charset="-120"/>
              </a:rPr>
              <a:t>/* screens 768px and wider */</a:t>
            </a:r>
            <a:endParaRPr lang="en-US" sz="1203" dirty="0"/>
          </a:p>
          <a:p>
            <a:pPr algn="l" indent="0" marL="0">
              <a:lnSpc>
                <a:spcPts val="1745"/>
              </a:lnSpc>
              <a:buNone/>
            </a:pPr>
            <a:r>
              <a:rPr lang="en-US" sz="1203" dirty="0">
                <a:solidFill>
                  <a:srgbClr val="8DB4F0"/>
                </a:solidFill>
                <a:latin typeface="JetBrains Mono" pitchFamily="49" charset="0"/>
                <a:ea typeface="JetBrains Mono" pitchFamily="49" charset="-122"/>
                <a:cs typeface="JetBrains Mono" pitchFamily="49" charset="-120"/>
              </a:rPr>
              <a:t>@media (min-width: 768px)</a:t>
            </a:r>
            <a:r>
              <a:rPr lang="en-US" sz="1203" dirty="0">
                <a:solidFill>
                  <a:srgbClr val="E3E8F1"/>
                </a:solidFill>
                <a:latin typeface="JetBrains Mono" pitchFamily="49" charset="0"/>
                <a:ea typeface="JetBrains Mono" pitchFamily="49" charset="-122"/>
                <a:cs typeface="JetBrains Mono" pitchFamily="49" charset="-120"/>
              </a:rPr>
              <a:t> {</a:t>
            </a:r>
            <a:endParaRPr lang="en-US" sz="1203" dirty="0"/>
          </a:p>
          <a:p>
            <a:pPr algn="l" indent="0" marL="0">
              <a:lnSpc>
                <a:spcPts val="1745"/>
              </a:lnSpc>
              <a:buNone/>
            </a:pPr>
            <a:r>
              <a:rPr lang="en-US" sz="1203" dirty="0">
                <a:solidFill>
                  <a:srgbClr val="E3E8F1"/>
                </a:solidFill>
                <a:latin typeface="JetBrains Mono" pitchFamily="49" charset="0"/>
                <a:ea typeface="JetBrains Mono" pitchFamily="49" charset="-122"/>
                <a:cs typeface="JetBrains Mono" pitchFamily="49" charset="-120"/>
              </a:rPr>
              <a:t>  </a:t>
            </a:r>
            <a:r>
              <a:rPr lang="en-US" sz="1203" dirty="0">
                <a:solidFill>
                  <a:srgbClr val="F2994A"/>
                </a:solidFill>
                <a:latin typeface="JetBrains Mono" pitchFamily="49" charset="0"/>
                <a:ea typeface="JetBrains Mono" pitchFamily="49" charset="-122"/>
                <a:cs typeface="JetBrains Mono" pitchFamily="49" charset="-120"/>
              </a:rPr>
              <a:t>header</a:t>
            </a:r>
            <a:r>
              <a:rPr lang="en-US" sz="1203" dirty="0">
                <a:solidFill>
                  <a:srgbClr val="E3E8F1"/>
                </a:solidFill>
                <a:latin typeface="JetBrains Mono" pitchFamily="49" charset="0"/>
                <a:ea typeface="JetBrains Mono" pitchFamily="49" charset="-122"/>
                <a:cs typeface="JetBrains Mono" pitchFamily="49" charset="-120"/>
              </a:rPr>
              <a:t> {</a:t>
            </a:r>
            <a:endParaRPr lang="en-US" sz="1203" dirty="0"/>
          </a:p>
          <a:p>
            <a:pPr algn="l" indent="0" marL="0">
              <a:lnSpc>
                <a:spcPts val="1745"/>
              </a:lnSpc>
              <a:buNone/>
            </a:pPr>
            <a:r>
              <a:rPr lang="en-US" sz="1203" dirty="0">
                <a:solidFill>
                  <a:srgbClr val="E3E8F1"/>
                </a:solidFill>
                <a:latin typeface="JetBrains Mono" pitchFamily="49" charset="0"/>
                <a:ea typeface="JetBrains Mono" pitchFamily="49" charset="-122"/>
                <a:cs typeface="JetBrains Mono" pitchFamily="49" charset="-120"/>
              </a:rPr>
              <a:t>    flex-direction: row;</a:t>
            </a:r>
            <a:endParaRPr lang="en-US" sz="1203" dirty="0"/>
          </a:p>
          <a:p>
            <a:pPr algn="l" indent="0" marL="0">
              <a:lnSpc>
                <a:spcPts val="1745"/>
              </a:lnSpc>
              <a:buNone/>
            </a:pPr>
            <a:r>
              <a:rPr lang="en-US" sz="1203" dirty="0">
                <a:solidFill>
                  <a:srgbClr val="E3E8F1"/>
                </a:solidFill>
                <a:latin typeface="JetBrains Mono" pitchFamily="49" charset="0"/>
                <a:ea typeface="JetBrains Mono" pitchFamily="49" charset="-122"/>
                <a:cs typeface="JetBrains Mono" pitchFamily="49" charset="-120"/>
              </a:rPr>
              <a:t>    justify-content: space-between;</a:t>
            </a:r>
            <a:endParaRPr lang="en-US" sz="1203" dirty="0"/>
          </a:p>
          <a:p>
            <a:pPr algn="l" indent="0" marL="0">
              <a:lnSpc>
                <a:spcPts val="1745"/>
              </a:lnSpc>
              <a:buNone/>
            </a:pPr>
            <a:r>
              <a:rPr lang="en-US" sz="1203" dirty="0">
                <a:solidFill>
                  <a:srgbClr val="E3E8F1"/>
                </a:solidFill>
                <a:latin typeface="JetBrains Mono" pitchFamily="49" charset="0"/>
                <a:ea typeface="JetBrains Mono" pitchFamily="49" charset="-122"/>
                <a:cs typeface="JetBrains Mono" pitchFamily="49" charset="-120"/>
              </a:rPr>
              <a:t>    align-items: center;</a:t>
            </a:r>
            <a:endParaRPr lang="en-US" sz="1203" dirty="0"/>
          </a:p>
          <a:p>
            <a:pPr algn="l" indent="0" marL="0">
              <a:lnSpc>
                <a:spcPts val="1745"/>
              </a:lnSpc>
              <a:buNone/>
            </a:pPr>
            <a:r>
              <a:rPr lang="en-US" sz="1203" dirty="0">
                <a:solidFill>
                  <a:srgbClr val="E3E8F1"/>
                </a:solidFill>
                <a:latin typeface="JetBrains Mono" pitchFamily="49" charset="0"/>
                <a:ea typeface="JetBrains Mono" pitchFamily="49" charset="-122"/>
                <a:cs typeface="JetBrains Mono" pitchFamily="49" charset="-120"/>
              </a:rPr>
              <a:t>  }</a:t>
            </a:r>
            <a:endParaRPr lang="en-US" sz="1203" dirty="0"/>
          </a:p>
          <a:p>
            <a:pPr algn="l" indent="0" marL="0">
              <a:lnSpc>
                <a:spcPts val="1745"/>
              </a:lnSpc>
              <a:buNone/>
            </a:pPr>
            <a:r>
              <a:rPr lang="en-US" sz="1203" dirty="0">
                <a:solidFill>
                  <a:srgbClr val="E3E8F1"/>
                </a:solidFill>
                <a:latin typeface="JetBrains Mono" pitchFamily="49" charset="0"/>
                <a:ea typeface="JetBrains Mono" pitchFamily="49" charset="-122"/>
                <a:cs typeface="JetBrains Mono" pitchFamily="49" charset="-120"/>
              </a:rPr>
              <a:t>}</a:t>
            </a:r>
            <a:endParaRPr lang="en-US" sz="1203" dirty="0"/>
          </a:p>
        </p:txBody>
      </p:sp>
      <p:sp>
        <p:nvSpPr>
          <p:cNvPr id="7" name="Text 5"/>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Manual p.15 · Section 9.1 · Viewport meta tag missing? The phone view will look zoomed out.</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951884" cy="289560"/>
          </a:xfrm>
          <a:custGeom>
            <a:avLst/>
            <a:gdLst/>
            <a:ahLst/>
            <a:cxnLst/>
            <a:rect l="l" t="t" r="r" b="b"/>
            <a:pathLst>
              <a:path w="1951884" h="289560">
                <a:moveTo>
                  <a:pt x="144780" y="0"/>
                </a:moveTo>
                <a:lnTo>
                  <a:pt x="1807104" y="0"/>
                </a:lnTo>
                <a:arcTo hR="144780" wR="144780" stAng="16200000" swAng="5400000"/>
                <a:lnTo>
                  <a:pt x="1951884"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 · QUICK FIRE</a:t>
            </a:r>
            <a:endParaRPr lang="en-US" sz="1200" dirty="0"/>
          </a:p>
        </p:txBody>
      </p:sp>
      <p:sp>
        <p:nvSpPr>
          <p:cNvPr id="3" name="Text 1"/>
          <p:cNvSpPr/>
          <p:nvPr/>
        </p:nvSpPr>
        <p:spPr>
          <a:xfrm>
            <a:off x="2891684" y="850900"/>
            <a:ext cx="234873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12:16 PM · 3 viva favourites</a:t>
            </a:r>
            <a:endParaRPr lang="en-US" sz="1200" dirty="0"/>
          </a:p>
        </p:txBody>
      </p:sp>
      <p:sp>
        <p:nvSpPr>
          <p:cNvPr id="4" name="Text 2"/>
          <p:cNvSpPr/>
          <p:nvPr>
            <p:ph type="title"/>
          </p:nvPr>
        </p:nvSpPr>
        <p:spPr>
          <a:xfrm>
            <a:off x="812800" y="13055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Three pairs examiners love to ask about</a:t>
            </a:r>
            <a:endParaRPr lang="en-US" sz="3000" dirty="0"/>
          </a:p>
        </p:txBody>
      </p:sp>
      <p:sp>
        <p:nvSpPr>
          <p:cNvPr id="5" name="Shape 3"/>
          <p:cNvSpPr/>
          <p:nvPr/>
        </p:nvSpPr>
        <p:spPr>
          <a:xfrm>
            <a:off x="815975" y="1931045"/>
            <a:ext cx="3397250" cy="3220508"/>
          </a:xfrm>
          <a:prstGeom prst="roundRect">
            <a:avLst>
              <a:gd name="adj" fmla="val 3056"/>
            </a:avLst>
          </a:prstGeom>
          <a:solidFill>
            <a:srgbClr val="FFFFFF"/>
          </a:solidFill>
          <a:ln w="6350">
            <a:solidFill>
              <a:srgbClr val="E1DED5"/>
            </a:solidFill>
            <a:prstDash val="solid"/>
          </a:ln>
        </p:spPr>
      </p:sp>
      <p:sp>
        <p:nvSpPr>
          <p:cNvPr id="6" name="Text 4"/>
          <p:cNvSpPr/>
          <p:nvPr/>
        </p:nvSpPr>
        <p:spPr>
          <a:xfrm>
            <a:off x="1047009" y="2162076"/>
            <a:ext cx="302323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A2236"/>
                </a:solidFill>
                <a:latin typeface="Space Grotesk" pitchFamily="34" charset="0"/>
                <a:ea typeface="Space Grotesk" pitchFamily="34" charset="-122"/>
                <a:cs typeface="Space Grotesk" pitchFamily="34" charset="-120"/>
              </a:rPr>
              <a:t>Hide it</a:t>
            </a:r>
            <a:endParaRPr lang="en-US" sz="1700" dirty="0"/>
          </a:p>
        </p:txBody>
      </p:sp>
      <p:sp>
        <p:nvSpPr>
          <p:cNvPr id="7" name="Text 5"/>
          <p:cNvSpPr/>
          <p:nvPr/>
        </p:nvSpPr>
        <p:spPr>
          <a:xfrm>
            <a:off x="1047009" y="2522761"/>
            <a:ext cx="316304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display: none</a:t>
            </a:r>
            <a:r>
              <a:rPr lang="en-US" sz="1300" dirty="0">
                <a:solidFill>
                  <a:srgbClr val="4A5266"/>
                </a:solidFill>
                <a:latin typeface="IBM Plex Sans" pitchFamily="34" charset="0"/>
                <a:ea typeface="IBM Plex Sans" pitchFamily="34" charset="-122"/>
                <a:cs typeface="IBM Plex Sans" pitchFamily="34" charset="-120"/>
              </a:rPr>
              <a:t> removes it and its space</a:t>
            </a:r>
            <a:endParaRPr lang="en-US" sz="1300" dirty="0"/>
          </a:p>
        </p:txBody>
      </p:sp>
      <p:sp>
        <p:nvSpPr>
          <p:cNvPr id="8" name="Text 6"/>
          <p:cNvSpPr/>
          <p:nvPr/>
        </p:nvSpPr>
        <p:spPr>
          <a:xfrm>
            <a:off x="1047009" y="2855491"/>
            <a:ext cx="302323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visibility: hidden</a:t>
            </a:r>
            <a:r>
              <a:rPr lang="en-US" sz="1300" dirty="0">
                <a:solidFill>
                  <a:srgbClr val="4A5266"/>
                </a:solidFill>
                <a:latin typeface="IBM Plex Sans" pitchFamily="34" charset="0"/>
                <a:ea typeface="IBM Plex Sans" pitchFamily="34" charset="-122"/>
                <a:cs typeface="IBM Plex Sans" pitchFamily="34" charset="-120"/>
              </a:rPr>
              <a:t> hides it, space stays</a:t>
            </a:r>
            <a:endParaRPr lang="en-US" sz="1300" dirty="0"/>
          </a:p>
        </p:txBody>
      </p:sp>
      <p:sp>
        <p:nvSpPr>
          <p:cNvPr id="9" name="Text 7"/>
          <p:cNvSpPr/>
          <p:nvPr/>
        </p:nvSpPr>
        <p:spPr>
          <a:xfrm>
            <a:off x="1047009" y="3188221"/>
            <a:ext cx="2935182" cy="843280"/>
          </a:xfrm>
          <a:prstGeom prst="roundRect">
            <a:avLst>
              <a:gd name="adj" fmla="val 6024"/>
            </a:avLst>
          </a:prstGeom>
          <a:solidFill>
            <a:srgbClr val="EEF1F7"/>
          </a:solidFill>
          <a:ln/>
        </p:spPr>
        <p:txBody>
          <a:bodyPr wrap="square" lIns="86721" tIns="86721" rIns="4762" bIns="61321" rtlCol="0" anchor="t">
            <a:normAutofit/>
          </a:bodyPr>
          <a:lstStyle/>
          <a:p>
            <a:pPr algn="l"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@media (max-width:600px) {</a:t>
            </a:r>
            <a:endParaRPr lang="en-US" sz="1200" dirty="0"/>
          </a:p>
          <a:p>
            <a:pPr algn="l"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  .sidebar { display:none; }</a:t>
            </a:r>
            <a:endParaRPr lang="en-US" sz="1200" dirty="0"/>
          </a:p>
          <a:p>
            <a:pPr algn="l"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a:t>
            </a:r>
            <a:endParaRPr lang="en-US" sz="1200" dirty="0"/>
          </a:p>
        </p:txBody>
      </p:sp>
      <p:sp>
        <p:nvSpPr>
          <p:cNvPr id="10" name="Shape 8"/>
          <p:cNvSpPr/>
          <p:nvPr/>
        </p:nvSpPr>
        <p:spPr>
          <a:xfrm>
            <a:off x="4397375" y="1931045"/>
            <a:ext cx="3397250" cy="3220508"/>
          </a:xfrm>
          <a:prstGeom prst="roundRect">
            <a:avLst>
              <a:gd name="adj" fmla="val 3056"/>
            </a:avLst>
          </a:prstGeom>
          <a:solidFill>
            <a:srgbClr val="FFFFFF"/>
          </a:solidFill>
          <a:ln w="6350">
            <a:solidFill>
              <a:srgbClr val="E1DED5"/>
            </a:solidFill>
            <a:prstDash val="solid"/>
          </a:ln>
        </p:spPr>
      </p:sp>
      <p:sp>
        <p:nvSpPr>
          <p:cNvPr id="11" name="Text 9"/>
          <p:cNvSpPr/>
          <p:nvPr/>
        </p:nvSpPr>
        <p:spPr>
          <a:xfrm>
            <a:off x="4628409" y="2162076"/>
            <a:ext cx="302323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A2236"/>
                </a:solidFill>
                <a:latin typeface="Space Grotesk" pitchFamily="34" charset="0"/>
                <a:ea typeface="Space Grotesk" pitchFamily="34" charset="-122"/>
                <a:cs typeface="Space Grotesk" pitchFamily="34" charset="-120"/>
              </a:rPr>
              <a:t>Move it</a:t>
            </a:r>
            <a:endParaRPr lang="en-US" sz="1700" dirty="0"/>
          </a:p>
        </p:txBody>
      </p:sp>
      <p:sp>
        <p:nvSpPr>
          <p:cNvPr id="12" name="Text 10"/>
          <p:cNvSpPr/>
          <p:nvPr/>
        </p:nvSpPr>
        <p:spPr>
          <a:xfrm>
            <a:off x="4628409" y="2522761"/>
            <a:ext cx="3023237"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relative</a:t>
            </a:r>
            <a:r>
              <a:rPr lang="en-US" sz="1300" dirty="0">
                <a:solidFill>
                  <a:srgbClr val="4A5266"/>
                </a:solidFill>
                <a:latin typeface="IBM Plex Sans" pitchFamily="34" charset="0"/>
                <a:ea typeface="IBM Plex Sans" pitchFamily="34" charset="-122"/>
                <a:cs typeface="IBM Plex Sans" pitchFamily="34" charset="-120"/>
              </a:rPr>
              <a:t> nudges from its normal spot; neighbours don’t move</a:t>
            </a:r>
            <a:endParaRPr lang="en-US" sz="1300" dirty="0"/>
          </a:p>
        </p:txBody>
      </p:sp>
      <p:sp>
        <p:nvSpPr>
          <p:cNvPr id="13" name="Text 11"/>
          <p:cNvSpPr/>
          <p:nvPr/>
        </p:nvSpPr>
        <p:spPr>
          <a:xfrm>
            <a:off x="4628409" y="3086621"/>
            <a:ext cx="3023237"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absolute</a:t>
            </a:r>
            <a:r>
              <a:rPr lang="en-US" sz="1300" dirty="0">
                <a:solidFill>
                  <a:srgbClr val="4A5266"/>
                </a:solidFill>
                <a:latin typeface="IBM Plex Sans" pitchFamily="34" charset="0"/>
                <a:ea typeface="IBM Plex Sans" pitchFamily="34" charset="-122"/>
                <a:cs typeface="IBM Plex Sans" pitchFamily="34" charset="-120"/>
              </a:rPr>
              <a:t> leaves the flow; placed inside nearest positioned parent</a:t>
            </a:r>
            <a:endParaRPr lang="en-US" sz="1300" dirty="0"/>
          </a:p>
        </p:txBody>
      </p:sp>
      <p:sp>
        <p:nvSpPr>
          <p:cNvPr id="14" name="Shape 12"/>
          <p:cNvSpPr/>
          <p:nvPr/>
        </p:nvSpPr>
        <p:spPr>
          <a:xfrm>
            <a:off x="7978775" y="1931045"/>
            <a:ext cx="3397250" cy="3220508"/>
          </a:xfrm>
          <a:prstGeom prst="roundRect">
            <a:avLst>
              <a:gd name="adj" fmla="val 3056"/>
            </a:avLst>
          </a:prstGeom>
          <a:solidFill>
            <a:srgbClr val="FFFFFF"/>
          </a:solidFill>
          <a:ln w="6350">
            <a:solidFill>
              <a:srgbClr val="E1DED5"/>
            </a:solidFill>
            <a:prstDash val="solid"/>
          </a:ln>
        </p:spPr>
      </p:sp>
      <p:sp>
        <p:nvSpPr>
          <p:cNvPr id="15" name="Text 13"/>
          <p:cNvSpPr/>
          <p:nvPr/>
        </p:nvSpPr>
        <p:spPr>
          <a:xfrm>
            <a:off x="8209809" y="2162076"/>
            <a:ext cx="302323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A2236"/>
                </a:solidFill>
                <a:latin typeface="Space Grotesk" pitchFamily="34" charset="0"/>
                <a:ea typeface="Space Grotesk" pitchFamily="34" charset="-122"/>
                <a:cs typeface="Space Grotesk" pitchFamily="34" charset="-120"/>
              </a:rPr>
              <a:t>Lay it out</a:t>
            </a:r>
            <a:endParaRPr lang="en-US" sz="1700" dirty="0"/>
          </a:p>
        </p:txBody>
      </p:sp>
      <p:sp>
        <p:nvSpPr>
          <p:cNvPr id="16" name="Text 14"/>
          <p:cNvSpPr/>
          <p:nvPr/>
        </p:nvSpPr>
        <p:spPr>
          <a:xfrm>
            <a:off x="8209809" y="2522761"/>
            <a:ext cx="3023237"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Flexbox</a:t>
            </a:r>
            <a:r>
              <a:rPr lang="en-US" sz="1300" dirty="0">
                <a:solidFill>
                  <a:srgbClr val="4A5266"/>
                </a:solidFill>
                <a:latin typeface="IBM Plex Sans" pitchFamily="34" charset="0"/>
                <a:ea typeface="IBM Plex Sans" pitchFamily="34" charset="-122"/>
                <a:cs typeface="IBM Plex Sans" pitchFamily="34" charset="-120"/>
              </a:rPr>
              <a:t>: one direction. Navbars, card rows</a:t>
            </a:r>
            <a:endParaRPr lang="en-US" sz="1300" dirty="0"/>
          </a:p>
        </p:txBody>
      </p:sp>
      <p:sp>
        <p:nvSpPr>
          <p:cNvPr id="17" name="Text 15"/>
          <p:cNvSpPr/>
          <p:nvPr/>
        </p:nvSpPr>
        <p:spPr>
          <a:xfrm>
            <a:off x="8209809" y="3086621"/>
            <a:ext cx="3023237"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Grid</a:t>
            </a:r>
            <a:r>
              <a:rPr lang="en-US" sz="1300" dirty="0">
                <a:solidFill>
                  <a:srgbClr val="4A5266"/>
                </a:solidFill>
                <a:latin typeface="IBM Plex Sans" pitchFamily="34" charset="0"/>
                <a:ea typeface="IBM Plex Sans" pitchFamily="34" charset="-122"/>
                <a:cs typeface="IBM Plex Sans" pitchFamily="34" charset="-120"/>
              </a:rPr>
              <a:t>: rows and columns together. Full pages</a:t>
            </a:r>
            <a:endParaRPr lang="en-US" sz="1300" dirty="0"/>
          </a:p>
        </p:txBody>
      </p:sp>
      <p:sp>
        <p:nvSpPr>
          <p:cNvPr id="18" name="Text 16"/>
          <p:cNvSpPr/>
          <p:nvPr/>
        </p:nvSpPr>
        <p:spPr>
          <a:xfrm>
            <a:off x="8209809" y="3650506"/>
            <a:ext cx="2935182" cy="1270000"/>
          </a:xfrm>
          <a:prstGeom prst="roundRect">
            <a:avLst>
              <a:gd name="adj" fmla="val 4000"/>
            </a:avLst>
          </a:prstGeom>
          <a:solidFill>
            <a:srgbClr val="EEF1F7"/>
          </a:solidFill>
          <a:ln/>
        </p:spPr>
        <p:txBody>
          <a:bodyPr wrap="square" lIns="86721" tIns="86721" rIns="4762" bIns="61321" rtlCol="0" anchor="t">
            <a:normAutofit/>
          </a:bodyPr>
          <a:lstStyle/>
          <a:p>
            <a:pPr algn="l"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.gallery {</a:t>
            </a:r>
            <a:endParaRPr lang="en-US" sz="1200" dirty="0"/>
          </a:p>
          <a:p>
            <a:pPr algn="l"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  display: grid;</a:t>
            </a:r>
            <a:endParaRPr lang="en-US" sz="1200" dirty="0"/>
          </a:p>
          <a:p>
            <a:pPr algn="l"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  grid-template-columns:</a:t>
            </a:r>
            <a:endParaRPr lang="en-US" sz="1200" dirty="0"/>
          </a:p>
          <a:p>
            <a:pPr algn="l"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    repeat(3, 1fr);</a:t>
            </a:r>
            <a:endParaRPr lang="en-US" sz="1200" dirty="0"/>
          </a:p>
          <a:p>
            <a:pPr algn="l" indent="0" marL="0">
              <a:lnSpc>
                <a:spcPts val="1680"/>
              </a:lnSpc>
              <a:buNone/>
            </a:pPr>
            <a:r>
              <a:rPr lang="en-US" sz="1200" dirty="0">
                <a:solidFill>
                  <a:srgbClr val="1A2236"/>
                </a:solidFill>
                <a:latin typeface="JetBrains Mono" pitchFamily="49" charset="0"/>
                <a:ea typeface="JetBrains Mono" pitchFamily="49" charset="-122"/>
                <a:cs typeface="JetBrains Mono" pitchFamily="49" charset="-120"/>
              </a:rPr>
              <a:t>}</a:t>
            </a:r>
            <a:endParaRPr lang="en-US" sz="1200" dirty="0"/>
          </a:p>
        </p:txBody>
      </p:sp>
      <p:sp>
        <p:nvSpPr>
          <p:cNvPr id="19" name="Text 17"/>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p.16 · Section 9.3 · Viva Q12, Q15, Q16, Q17</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2123969" cy="289560"/>
          </a:xfrm>
          <a:custGeom>
            <a:avLst/>
            <a:gdLst/>
            <a:ahLst/>
            <a:cxnLst/>
            <a:rect l="l" t="t" r="r" b="b"/>
            <a:pathLst>
              <a:path w="2123969" h="289560">
                <a:moveTo>
                  <a:pt x="144780" y="0"/>
                </a:moveTo>
                <a:lnTo>
                  <a:pt x="1979189" y="0"/>
                </a:lnTo>
                <a:arcTo hR="144780" wR="144780" stAng="16200000" swAng="5400000"/>
                <a:lnTo>
                  <a:pt x="2123969"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DEMO · OPTIONAL TRY</a:t>
            </a:r>
            <a:endParaRPr lang="en-US" sz="1200" dirty="0"/>
          </a:p>
        </p:txBody>
      </p:sp>
      <p:sp>
        <p:nvSpPr>
          <p:cNvPr id="3" name="Text 1"/>
          <p:cNvSpPr/>
          <p:nvPr/>
        </p:nvSpPr>
        <p:spPr>
          <a:xfrm>
            <a:off x="3063769" y="850900"/>
            <a:ext cx="374078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12:19 PM · 3 min · Introduction to Bootstrap</a:t>
            </a:r>
            <a:endParaRPr lang="en-US" sz="1200" dirty="0"/>
          </a:p>
        </p:txBody>
      </p:sp>
      <p:sp>
        <p:nvSpPr>
          <p:cNvPr id="4" name="Text 2"/>
          <p:cNvSpPr/>
          <p:nvPr>
            <p:ph type="title"/>
          </p:nvPr>
        </p:nvSpPr>
        <p:spPr>
          <a:xfrm>
            <a:off x="812800" y="13055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1EA"/>
                </a:solidFill>
                <a:latin typeface="Space Grotesk" pitchFamily="34" charset="0"/>
                <a:ea typeface="Space Grotesk" pitchFamily="34" charset="-122"/>
                <a:cs typeface="Space Grotesk" pitchFamily="34" charset="-120"/>
              </a:rPr>
              <a:t>Bootstrap: CSS someone already wrote for you</a:t>
            </a:r>
            <a:endParaRPr lang="en-US" sz="2800" dirty="0"/>
          </a:p>
        </p:txBody>
      </p:sp>
      <p:sp>
        <p:nvSpPr>
          <p:cNvPr id="5" name="Shape 3"/>
          <p:cNvSpPr/>
          <p:nvPr/>
        </p:nvSpPr>
        <p:spPr>
          <a:xfrm>
            <a:off x="815975" y="1903090"/>
            <a:ext cx="6877050" cy="3769148"/>
          </a:xfrm>
          <a:prstGeom prst="roundRect">
            <a:avLst>
              <a:gd name="adj" fmla="val 2611"/>
            </a:avLst>
          </a:prstGeom>
          <a:solidFill>
            <a:srgbClr val="0D1220"/>
          </a:solidFill>
          <a:ln w="6350">
            <a:solidFill>
              <a:srgbClr val="2A3550"/>
            </a:solidFill>
            <a:prstDash val="solid"/>
          </a:ln>
        </p:spPr>
      </p:sp>
      <p:sp>
        <p:nvSpPr>
          <p:cNvPr id="6" name="Text 4"/>
          <p:cNvSpPr/>
          <p:nvPr/>
        </p:nvSpPr>
        <p:spPr>
          <a:xfrm>
            <a:off x="1047009" y="2108721"/>
            <a:ext cx="660743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BA3"/>
                </a:solidFill>
                <a:latin typeface="IBM Plex Sans" pitchFamily="34" charset="0"/>
                <a:ea typeface="IBM Plex Sans" pitchFamily="34" charset="-122"/>
                <a:cs typeface="IBM Plex Sans" pitchFamily="34" charset="-120"/>
              </a:rPr>
              <a:t>IN A COPY: bootstrap-test.html</a:t>
            </a:r>
            <a:endParaRPr lang="en-US" sz="1200" dirty="0"/>
          </a:p>
        </p:txBody>
      </p:sp>
      <p:sp>
        <p:nvSpPr>
          <p:cNvPr id="7" name="Text 5"/>
          <p:cNvSpPr/>
          <p:nvPr/>
        </p:nvSpPr>
        <p:spPr>
          <a:xfrm>
            <a:off x="1047009" y="2372891"/>
            <a:ext cx="6607431" cy="31191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&lt;!-- 1. in &lt;head&gt;: copy the CSS link --&gt;</a:t>
            </a:r>
            <a:endParaRPr lang="en-US" sz="1200" dirty="0"/>
          </a:p>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&lt;!--    from getbootstrap.com --&gt;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&lt;link rel="stylesheet" href="</a:t>
            </a:r>
            <a:r>
              <a:rPr lang="en-US" sz="1200" dirty="0">
                <a:solidFill>
                  <a:srgbClr val="7FD1A1"/>
                </a:solidFill>
                <a:latin typeface="JetBrains Mono" pitchFamily="49" charset="0"/>
                <a:ea typeface="JetBrains Mono" pitchFamily="49" charset="-122"/>
                <a:cs typeface="JetBrains Mono" pitchFamily="49" charset="-120"/>
              </a:rPr>
              <a:t>…bootstrap.min.css</a:t>
            </a:r>
            <a:r>
              <a:rPr lang="en-US" sz="1200" dirty="0">
                <a:solidFill>
                  <a:srgbClr val="E3E8F1"/>
                </a:solidFill>
                <a:latin typeface="JetBrains Mono" pitchFamily="49" charset="0"/>
                <a:ea typeface="JetBrains Mono" pitchFamily="49" charset="-122"/>
                <a:cs typeface="JetBrains Mono" pitchFamily="49" charset="-120"/>
              </a:rPr>
              <a:t>"&gt;</a:t>
            </a:r>
            <a:endParaRPr lang="en-US" sz="1200" dirty="0"/>
          </a:p>
          <a:p>
            <a:pPr algn="l" indent="0" marL="0">
              <a:lnSpc>
                <a:spcPts val="1740"/>
              </a:lnSpc>
              <a:buNone/>
            </a:pPr>
            <a:endParaRPr lang="en-US" sz="1200" dirty="0"/>
          </a:p>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&lt;!-- 2. use ready-made classes --&gt;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&lt;button class="</a:t>
            </a:r>
            <a:r>
              <a:rPr lang="en-US" sz="1200" dirty="0">
                <a:solidFill>
                  <a:srgbClr val="F2994A"/>
                </a:solidFill>
                <a:latin typeface="JetBrains Mono" pitchFamily="49" charset="0"/>
                <a:ea typeface="JetBrains Mono" pitchFamily="49" charset="-122"/>
                <a:cs typeface="JetBrains Mono" pitchFamily="49" charset="-120"/>
              </a:rPr>
              <a:t>btn btn-primary</a:t>
            </a:r>
            <a:r>
              <a:rPr lang="en-US" sz="1200" dirty="0">
                <a:solidFill>
                  <a:srgbClr val="E3E8F1"/>
                </a:solidFill>
                <a:latin typeface="JetBrains Mono" pitchFamily="49" charset="0"/>
                <a:ea typeface="JetBrains Mono" pitchFamily="49" charset="-122"/>
                <a:cs typeface="JetBrains Mono" pitchFamily="49" charset="-120"/>
              </a:rPr>
              <a:t>"&gt;Hire me&lt;/button&gt;</a:t>
            </a:r>
            <a:endParaRPr lang="en-US" sz="1200" dirty="0"/>
          </a:p>
          <a:p>
            <a:pPr algn="l" indent="0" marL="0">
              <a:lnSpc>
                <a:spcPts val="1740"/>
              </a:lnSpc>
              <a:buNone/>
            </a:pP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&lt;div class="</a:t>
            </a:r>
            <a:r>
              <a:rPr lang="en-US" sz="1200" dirty="0">
                <a:solidFill>
                  <a:srgbClr val="F2994A"/>
                </a:solidFill>
                <a:latin typeface="JetBrains Mono" pitchFamily="49" charset="0"/>
                <a:ea typeface="JetBrains Mono" pitchFamily="49" charset="-122"/>
                <a:cs typeface="JetBrains Mono" pitchFamily="49" charset="-120"/>
              </a:rPr>
              <a:t>container</a:t>
            </a:r>
            <a:r>
              <a:rPr lang="en-US" sz="1200" dirty="0">
                <a:solidFill>
                  <a:srgbClr val="E3E8F1"/>
                </a:solidFill>
                <a:latin typeface="JetBrains Mono" pitchFamily="49" charset="0"/>
                <a:ea typeface="JetBrains Mono" pitchFamily="49" charset="-122"/>
                <a:cs typeface="JetBrains Mono" pitchFamily="49" charset="-120"/>
              </a:rPr>
              <a:t>"&gt;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&lt;div class="</a:t>
            </a:r>
            <a:r>
              <a:rPr lang="en-US" sz="1200" dirty="0">
                <a:solidFill>
                  <a:srgbClr val="F2994A"/>
                </a:solidFill>
                <a:latin typeface="JetBrains Mono" pitchFamily="49" charset="0"/>
                <a:ea typeface="JetBrains Mono" pitchFamily="49" charset="-122"/>
                <a:cs typeface="JetBrains Mono" pitchFamily="49" charset="-120"/>
              </a:rPr>
              <a:t>row</a:t>
            </a:r>
            <a:r>
              <a:rPr lang="en-US" sz="1200" dirty="0">
                <a:solidFill>
                  <a:srgbClr val="E3E8F1"/>
                </a:solidFill>
                <a:latin typeface="JetBrains Mono" pitchFamily="49" charset="0"/>
                <a:ea typeface="JetBrains Mono" pitchFamily="49" charset="-122"/>
                <a:cs typeface="JetBrains Mono" pitchFamily="49" charset="-120"/>
              </a:rPr>
              <a:t>"&gt;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&lt;div class="</a:t>
            </a:r>
            <a:r>
              <a:rPr lang="en-US" sz="1200" dirty="0">
                <a:solidFill>
                  <a:srgbClr val="F2994A"/>
                </a:solidFill>
                <a:latin typeface="JetBrains Mono" pitchFamily="49" charset="0"/>
                <a:ea typeface="JetBrains Mono" pitchFamily="49" charset="-122"/>
                <a:cs typeface="JetBrains Mono" pitchFamily="49" charset="-120"/>
              </a:rPr>
              <a:t>col-md-4</a:t>
            </a:r>
            <a:r>
              <a:rPr lang="en-US" sz="1200" dirty="0">
                <a:solidFill>
                  <a:srgbClr val="E3E8F1"/>
                </a:solidFill>
                <a:latin typeface="JetBrains Mono" pitchFamily="49" charset="0"/>
                <a:ea typeface="JetBrains Mono" pitchFamily="49" charset="-122"/>
                <a:cs typeface="JetBrains Mono" pitchFamily="49" charset="-120"/>
              </a:rPr>
              <a:t>"&gt;Card 1&lt;/div&gt;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&lt;div class="</a:t>
            </a:r>
            <a:r>
              <a:rPr lang="en-US" sz="1200" dirty="0">
                <a:solidFill>
                  <a:srgbClr val="F2994A"/>
                </a:solidFill>
                <a:latin typeface="JetBrains Mono" pitchFamily="49" charset="0"/>
                <a:ea typeface="JetBrains Mono" pitchFamily="49" charset="-122"/>
                <a:cs typeface="JetBrains Mono" pitchFamily="49" charset="-120"/>
              </a:rPr>
              <a:t>col-md-4</a:t>
            </a:r>
            <a:r>
              <a:rPr lang="en-US" sz="1200" dirty="0">
                <a:solidFill>
                  <a:srgbClr val="E3E8F1"/>
                </a:solidFill>
                <a:latin typeface="JetBrains Mono" pitchFamily="49" charset="0"/>
                <a:ea typeface="JetBrains Mono" pitchFamily="49" charset="-122"/>
                <a:cs typeface="JetBrains Mono" pitchFamily="49" charset="-120"/>
              </a:rPr>
              <a:t>"&gt;Card 2&lt;/div&gt;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&lt;div class="</a:t>
            </a:r>
            <a:r>
              <a:rPr lang="en-US" sz="1200" dirty="0">
                <a:solidFill>
                  <a:srgbClr val="F2994A"/>
                </a:solidFill>
                <a:latin typeface="JetBrains Mono" pitchFamily="49" charset="0"/>
                <a:ea typeface="JetBrains Mono" pitchFamily="49" charset="-122"/>
                <a:cs typeface="JetBrains Mono" pitchFamily="49" charset="-120"/>
              </a:rPr>
              <a:t>col-md-4</a:t>
            </a:r>
            <a:r>
              <a:rPr lang="en-US" sz="1200" dirty="0">
                <a:solidFill>
                  <a:srgbClr val="E3E8F1"/>
                </a:solidFill>
                <a:latin typeface="JetBrains Mono" pitchFamily="49" charset="0"/>
                <a:ea typeface="JetBrains Mono" pitchFamily="49" charset="-122"/>
                <a:cs typeface="JetBrains Mono" pitchFamily="49" charset="-120"/>
              </a:rPr>
              <a:t>"&gt;Card 3&lt;/div&gt;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&lt;/div&gt;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&lt;/div&gt;</a:t>
            </a:r>
            <a:endParaRPr lang="en-US" sz="1200" dirty="0"/>
          </a:p>
        </p:txBody>
      </p:sp>
      <p:sp>
        <p:nvSpPr>
          <p:cNvPr id="8" name="Text 6"/>
          <p:cNvSpPr/>
          <p:nvPr/>
        </p:nvSpPr>
        <p:spPr>
          <a:xfrm>
            <a:off x="7950200" y="1899915"/>
            <a:ext cx="353187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4F0"/>
                </a:solidFill>
                <a:latin typeface="IBM Plex Sans" pitchFamily="34" charset="0"/>
                <a:ea typeface="IBM Plex Sans" pitchFamily="34" charset="-122"/>
                <a:cs typeface="IBM Plex Sans" pitchFamily="34" charset="-120"/>
              </a:rPr>
              <a:t>WHAT TO NOTICE</a:t>
            </a:r>
            <a:endParaRPr lang="en-US" sz="1200" dirty="0"/>
          </a:p>
        </p:txBody>
      </p:sp>
      <p:sp>
        <p:nvSpPr>
          <p:cNvPr id="9" name="Text 7"/>
          <p:cNvSpPr/>
          <p:nvPr/>
        </p:nvSpPr>
        <p:spPr>
          <a:xfrm>
            <a:off x="7950200" y="2240285"/>
            <a:ext cx="353187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3E8F1"/>
                </a:solidFill>
                <a:latin typeface="IBM Plex Sans" pitchFamily="34" charset="0"/>
                <a:ea typeface="IBM Plex Sans" pitchFamily="34" charset="-122"/>
                <a:cs typeface="IBM Plex Sans" pitchFamily="34" charset="-120"/>
              </a:rPr>
              <a:t>A styled button with </a:t>
            </a:r>
            <a:r>
              <a:rPr lang="en-US" sz="1400" b="1" dirty="0">
                <a:solidFill>
                  <a:srgbClr val="E3E8F1"/>
                </a:solidFill>
                <a:latin typeface="IBM Plex Sans" pitchFamily="34" charset="0"/>
                <a:ea typeface="IBM Plex Sans" pitchFamily="34" charset="-122"/>
                <a:cs typeface="IBM Plex Sans" pitchFamily="34" charset="-120"/>
              </a:rPr>
              <a:t>zero</a:t>
            </a:r>
            <a:r>
              <a:rPr lang="en-US" sz="1400" dirty="0">
                <a:solidFill>
                  <a:srgbClr val="E3E8F1"/>
                </a:solidFill>
                <a:latin typeface="IBM Plex Sans" pitchFamily="34" charset="0"/>
                <a:ea typeface="IBM Plex Sans" pitchFamily="34" charset="-122"/>
                <a:cs typeface="IBM Plex Sans" pitchFamily="34" charset="-120"/>
              </a:rPr>
              <a:t> CSS written by you</a:t>
            </a:r>
            <a:endParaRPr lang="en-US" sz="1400" dirty="0"/>
          </a:p>
        </p:txBody>
      </p:sp>
      <p:sp>
        <p:nvSpPr>
          <p:cNvPr id="10" name="Text 8"/>
          <p:cNvSpPr/>
          <p:nvPr/>
        </p:nvSpPr>
        <p:spPr>
          <a:xfrm>
            <a:off x="7950200" y="2865115"/>
            <a:ext cx="353187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3E8F1"/>
                </a:solidFill>
                <a:latin typeface="IBM Plex Sans" pitchFamily="34" charset="0"/>
                <a:ea typeface="IBM Plex Sans" pitchFamily="34" charset="-122"/>
                <a:cs typeface="IBM Plex Sans" pitchFamily="34" charset="-120"/>
              </a:rPr>
              <a:t>col-md-4</a:t>
            </a:r>
            <a:r>
              <a:rPr lang="en-US" sz="1400" dirty="0">
                <a:solidFill>
                  <a:srgbClr val="E3E8F1"/>
                </a:solidFill>
                <a:latin typeface="IBM Plex Sans" pitchFamily="34" charset="0"/>
                <a:ea typeface="IBM Plex Sans" pitchFamily="34" charset="-122"/>
                <a:cs typeface="IBM Plex Sans" pitchFamily="34" charset="-120"/>
              </a:rPr>
              <a:t>: 3 columns on laptops, stacked on phones. Responsive for free.</a:t>
            </a:r>
            <a:endParaRPr lang="en-US" sz="1400" dirty="0"/>
          </a:p>
        </p:txBody>
      </p:sp>
      <p:sp>
        <p:nvSpPr>
          <p:cNvPr id="11" name="Text 9"/>
          <p:cNvSpPr/>
          <p:nvPr/>
        </p:nvSpPr>
        <p:spPr>
          <a:xfrm>
            <a:off x="7950200" y="3489970"/>
            <a:ext cx="3429000" cy="896620"/>
          </a:xfrm>
          <a:prstGeom prst="roundRect">
            <a:avLst>
              <a:gd name="adj" fmla="val 8499"/>
            </a:avLst>
          </a:prstGeom>
          <a:solidFill>
            <a:srgbClr val="F2994A"/>
          </a:solidFill>
          <a:ln/>
        </p:spPr>
        <p:txBody>
          <a:bodyPr wrap="square" lIns="130082" tIns="79282" rIns="36356" bIns="53882"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Our portfolio stays hand-written CSS today, so you learn what Bootstrap does underneath.</a:t>
            </a:r>
            <a:endParaRPr lang="en-US" sz="1300" dirty="0"/>
          </a:p>
        </p:txBody>
      </p:sp>
      <p:sp>
        <p:nvSpPr>
          <p:cNvPr id="12" name="Text 10"/>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getbootstrap.com → Docs → Introduction → copy the CSS &lt;link&gt;</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232747" cy="289560"/>
          </a:xfrm>
          <a:custGeom>
            <a:avLst/>
            <a:gdLst/>
            <a:ahLst/>
            <a:cxnLst/>
            <a:rect l="l" t="t" r="r" b="b"/>
            <a:pathLst>
              <a:path w="1232747" h="289560">
                <a:moveTo>
                  <a:pt x="144780" y="0"/>
                </a:moveTo>
                <a:lnTo>
                  <a:pt x="1087967" y="0"/>
                </a:lnTo>
                <a:arcTo hR="144780" wR="144780" stAng="16200000" swAng="5400000"/>
                <a:lnTo>
                  <a:pt x="1232747" y="144780"/>
                </a:lnTo>
                <a:arcTo hR="144780" wR="144780" stAng="0" swAng="5400000"/>
                <a:lnTo>
                  <a:pt x="144780" y="289560"/>
                </a:lnTo>
                <a:arcTo hR="144780" wR="144780" stAng="5400000" swAng="5400000"/>
                <a:lnTo>
                  <a:pt x="0" y="144780"/>
                </a:lnTo>
                <a:arcTo hR="144780" wR="144780" stAng="10800000" swAng="5400000"/>
                <a:close/>
              </a:path>
            </a:pathLst>
          </a:custGeom>
          <a:solidFill>
            <a:srgbClr val="B4531A"/>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RAPID FIRE</a:t>
            </a:r>
            <a:endParaRPr lang="en-US" sz="1200" dirty="0"/>
          </a:p>
        </p:txBody>
      </p:sp>
      <p:sp>
        <p:nvSpPr>
          <p:cNvPr id="3" name="Text 1"/>
          <p:cNvSpPr/>
          <p:nvPr/>
        </p:nvSpPr>
        <p:spPr>
          <a:xfrm>
            <a:off x="2172547" y="850900"/>
            <a:ext cx="356082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1A"/>
                </a:solidFill>
                <a:latin typeface="IBM Plex Sans" pitchFamily="34" charset="0"/>
                <a:ea typeface="IBM Plex Sans" pitchFamily="34" charset="-122"/>
                <a:cs typeface="IBM Plex Sans" pitchFamily="34" charset="-120"/>
              </a:rPr>
              <a:t>12:22 PM · 30 seconds each · name picker</a:t>
            </a:r>
            <a:endParaRPr lang="en-US" sz="1200" dirty="0"/>
          </a:p>
        </p:txBody>
      </p:sp>
      <p:sp>
        <p:nvSpPr>
          <p:cNvPr id="4" name="Text 2"/>
          <p:cNvSpPr/>
          <p:nvPr>
            <p:ph type="title"/>
          </p:nvPr>
        </p:nvSpPr>
        <p:spPr>
          <a:xfrm>
            <a:off x="812800" y="13055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Morning recap: six questions, six random names</a:t>
            </a:r>
            <a:endParaRPr lang="en-US" sz="3000" dirty="0"/>
          </a:p>
        </p:txBody>
      </p:sp>
      <p:sp>
        <p:nvSpPr>
          <p:cNvPr id="5" name="Shape 3"/>
          <p:cNvSpPr/>
          <p:nvPr/>
        </p:nvSpPr>
        <p:spPr>
          <a:xfrm>
            <a:off x="815975" y="1931045"/>
            <a:ext cx="3414183" cy="1340908"/>
          </a:xfrm>
          <a:prstGeom prst="roundRect">
            <a:avLst>
              <a:gd name="adj" fmla="val 7340"/>
            </a:avLst>
          </a:prstGeom>
          <a:solidFill>
            <a:srgbClr val="FFFFFF"/>
          </a:solidFill>
          <a:ln w="6350">
            <a:solidFill>
              <a:srgbClr val="E1DED5"/>
            </a:solidFill>
            <a:prstDash val="solid"/>
          </a:ln>
        </p:spPr>
      </p:sp>
      <p:sp>
        <p:nvSpPr>
          <p:cNvPr id="6" name="Text 4"/>
          <p:cNvSpPr/>
          <p:nvPr/>
        </p:nvSpPr>
        <p:spPr>
          <a:xfrm>
            <a:off x="1021609" y="2136676"/>
            <a:ext cx="309300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Q1</a:t>
            </a:r>
            <a:endParaRPr lang="en-US" sz="2000" dirty="0"/>
          </a:p>
        </p:txBody>
      </p:sp>
      <p:sp>
        <p:nvSpPr>
          <p:cNvPr id="7" name="Text 5"/>
          <p:cNvSpPr/>
          <p:nvPr/>
        </p:nvSpPr>
        <p:spPr>
          <a:xfrm>
            <a:off x="1021609" y="2568476"/>
            <a:ext cx="309300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In our restaurant, who is the browser and who is the database?</a:t>
            </a:r>
            <a:endParaRPr lang="en-US" sz="1400" dirty="0"/>
          </a:p>
        </p:txBody>
      </p:sp>
      <p:sp>
        <p:nvSpPr>
          <p:cNvPr id="8" name="Shape 6"/>
          <p:cNvSpPr/>
          <p:nvPr/>
        </p:nvSpPr>
        <p:spPr>
          <a:xfrm>
            <a:off x="4388908" y="1931045"/>
            <a:ext cx="3414183" cy="1340908"/>
          </a:xfrm>
          <a:prstGeom prst="roundRect">
            <a:avLst>
              <a:gd name="adj" fmla="val 7340"/>
            </a:avLst>
          </a:prstGeom>
          <a:solidFill>
            <a:srgbClr val="FFFFFF"/>
          </a:solidFill>
          <a:ln w="6350">
            <a:solidFill>
              <a:srgbClr val="E1DED5"/>
            </a:solidFill>
            <a:prstDash val="solid"/>
          </a:ln>
        </p:spPr>
      </p:sp>
      <p:sp>
        <p:nvSpPr>
          <p:cNvPr id="9" name="Text 7"/>
          <p:cNvSpPr/>
          <p:nvPr/>
        </p:nvSpPr>
        <p:spPr>
          <a:xfrm>
            <a:off x="4594542" y="2136676"/>
            <a:ext cx="309300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Q2</a:t>
            </a:r>
            <a:endParaRPr lang="en-US" sz="2000" dirty="0"/>
          </a:p>
        </p:txBody>
      </p:sp>
      <p:sp>
        <p:nvSpPr>
          <p:cNvPr id="10" name="Text 8"/>
          <p:cNvSpPr/>
          <p:nvPr/>
        </p:nvSpPr>
        <p:spPr>
          <a:xfrm>
            <a:off x="4594542" y="2568476"/>
            <a:ext cx="309300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Why do we write &lt;!DOCTYPE html&gt;?</a:t>
            </a:r>
            <a:endParaRPr lang="en-US" sz="1400" dirty="0"/>
          </a:p>
        </p:txBody>
      </p:sp>
      <p:sp>
        <p:nvSpPr>
          <p:cNvPr id="11" name="Shape 9"/>
          <p:cNvSpPr/>
          <p:nvPr/>
        </p:nvSpPr>
        <p:spPr>
          <a:xfrm>
            <a:off x="7961842" y="1931045"/>
            <a:ext cx="3414183" cy="1340908"/>
          </a:xfrm>
          <a:prstGeom prst="roundRect">
            <a:avLst>
              <a:gd name="adj" fmla="val 7340"/>
            </a:avLst>
          </a:prstGeom>
          <a:solidFill>
            <a:srgbClr val="FFFFFF"/>
          </a:solidFill>
          <a:ln w="6350">
            <a:solidFill>
              <a:srgbClr val="E1DED5"/>
            </a:solidFill>
            <a:prstDash val="solid"/>
          </a:ln>
        </p:spPr>
      </p:sp>
      <p:sp>
        <p:nvSpPr>
          <p:cNvPr id="12" name="Text 10"/>
          <p:cNvSpPr/>
          <p:nvPr/>
        </p:nvSpPr>
        <p:spPr>
          <a:xfrm>
            <a:off x="8167476" y="2136676"/>
            <a:ext cx="309300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Q3</a:t>
            </a:r>
            <a:endParaRPr lang="en-US" sz="2000" dirty="0"/>
          </a:p>
        </p:txBody>
      </p:sp>
      <p:sp>
        <p:nvSpPr>
          <p:cNvPr id="13" name="Text 11"/>
          <p:cNvSpPr/>
          <p:nvPr/>
        </p:nvSpPr>
        <p:spPr>
          <a:xfrm>
            <a:off x="8167476" y="2568476"/>
            <a:ext cx="309300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id vs class: which one is like your USN?</a:t>
            </a:r>
            <a:endParaRPr lang="en-US" sz="1400" dirty="0"/>
          </a:p>
        </p:txBody>
      </p:sp>
      <p:sp>
        <p:nvSpPr>
          <p:cNvPr id="14" name="Shape 12"/>
          <p:cNvSpPr/>
          <p:nvPr/>
        </p:nvSpPr>
        <p:spPr>
          <a:xfrm>
            <a:off x="815975" y="3430687"/>
            <a:ext cx="3414183" cy="1340908"/>
          </a:xfrm>
          <a:prstGeom prst="roundRect">
            <a:avLst>
              <a:gd name="adj" fmla="val 7340"/>
            </a:avLst>
          </a:prstGeom>
          <a:solidFill>
            <a:srgbClr val="FFFFFF"/>
          </a:solidFill>
          <a:ln w="6350">
            <a:solidFill>
              <a:srgbClr val="E1DED5"/>
            </a:solidFill>
            <a:prstDash val="solid"/>
          </a:ln>
        </p:spPr>
      </p:sp>
      <p:sp>
        <p:nvSpPr>
          <p:cNvPr id="15" name="Text 13"/>
          <p:cNvSpPr/>
          <p:nvPr/>
        </p:nvSpPr>
        <p:spPr>
          <a:xfrm>
            <a:off x="1021609" y="3636318"/>
            <a:ext cx="309300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Q4</a:t>
            </a:r>
            <a:endParaRPr lang="en-US" sz="2000" dirty="0"/>
          </a:p>
        </p:txBody>
      </p:sp>
      <p:sp>
        <p:nvSpPr>
          <p:cNvPr id="16" name="Text 14"/>
          <p:cNvSpPr/>
          <p:nvPr/>
        </p:nvSpPr>
        <p:spPr>
          <a:xfrm>
            <a:off x="1021609" y="4068118"/>
            <a:ext cx="309300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Margin vs padding, using the phone case</a:t>
            </a:r>
            <a:endParaRPr lang="en-US" sz="1400" dirty="0"/>
          </a:p>
        </p:txBody>
      </p:sp>
      <p:sp>
        <p:nvSpPr>
          <p:cNvPr id="17" name="Shape 15"/>
          <p:cNvSpPr/>
          <p:nvPr/>
        </p:nvSpPr>
        <p:spPr>
          <a:xfrm>
            <a:off x="4388908" y="3430687"/>
            <a:ext cx="3414183" cy="1340908"/>
          </a:xfrm>
          <a:prstGeom prst="roundRect">
            <a:avLst>
              <a:gd name="adj" fmla="val 7340"/>
            </a:avLst>
          </a:prstGeom>
          <a:solidFill>
            <a:srgbClr val="FFFFFF"/>
          </a:solidFill>
          <a:ln w="6350">
            <a:solidFill>
              <a:srgbClr val="E1DED5"/>
            </a:solidFill>
            <a:prstDash val="solid"/>
          </a:ln>
        </p:spPr>
      </p:sp>
      <p:sp>
        <p:nvSpPr>
          <p:cNvPr id="18" name="Text 16"/>
          <p:cNvSpPr/>
          <p:nvPr/>
        </p:nvSpPr>
        <p:spPr>
          <a:xfrm>
            <a:off x="4594542" y="3636318"/>
            <a:ext cx="309300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Q5</a:t>
            </a:r>
            <a:endParaRPr lang="en-US" sz="2000" dirty="0"/>
          </a:p>
        </p:txBody>
      </p:sp>
      <p:sp>
        <p:nvSpPr>
          <p:cNvPr id="19" name="Text 17"/>
          <p:cNvSpPr/>
          <p:nvPr/>
        </p:nvSpPr>
        <p:spPr>
          <a:xfrm>
            <a:off x="4594542" y="4068118"/>
            <a:ext cx="309300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justify-content vs align-items?</a:t>
            </a:r>
            <a:endParaRPr lang="en-US" sz="1400" dirty="0"/>
          </a:p>
        </p:txBody>
      </p:sp>
      <p:sp>
        <p:nvSpPr>
          <p:cNvPr id="20" name="Shape 18"/>
          <p:cNvSpPr/>
          <p:nvPr/>
        </p:nvSpPr>
        <p:spPr>
          <a:xfrm>
            <a:off x="7961842" y="3430687"/>
            <a:ext cx="3414183" cy="1340908"/>
          </a:xfrm>
          <a:prstGeom prst="roundRect">
            <a:avLst>
              <a:gd name="adj" fmla="val 7340"/>
            </a:avLst>
          </a:prstGeom>
          <a:solidFill>
            <a:srgbClr val="FFFFFF"/>
          </a:solidFill>
          <a:ln w="6350">
            <a:solidFill>
              <a:srgbClr val="E1DED5"/>
            </a:solidFill>
            <a:prstDash val="solid"/>
          </a:ln>
        </p:spPr>
      </p:sp>
      <p:sp>
        <p:nvSpPr>
          <p:cNvPr id="21" name="Text 19"/>
          <p:cNvSpPr/>
          <p:nvPr/>
        </p:nvSpPr>
        <p:spPr>
          <a:xfrm>
            <a:off x="8167476" y="3636318"/>
            <a:ext cx="309300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Q6</a:t>
            </a:r>
            <a:endParaRPr lang="en-US" sz="2000" dirty="0"/>
          </a:p>
        </p:txBody>
      </p:sp>
      <p:sp>
        <p:nvSpPr>
          <p:cNvPr id="22" name="Text 20"/>
          <p:cNvSpPr/>
          <p:nvPr/>
        </p:nvSpPr>
        <p:spPr>
          <a:xfrm>
            <a:off x="8167476" y="4068118"/>
            <a:ext cx="309300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Why can a page look fine on a laptop but break on a phone?</a:t>
            </a:r>
            <a:endParaRPr lang="en-US" sz="1400" dirty="0"/>
          </a:p>
        </p:txBody>
      </p:sp>
      <p:sp>
        <p:nvSpPr>
          <p:cNvPr id="23" name="Text 21"/>
          <p:cNvSpPr/>
          <p:nvPr/>
        </p:nvSpPr>
        <p:spPr>
          <a:xfrm>
            <a:off x="812800" y="4977978"/>
            <a:ext cx="10566400" cy="520700"/>
          </a:xfrm>
          <a:prstGeom prst="roundRect">
            <a:avLst>
              <a:gd name="adj" fmla="val 14634"/>
            </a:avLst>
          </a:prstGeom>
          <a:solidFill>
            <a:srgbClr val="F2994A"/>
          </a:solidFill>
          <a:ln/>
        </p:spPr>
        <p:txBody>
          <a:bodyPr wrap="square" lIns="155482" tIns="104682" rIns="0" bIns="79282" rtlCol="0" anchor="t">
            <a:normAutofit/>
          </a:bodyPr>
          <a:lstStyle/>
          <a:p>
            <a:pPr algn="l" indent="0" marL="0">
              <a:lnSpc>
                <a:spcPts val="2100"/>
              </a:lnSpc>
              <a:buNone/>
            </a:pPr>
            <a:r>
              <a:rPr lang="en-US" sz="1500" b="1" dirty="0">
                <a:solidFill>
                  <a:srgbClr val="141B2D"/>
                </a:solidFill>
                <a:latin typeface="IBM Plex Sans" pitchFamily="34" charset="0"/>
                <a:ea typeface="IBM Plex Sans" pitchFamily="34" charset="-122"/>
                <a:cs typeface="IBM Plex Sans" pitchFamily="34" charset="-120"/>
              </a:rPr>
              <a:t>After lunch:</a:t>
            </a:r>
            <a:r>
              <a:rPr lang="en-US" sz="1500" dirty="0">
                <a:solidFill>
                  <a:srgbClr val="141B2D"/>
                </a:solidFill>
                <a:latin typeface="IBM Plex Sans" pitchFamily="34" charset="0"/>
                <a:ea typeface="IBM Plex Sans" pitchFamily="34" charset="-122"/>
                <a:cs typeface="IBM Plex Sans" pitchFamily="34" charset="-120"/>
              </a:rPr>
              <a:t> your page has no save points yet. One wrong delete and it’s gone. We fix that.</a:t>
            </a:r>
            <a:endParaRPr lang="en-US" sz="1500" dirty="0"/>
          </a:p>
        </p:txBody>
      </p:sp>
      <p:sp>
        <p:nvSpPr>
          <p:cNvPr id="24" name="Text 22"/>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Viva questions from manual p.20</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6193790" y="1143000"/>
            <a:ext cx="5363210" cy="2692400"/>
          </a:xfrm>
          <a:prstGeom prst="rect">
            <a:avLst/>
          </a:prstGeom>
          <a:noFill/>
          <a:ln/>
        </p:spPr>
        <p:txBody>
          <a:bodyPr wrap="square" lIns="0" tIns="0" rIns="0" bIns="0" rtlCol="0" anchor="t">
            <a:normAutofit/>
          </a:bodyPr>
          <a:lstStyle/>
          <a:p>
            <a:pPr algn="r" indent="0" marL="0">
              <a:lnSpc>
                <a:spcPts val="21000"/>
              </a:lnSpc>
              <a:buNone/>
            </a:pPr>
            <a:r>
              <a:rPr lang="en-US" sz="15000" b="1" dirty="0">
                <a:solidFill>
                  <a:srgbClr val="1E2840"/>
                </a:solidFill>
                <a:latin typeface="JetBrains Mono" pitchFamily="49" charset="0"/>
                <a:ea typeface="JetBrains Mono" pitchFamily="49" charset="-122"/>
                <a:cs typeface="JetBrains Mono" pitchFamily="49" charset="-120"/>
              </a:rPr>
              <a:t>git</a:t>
            </a:r>
            <a:endParaRPr lang="en-US" sz="15000" dirty="0"/>
          </a:p>
        </p:txBody>
      </p:sp>
      <p:sp>
        <p:nvSpPr>
          <p:cNvPr id="3" name="Text 1"/>
          <p:cNvSpPr/>
          <p:nvPr/>
        </p:nvSpPr>
        <p:spPr>
          <a:xfrm>
            <a:off x="812800" y="169418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994A"/>
                </a:solidFill>
                <a:latin typeface="IBM Plex Sans" pitchFamily="34" charset="0"/>
                <a:ea typeface="IBM Plex Sans" pitchFamily="34" charset="-122"/>
                <a:cs typeface="IBM Plex Sans" pitchFamily="34" charset="-120"/>
              </a:rPr>
              <a:t>SESSION 2 · 1:30 – 4:30 PM</a:t>
            </a:r>
            <a:endParaRPr lang="en-US" sz="1400" dirty="0"/>
          </a:p>
        </p:txBody>
      </p:sp>
      <p:sp>
        <p:nvSpPr>
          <p:cNvPr id="4" name="Text 2"/>
          <p:cNvSpPr/>
          <p:nvPr>
            <p:ph type="title"/>
          </p:nvPr>
        </p:nvSpPr>
        <p:spPr>
          <a:xfrm>
            <a:off x="812800" y="219710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F1EA"/>
                </a:solidFill>
                <a:latin typeface="Space Grotesk" pitchFamily="34" charset="0"/>
                <a:ea typeface="Space Grotesk" pitchFamily="34" charset="-122"/>
                <a:cs typeface="Space Grotesk" pitchFamily="34" charset="-120"/>
              </a:rPr>
              <a:t>Protect what</a:t>
            </a:r>
            <a:endParaRPr lang="en-US" sz="6000" dirty="0"/>
          </a:p>
          <a:p>
            <a:pPr algn="l" indent="0" marL="0">
              <a:lnSpc>
                <a:spcPts val="6300"/>
              </a:lnSpc>
              <a:buNone/>
            </a:pPr>
            <a:r>
              <a:rPr lang="en-US" sz="6000" b="1" i="0" dirty="0">
                <a:solidFill>
                  <a:srgbClr val="F3F1EA"/>
                </a:solidFill>
                <a:latin typeface="Space Grotesk" pitchFamily="34" charset="0"/>
                <a:ea typeface="Space Grotesk" pitchFamily="34" charset="-122"/>
                <a:cs typeface="Space Grotesk" pitchFamily="34" charset="-120"/>
              </a:rPr>
              <a:t>you built</a:t>
            </a:r>
            <a:endParaRPr lang="en-US" sz="6000" dirty="0"/>
          </a:p>
        </p:txBody>
      </p:sp>
      <p:sp>
        <p:nvSpPr>
          <p:cNvPr id="5" name="Text 3"/>
          <p:cNvSpPr/>
          <p:nvPr/>
        </p:nvSpPr>
        <p:spPr>
          <a:xfrm>
            <a:off x="812800" y="40513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9C2D3"/>
                </a:solidFill>
                <a:latin typeface="IBM Plex Sans" pitchFamily="34" charset="0"/>
                <a:ea typeface="IBM Plex Sans" pitchFamily="34" charset="-122"/>
                <a:cs typeface="IBM Plex Sans" pitchFamily="34" charset="-120"/>
              </a:rPr>
              <a:t>Portfolio + Git basics: save points, history, parallel universes.</a:t>
            </a:r>
            <a:endParaRPr lang="en-US" sz="2000" dirty="0"/>
          </a:p>
        </p:txBody>
      </p:sp>
      <p:sp>
        <p:nvSpPr>
          <p:cNvPr id="6" name="Text 4"/>
          <p:cNvSpPr/>
          <p:nvPr/>
        </p:nvSpPr>
        <p:spPr>
          <a:xfrm>
            <a:off x="812800" y="4660900"/>
            <a:ext cx="1781704" cy="502920"/>
          </a:xfrm>
          <a:prstGeom prst="roundRect">
            <a:avLst>
              <a:gd name="adj" fmla="val 15152"/>
            </a:avLst>
          </a:prstGeom>
          <a:solidFill>
            <a:srgbClr val="1E2840"/>
          </a:solidFill>
          <a:ln/>
        </p:spPr>
        <p:txBody>
          <a:bodyPr wrap="none" lIns="0" tIns="0" rIns="0" bIns="0" rtlCol="0" anchor="ctr">
            <a:normAutofit/>
          </a:bodyPr>
          <a:lstStyle/>
          <a:p>
            <a:pPr algn="ctr"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Goal: </a:t>
            </a:r>
            <a:r>
              <a:rPr lang="en-US" sz="1400" b="1" dirty="0">
                <a:solidFill>
                  <a:srgbClr val="F2994A"/>
                </a:solidFill>
                <a:latin typeface="IBM Plex Sans" pitchFamily="34" charset="0"/>
                <a:ea typeface="IBM Plex Sans" pitchFamily="34" charset="-122"/>
                <a:cs typeface="IBM Plex Sans" pitchFamily="34" charset="-120"/>
              </a:rPr>
              <a:t>3+ commits</a:t>
            </a:r>
            <a:endParaRPr lang="en-US" sz="1400" dirty="0"/>
          </a:p>
        </p:txBody>
      </p:sp>
      <p:sp>
        <p:nvSpPr>
          <p:cNvPr id="7" name="Text 5"/>
          <p:cNvSpPr/>
          <p:nvPr/>
        </p:nvSpPr>
        <p:spPr>
          <a:xfrm>
            <a:off x="2746904" y="4660900"/>
            <a:ext cx="2207048" cy="502920"/>
          </a:xfrm>
          <a:prstGeom prst="roundRect">
            <a:avLst>
              <a:gd name="adj" fmla="val 15152"/>
            </a:avLst>
          </a:prstGeom>
          <a:solidFill>
            <a:srgbClr val="1E2840"/>
          </a:solidFill>
          <a:ln/>
        </p:spPr>
        <p:txBody>
          <a:bodyPr wrap="none" lIns="0" tIns="0" rIns="0" bIns="0" rtlCol="0" anchor="ctr">
            <a:normAutofit/>
          </a:bodyPr>
          <a:lstStyle/>
          <a:p>
            <a:pPr algn="ctr"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Goal: </a:t>
            </a:r>
            <a:r>
              <a:rPr lang="en-US" sz="1400" b="1" dirty="0">
                <a:solidFill>
                  <a:srgbClr val="F2994A"/>
                </a:solidFill>
                <a:latin typeface="IBM Plex Sans" pitchFamily="34" charset="0"/>
                <a:ea typeface="IBM Plex Sans" pitchFamily="34" charset="-122"/>
                <a:cs typeface="IBM Plex Sans" pitchFamily="34" charset="-120"/>
              </a:rPr>
              <a:t>1 branch merged</a:t>
            </a:r>
            <a:endParaRPr lang="en-US" sz="1400" dirty="0"/>
          </a:p>
        </p:txBody>
      </p:sp>
      <p:sp>
        <p:nvSpPr>
          <p:cNvPr id="8" name="Text 6"/>
          <p:cNvSpPr/>
          <p:nvPr/>
        </p:nvSpPr>
        <p:spPr>
          <a:xfrm>
            <a:off x="5106353" y="4660900"/>
            <a:ext cx="2369185" cy="502920"/>
          </a:xfrm>
          <a:prstGeom prst="roundRect">
            <a:avLst>
              <a:gd name="adj" fmla="val 15152"/>
            </a:avLst>
          </a:prstGeom>
          <a:solidFill>
            <a:srgbClr val="1E2840"/>
          </a:solidFill>
          <a:ln/>
        </p:spPr>
        <p:txBody>
          <a:bodyPr wrap="none" lIns="0" tIns="0" rIns="0" bIns="0" rtlCol="0" anchor="ctr">
            <a:normAutofit/>
          </a:bodyPr>
          <a:lstStyle/>
          <a:p>
            <a:pPr algn="ctr"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Goal: </a:t>
            </a:r>
            <a:r>
              <a:rPr lang="en-US" sz="1400" b="1" dirty="0">
                <a:solidFill>
                  <a:srgbClr val="F2994A"/>
                </a:solidFill>
                <a:latin typeface="IBM Plex Sans" pitchFamily="34" charset="0"/>
                <a:ea typeface="IBM Plex Sans" pitchFamily="34" charset="-122"/>
                <a:cs typeface="IBM Plex Sans" pitchFamily="34" charset="-120"/>
              </a:rPr>
              <a:t>a finished portfolio</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261975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1:30 PM · Why version control?</a:t>
            </a:r>
            <a:endParaRPr lang="en-US" sz="1200" dirty="0"/>
          </a:p>
        </p:txBody>
      </p:sp>
      <p:sp>
        <p:nvSpPr>
          <p:cNvPr id="4" name="Text 2"/>
          <p:cNvSpPr/>
          <p:nvPr>
            <p:ph type="title"/>
          </p:nvPr>
        </p:nvSpPr>
        <p:spPr>
          <a:xfrm>
            <a:off x="812800" y="13055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We have all made this folder</a:t>
            </a:r>
            <a:endParaRPr lang="en-US" sz="3000" dirty="0"/>
          </a:p>
        </p:txBody>
      </p:sp>
      <p:sp>
        <p:nvSpPr>
          <p:cNvPr id="5" name="Shape 3"/>
          <p:cNvSpPr/>
          <p:nvPr/>
        </p:nvSpPr>
        <p:spPr>
          <a:xfrm>
            <a:off x="815975" y="1931045"/>
            <a:ext cx="5200650" cy="2712720"/>
          </a:xfrm>
          <a:prstGeom prst="roundRect">
            <a:avLst>
              <a:gd name="adj" fmla="val 2692"/>
            </a:avLst>
          </a:prstGeom>
          <a:solidFill>
            <a:srgbClr val="FFFFFF"/>
          </a:solidFill>
          <a:ln w="6350">
            <a:solidFill>
              <a:srgbClr val="D5D1C6"/>
            </a:solidFill>
            <a:prstDash val="solid"/>
          </a:ln>
        </p:spPr>
      </p:sp>
      <p:sp>
        <p:nvSpPr>
          <p:cNvPr id="6" name="Text 4"/>
          <p:cNvSpPr/>
          <p:nvPr/>
        </p:nvSpPr>
        <p:spPr>
          <a:xfrm>
            <a:off x="818409" y="1933476"/>
            <a:ext cx="5195782" cy="391160"/>
          </a:xfrm>
          <a:custGeom>
            <a:avLst/>
            <a:gdLst/>
            <a:ahLst/>
            <a:cxnLst/>
            <a:rect l="l" t="t" r="r" b="b"/>
            <a:pathLst>
              <a:path w="5195782" h="391160">
                <a:moveTo>
                  <a:pt x="76200" y="0"/>
                </a:moveTo>
                <a:lnTo>
                  <a:pt x="5119582" y="0"/>
                </a:lnTo>
                <a:arcTo hR="76200" wR="76200" stAng="16200000" swAng="5400000"/>
                <a:lnTo>
                  <a:pt x="5195782" y="391160"/>
                </a:lnTo>
                <a:lnTo>
                  <a:pt x="0" y="391160"/>
                </a:lnTo>
                <a:lnTo>
                  <a:pt x="0" y="76200"/>
                </a:lnTo>
                <a:arcTo hR="76200" wR="76200" stAng="10800000" swAng="5400000"/>
                <a:close/>
              </a:path>
            </a:pathLst>
          </a:custGeom>
          <a:solidFill>
            <a:srgbClr val="ECE9E1"/>
          </a:solidFill>
          <a:ln/>
        </p:spPr>
        <p:txBody>
          <a:bodyPr wrap="square" lIns="152400" tIns="88900" rIns="5671" bIns="63500" rtlCol="0" anchor="t">
            <a:normAutofit/>
          </a:bodyPr>
          <a:lstStyle/>
          <a:p>
            <a:pPr algn="l" indent="0" marL="0">
              <a:lnSpc>
                <a:spcPts val="1680"/>
              </a:lnSpc>
              <a:buNone/>
            </a:pPr>
            <a:r>
              <a:rPr lang="en-US" sz="1200" dirty="0">
                <a:solidFill>
                  <a:srgbClr val="4A5266"/>
                </a:solidFill>
                <a:latin typeface="IBM Plex Sans" pitchFamily="34" charset="0"/>
                <a:ea typeface="IBM Plex Sans" pitchFamily="34" charset="-122"/>
                <a:cs typeface="IBM Plex Sans" pitchFamily="34" charset="-120"/>
              </a:rPr>
              <a:t>Desktop › project</a:t>
            </a:r>
            <a:endParaRPr lang="en-US" sz="1200" dirty="0"/>
          </a:p>
        </p:txBody>
      </p:sp>
      <p:sp>
        <p:nvSpPr>
          <p:cNvPr id="7" name="Text 5"/>
          <p:cNvSpPr/>
          <p:nvPr/>
        </p:nvSpPr>
        <p:spPr>
          <a:xfrm>
            <a:off x="970809" y="2477021"/>
            <a:ext cx="503771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2236"/>
                </a:solidFill>
                <a:latin typeface="JetBrains Mono" pitchFamily="49" charset="0"/>
                <a:ea typeface="JetBrains Mono" pitchFamily="49" charset="-122"/>
                <a:cs typeface="JetBrains Mono" pitchFamily="49" charset="-120"/>
              </a:rPr>
              <a:t>portfolio.html</a:t>
            </a:r>
            <a:endParaRPr lang="en-US" sz="1300" dirty="0"/>
          </a:p>
        </p:txBody>
      </p:sp>
      <p:sp>
        <p:nvSpPr>
          <p:cNvPr id="8" name="Text 6"/>
          <p:cNvSpPr/>
          <p:nvPr/>
        </p:nvSpPr>
        <p:spPr>
          <a:xfrm>
            <a:off x="970809" y="2746276"/>
            <a:ext cx="503771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2236"/>
                </a:solidFill>
                <a:latin typeface="JetBrains Mono" pitchFamily="49" charset="0"/>
                <a:ea typeface="JetBrains Mono" pitchFamily="49" charset="-122"/>
                <a:cs typeface="JetBrains Mono" pitchFamily="49" charset="-120"/>
              </a:rPr>
              <a:t>portfolio_final.html</a:t>
            </a:r>
            <a:endParaRPr lang="en-US" sz="1300" dirty="0"/>
          </a:p>
        </p:txBody>
      </p:sp>
      <p:sp>
        <p:nvSpPr>
          <p:cNvPr id="9" name="Text 7"/>
          <p:cNvSpPr/>
          <p:nvPr/>
        </p:nvSpPr>
        <p:spPr>
          <a:xfrm>
            <a:off x="970809" y="3015506"/>
            <a:ext cx="503771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2236"/>
                </a:solidFill>
                <a:latin typeface="JetBrains Mono" pitchFamily="49" charset="0"/>
                <a:ea typeface="JetBrains Mono" pitchFamily="49" charset="-122"/>
                <a:cs typeface="JetBrains Mono" pitchFamily="49" charset="-120"/>
              </a:rPr>
              <a:t>portfolio_final_v2.html</a:t>
            </a:r>
            <a:endParaRPr lang="en-US" sz="1300" dirty="0"/>
          </a:p>
        </p:txBody>
      </p:sp>
      <p:sp>
        <p:nvSpPr>
          <p:cNvPr id="10" name="Text 8"/>
          <p:cNvSpPr/>
          <p:nvPr/>
        </p:nvSpPr>
        <p:spPr>
          <a:xfrm>
            <a:off x="970809" y="3284761"/>
            <a:ext cx="503771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2236"/>
                </a:solidFill>
                <a:latin typeface="JetBrains Mono" pitchFamily="49" charset="0"/>
                <a:ea typeface="JetBrains Mono" pitchFamily="49" charset="-122"/>
                <a:cs typeface="JetBrains Mono" pitchFamily="49" charset="-120"/>
              </a:rPr>
              <a:t>portfolio_final_v2_fixed.html</a:t>
            </a:r>
            <a:endParaRPr lang="en-US" sz="1300" dirty="0"/>
          </a:p>
        </p:txBody>
      </p:sp>
      <p:sp>
        <p:nvSpPr>
          <p:cNvPr id="11" name="Text 9"/>
          <p:cNvSpPr/>
          <p:nvPr/>
        </p:nvSpPr>
        <p:spPr>
          <a:xfrm>
            <a:off x="970809" y="3553991"/>
            <a:ext cx="503771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2236"/>
                </a:solidFill>
                <a:latin typeface="JetBrains Mono" pitchFamily="49" charset="0"/>
                <a:ea typeface="JetBrains Mono" pitchFamily="49" charset="-122"/>
                <a:cs typeface="JetBrains Mono" pitchFamily="49" charset="-120"/>
              </a:rPr>
              <a:t>portfolio_FINAL_REAL.html</a:t>
            </a:r>
            <a:endParaRPr lang="en-US" sz="1300" dirty="0"/>
          </a:p>
        </p:txBody>
      </p:sp>
      <p:sp>
        <p:nvSpPr>
          <p:cNvPr id="12" name="Text 10"/>
          <p:cNvSpPr/>
          <p:nvPr/>
        </p:nvSpPr>
        <p:spPr>
          <a:xfrm>
            <a:off x="970809" y="3823221"/>
            <a:ext cx="503771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531A"/>
                </a:solidFill>
                <a:latin typeface="JetBrains Mono" pitchFamily="49" charset="0"/>
                <a:ea typeface="JetBrains Mono" pitchFamily="49" charset="-122"/>
                <a:cs typeface="JetBrains Mono" pitchFamily="49" charset="-120"/>
              </a:rPr>
              <a:t>portfolio_FINAL_REAL_use_this.html</a:t>
            </a:r>
            <a:endParaRPr lang="en-US" sz="1300" dirty="0"/>
          </a:p>
        </p:txBody>
      </p:sp>
      <p:sp>
        <p:nvSpPr>
          <p:cNvPr id="13" name="Text 11"/>
          <p:cNvSpPr/>
          <p:nvPr/>
        </p:nvSpPr>
        <p:spPr>
          <a:xfrm>
            <a:off x="6324600" y="1927870"/>
            <a:ext cx="520623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Which one is the latest? What changed in v2? Who broke the form?</a:t>
            </a:r>
            <a:endParaRPr lang="en-US" sz="1500" dirty="0"/>
          </a:p>
        </p:txBody>
      </p:sp>
      <p:sp>
        <p:nvSpPr>
          <p:cNvPr id="14" name="Text 12"/>
          <p:cNvSpPr/>
          <p:nvPr/>
        </p:nvSpPr>
        <p:spPr>
          <a:xfrm>
            <a:off x="6324600" y="2588270"/>
            <a:ext cx="520623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236"/>
                </a:solidFill>
                <a:latin typeface="Space Grotesk" pitchFamily="34" charset="0"/>
                <a:ea typeface="Space Grotesk" pitchFamily="34" charset="-122"/>
                <a:cs typeface="Space Grotesk" pitchFamily="34" charset="-120"/>
              </a:rPr>
              <a:t>Version control gives you</a:t>
            </a:r>
            <a:endParaRPr lang="en-US" sz="1800" dirty="0"/>
          </a:p>
        </p:txBody>
      </p:sp>
      <p:sp>
        <p:nvSpPr>
          <p:cNvPr id="15" name="Text 13"/>
          <p:cNvSpPr/>
          <p:nvPr/>
        </p:nvSpPr>
        <p:spPr>
          <a:xfrm>
            <a:off x="6402832" y="2989585"/>
            <a:ext cx="5120386" cy="110363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Every old version, kept safely</a:t>
            </a:r>
            <a:endParaRPr lang="en-US" sz="1400" dirty="0"/>
          </a:p>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A message for every change</a:t>
            </a:r>
            <a:endParaRPr lang="en-US" sz="1400" dirty="0"/>
          </a:p>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Who changed what, and when</a:t>
            </a:r>
            <a:endParaRPr lang="en-US" sz="1400" dirty="0"/>
          </a:p>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Safe experiments that don’t break main</a:t>
            </a:r>
            <a:endParaRPr lang="en-US" sz="1400" dirty="0"/>
          </a:p>
        </p:txBody>
      </p:sp>
      <p:sp>
        <p:nvSpPr>
          <p:cNvPr id="16" name="Text 14"/>
          <p:cNvSpPr/>
          <p:nvPr/>
        </p:nvSpPr>
        <p:spPr>
          <a:xfrm>
            <a:off x="6324600" y="4194820"/>
            <a:ext cx="5054600" cy="452120"/>
          </a:xfrm>
          <a:prstGeom prst="roundRect">
            <a:avLst>
              <a:gd name="adj" fmla="val 16854"/>
            </a:avLst>
          </a:prstGeom>
          <a:solidFill>
            <a:srgbClr val="FCEFD9"/>
          </a:solidFill>
          <a:ln/>
        </p:spPr>
        <p:txBody>
          <a:bodyPr wrap="square" lIns="130082" tIns="79282" rIns="0" bIns="53882"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Think </a:t>
            </a:r>
            <a:r>
              <a:rPr lang="en-US" sz="1400" b="1" dirty="0">
                <a:solidFill>
                  <a:srgbClr val="1A2236"/>
                </a:solidFill>
                <a:latin typeface="IBM Plex Sans" pitchFamily="34" charset="0"/>
                <a:ea typeface="IBM Plex Sans" pitchFamily="34" charset="-122"/>
                <a:cs typeface="IBM Plex Sans" pitchFamily="34" charset="-120"/>
              </a:rPr>
              <a:t>save points</a:t>
            </a:r>
            <a:r>
              <a:rPr lang="en-US" sz="1400" dirty="0">
                <a:solidFill>
                  <a:srgbClr val="1A2236"/>
                </a:solidFill>
                <a:latin typeface="IBM Plex Sans" pitchFamily="34" charset="0"/>
                <a:ea typeface="IBM Plex Sans" pitchFamily="34" charset="-122"/>
                <a:cs typeface="IBM Plex Sans" pitchFamily="34" charset="-120"/>
              </a:rPr>
              <a:t> in a video game.</a:t>
            </a:r>
            <a:endParaRPr lang="en-US" sz="1400" dirty="0"/>
          </a:p>
        </p:txBody>
      </p:sp>
      <p:sp>
        <p:nvSpPr>
          <p:cNvPr id="17" name="Text 15"/>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p.17, p.64 · Viva Q19</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196748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1:36 PM · Git vs GitHub</a:t>
            </a:r>
            <a:endParaRPr lang="en-US" sz="1200" dirty="0"/>
          </a:p>
        </p:txBody>
      </p:sp>
      <p:sp>
        <p:nvSpPr>
          <p:cNvPr id="4" name="Text 2"/>
          <p:cNvSpPr/>
          <p:nvPr>
            <p:ph type="title"/>
          </p:nvPr>
        </p:nvSpPr>
        <p:spPr>
          <a:xfrm>
            <a:off x="812800" y="13055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Git is the camera. GitHub is Instagram.</a:t>
            </a:r>
            <a:endParaRPr lang="en-US" sz="3000" dirty="0"/>
          </a:p>
        </p:txBody>
      </p:sp>
      <p:sp>
        <p:nvSpPr>
          <p:cNvPr id="5" name="Shape 3"/>
          <p:cNvSpPr/>
          <p:nvPr/>
        </p:nvSpPr>
        <p:spPr>
          <a:xfrm>
            <a:off x="812800" y="1927870"/>
            <a:ext cx="5181600" cy="2530792"/>
          </a:xfrm>
          <a:prstGeom prst="roundRect">
            <a:avLst>
              <a:gd name="adj" fmla="val 4015"/>
            </a:avLst>
          </a:prstGeom>
          <a:solidFill>
            <a:srgbClr val="FFFFFF"/>
          </a:solidFill>
          <a:ln/>
        </p:spPr>
      </p:sp>
      <p:sp>
        <p:nvSpPr>
          <p:cNvPr id="6" name="Shape 4"/>
          <p:cNvSpPr/>
          <p:nvPr/>
        </p:nvSpPr>
        <p:spPr>
          <a:xfrm>
            <a:off x="812800" y="1927870"/>
            <a:ext cx="5181600" cy="2530792"/>
          </a:xfrm>
          <a:custGeom>
            <a:avLst/>
            <a:gdLst/>
            <a:ahLst/>
            <a:cxnLst/>
            <a:rect l="l" t="t" r="r" b="b"/>
            <a:pathLst>
              <a:path w="5181600" h="2530792">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B4531A"/>
          </a:solidFill>
          <a:ln/>
        </p:spPr>
      </p:sp>
      <p:pic>
        <p:nvPicPr>
          <p:cNvPr id="7" name="Image 0" descr="Tool">    </p:cNvPr>
          <p:cNvPicPr>
            <a:picLocks noChangeAspect="1"/>
          </p:cNvPicPr>
          <p:nvPr/>
        </p:nvPicPr>
        <p:blipFill>
          <a:blip r:embed="rId1"/>
          <a:srcRect l="0" r="0" t="0" b="0"/>
          <a:stretch/>
        </p:blipFill>
        <p:spPr>
          <a:xfrm>
            <a:off x="1066800" y="2232347"/>
            <a:ext cx="355600" cy="355600"/>
          </a:xfrm>
          <a:prstGeom prst="rect">
            <a:avLst/>
          </a:prstGeom>
        </p:spPr>
      </p:pic>
      <p:sp>
        <p:nvSpPr>
          <p:cNvPr id="8" name="Text 5"/>
          <p:cNvSpPr/>
          <p:nvPr/>
        </p:nvSpPr>
        <p:spPr>
          <a:xfrm>
            <a:off x="1066800" y="2689547"/>
            <a:ext cx="481380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A2236"/>
                </a:solidFill>
                <a:latin typeface="Space Grotesk" pitchFamily="34" charset="0"/>
                <a:ea typeface="Space Grotesk" pitchFamily="34" charset="-122"/>
                <a:cs typeface="Space Grotesk" pitchFamily="34" charset="-120"/>
              </a:rPr>
              <a:t>Git</a:t>
            </a:r>
            <a:endParaRPr lang="en-US" sz="2200" dirty="0"/>
          </a:p>
        </p:txBody>
      </p:sp>
      <p:sp>
        <p:nvSpPr>
          <p:cNvPr id="9" name="Text 6"/>
          <p:cNvSpPr/>
          <p:nvPr/>
        </p:nvSpPr>
        <p:spPr>
          <a:xfrm>
            <a:off x="1145032" y="3126432"/>
            <a:ext cx="4727956" cy="110363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Version control software on </a:t>
            </a:r>
            <a:r>
              <a:rPr lang="en-US" sz="1400" b="1" dirty="0">
                <a:solidFill>
                  <a:srgbClr val="4A5266"/>
                </a:solidFill>
                <a:latin typeface="IBM Plex Sans" pitchFamily="34" charset="0"/>
                <a:ea typeface="IBM Plex Sans" pitchFamily="34" charset="-122"/>
                <a:cs typeface="IBM Plex Sans" pitchFamily="34" charset="-120"/>
              </a:rPr>
              <a:t>your</a:t>
            </a:r>
            <a:r>
              <a:rPr lang="en-US" sz="1400" dirty="0">
                <a:solidFill>
                  <a:srgbClr val="4A5266"/>
                </a:solidFill>
                <a:latin typeface="IBM Plex Sans" pitchFamily="34" charset="0"/>
                <a:ea typeface="IBM Plex Sans" pitchFamily="34" charset="-122"/>
                <a:cs typeface="IBM Plex Sans" pitchFamily="34" charset="-120"/>
              </a:rPr>
              <a:t> computer</a:t>
            </a:r>
            <a:endParaRPr lang="en-US" sz="1400" dirty="0"/>
          </a:p>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Takes the snapshots (commits)</a:t>
            </a:r>
            <a:endParaRPr lang="en-US" sz="1400" dirty="0"/>
          </a:p>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Works fully offline</a:t>
            </a:r>
            <a:endParaRPr lang="en-US" sz="1400" dirty="0"/>
          </a:p>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Today’s topic</a:t>
            </a:r>
            <a:endParaRPr lang="en-US" sz="1400" dirty="0"/>
          </a:p>
        </p:txBody>
      </p:sp>
      <p:sp>
        <p:nvSpPr>
          <p:cNvPr id="10" name="Shape 7"/>
          <p:cNvSpPr/>
          <p:nvPr/>
        </p:nvSpPr>
        <p:spPr>
          <a:xfrm>
            <a:off x="6197600" y="1927870"/>
            <a:ext cx="5181600" cy="2530792"/>
          </a:xfrm>
          <a:prstGeom prst="roundRect">
            <a:avLst>
              <a:gd name="adj" fmla="val 4015"/>
            </a:avLst>
          </a:prstGeom>
          <a:solidFill>
            <a:srgbClr val="FFFFFF"/>
          </a:solidFill>
          <a:ln/>
        </p:spPr>
      </p:sp>
      <p:sp>
        <p:nvSpPr>
          <p:cNvPr id="11" name="Shape 8"/>
          <p:cNvSpPr/>
          <p:nvPr/>
        </p:nvSpPr>
        <p:spPr>
          <a:xfrm>
            <a:off x="6197600" y="1927870"/>
            <a:ext cx="5181600" cy="2530792"/>
          </a:xfrm>
          <a:custGeom>
            <a:avLst/>
            <a:gdLst/>
            <a:ahLst/>
            <a:cxnLst/>
            <a:rect l="l" t="t" r="r" b="b"/>
            <a:pathLst>
              <a:path w="5181600" h="2530792">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2F5FA8"/>
          </a:solidFill>
          <a:ln/>
        </p:spPr>
      </p:sp>
      <p:pic>
        <p:nvPicPr>
          <p:cNvPr id="12" name="Image 1" descr="Cloud">    </p:cNvPr>
          <p:cNvPicPr>
            <a:picLocks noChangeAspect="1"/>
          </p:cNvPicPr>
          <p:nvPr/>
        </p:nvPicPr>
        <p:blipFill>
          <a:blip r:embed="rId2"/>
          <a:srcRect l="0" r="0" t="0" b="0"/>
          <a:stretch/>
        </p:blipFill>
        <p:spPr>
          <a:xfrm>
            <a:off x="6451600" y="2232347"/>
            <a:ext cx="355600" cy="355600"/>
          </a:xfrm>
          <a:prstGeom prst="rect">
            <a:avLst/>
          </a:prstGeom>
        </p:spPr>
      </p:pic>
      <p:sp>
        <p:nvSpPr>
          <p:cNvPr id="13" name="Text 9"/>
          <p:cNvSpPr/>
          <p:nvPr/>
        </p:nvSpPr>
        <p:spPr>
          <a:xfrm>
            <a:off x="6451600" y="2689547"/>
            <a:ext cx="481380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A2236"/>
                </a:solidFill>
                <a:latin typeface="Space Grotesk" pitchFamily="34" charset="0"/>
                <a:ea typeface="Space Grotesk" pitchFamily="34" charset="-122"/>
                <a:cs typeface="Space Grotesk" pitchFamily="34" charset="-120"/>
              </a:rPr>
              <a:t>GitHub</a:t>
            </a:r>
            <a:endParaRPr lang="en-US" sz="2200" dirty="0"/>
          </a:p>
        </p:txBody>
      </p:sp>
      <p:sp>
        <p:nvSpPr>
          <p:cNvPr id="14" name="Text 10"/>
          <p:cNvSpPr/>
          <p:nvPr/>
        </p:nvSpPr>
        <p:spPr>
          <a:xfrm>
            <a:off x="6529832" y="3126432"/>
            <a:ext cx="4727956" cy="110363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A </a:t>
            </a:r>
            <a:r>
              <a:rPr lang="en-US" sz="1400" b="1" dirty="0">
                <a:solidFill>
                  <a:srgbClr val="4A5266"/>
                </a:solidFill>
                <a:latin typeface="IBM Plex Sans" pitchFamily="34" charset="0"/>
                <a:ea typeface="IBM Plex Sans" pitchFamily="34" charset="-122"/>
                <a:cs typeface="IBM Plex Sans" pitchFamily="34" charset="-120"/>
              </a:rPr>
              <a:t>website</a:t>
            </a:r>
            <a:r>
              <a:rPr lang="en-US" sz="1400" dirty="0">
                <a:solidFill>
                  <a:srgbClr val="4A5266"/>
                </a:solidFill>
                <a:latin typeface="IBM Plex Sans" pitchFamily="34" charset="0"/>
                <a:ea typeface="IBM Plex Sans" pitchFamily="34" charset="-122"/>
                <a:cs typeface="IBM Plex Sans" pitchFamily="34" charset="-120"/>
              </a:rPr>
              <a:t> that hosts Git repositories</a:t>
            </a:r>
            <a:endParaRPr lang="en-US" sz="1400" dirty="0"/>
          </a:p>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Where you share and back up snapshots</a:t>
            </a:r>
            <a:endParaRPr lang="en-US" sz="1400" dirty="0"/>
          </a:p>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Needs the internet</a:t>
            </a:r>
            <a:endParaRPr lang="en-US" sz="1400" dirty="0"/>
          </a:p>
          <a:p>
            <a:pPr algn="l" marL="175768" indent="-175768">
              <a:lnSpc>
                <a:spcPts val="2100"/>
              </a:lnSpc>
              <a:buSzPct val="100000"/>
              <a:buChar char="•"/>
            </a:pPr>
            <a:r>
              <a:rPr lang="en-US" sz="1400" dirty="0">
                <a:solidFill>
                  <a:srgbClr val="4A5266"/>
                </a:solidFill>
                <a:latin typeface="IBM Plex Sans" pitchFamily="34" charset="0"/>
                <a:ea typeface="IBM Plex Sans" pitchFamily="34" charset="-122"/>
                <a:cs typeface="IBM Plex Sans" pitchFamily="34" charset="-120"/>
              </a:rPr>
              <a:t>Pull requests, teamwork: Day 5</a:t>
            </a:r>
            <a:endParaRPr lang="en-US" sz="1400" dirty="0"/>
          </a:p>
        </p:txBody>
      </p:sp>
      <p:sp>
        <p:nvSpPr>
          <p:cNvPr id="15" name="Text 11"/>
          <p:cNvSpPr/>
          <p:nvPr/>
        </p:nvSpPr>
        <p:spPr>
          <a:xfrm>
            <a:off x="812800" y="4661843"/>
            <a:ext cx="10566400" cy="477520"/>
          </a:xfrm>
          <a:prstGeom prst="roundRect">
            <a:avLst>
              <a:gd name="adj" fmla="val 15957"/>
            </a:avLst>
          </a:prstGeom>
          <a:solidFill>
            <a:srgbClr val="E3E9F5"/>
          </a:solidFill>
          <a:ln/>
        </p:spPr>
        <p:txBody>
          <a:bodyPr wrap="square" lIns="155482" tIns="91982" rIns="0" bIns="66582"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You can use Git without GitHub, like taking photos without posting them. Not the other way round.</a:t>
            </a:r>
            <a:endParaRPr lang="en-US" sz="1400" dirty="0"/>
          </a:p>
        </p:txBody>
      </p:sp>
      <p:sp>
        <p:nvSpPr>
          <p:cNvPr id="16" name="Text 12"/>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p.17 · Section 12.1 · Viva Q20</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267093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1:40 PM · The three areas of Git</a:t>
            </a:r>
            <a:endParaRPr lang="en-US" sz="1200" dirty="0"/>
          </a:p>
        </p:txBody>
      </p:sp>
      <p:sp>
        <p:nvSpPr>
          <p:cNvPr id="4" name="Text 2"/>
          <p:cNvSpPr/>
          <p:nvPr>
            <p:ph type="title"/>
          </p:nvPr>
        </p:nvSpPr>
        <p:spPr>
          <a:xfrm>
            <a:off x="812800" y="13055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Every change travels through three areas</a:t>
            </a:r>
            <a:endParaRPr lang="en-US" sz="3000" dirty="0"/>
          </a:p>
        </p:txBody>
      </p:sp>
      <p:sp>
        <p:nvSpPr>
          <p:cNvPr id="5" name="Shape 3"/>
          <p:cNvSpPr/>
          <p:nvPr/>
        </p:nvSpPr>
        <p:spPr>
          <a:xfrm>
            <a:off x="819150" y="2673350"/>
            <a:ext cx="2781300" cy="1638300"/>
          </a:xfrm>
          <a:prstGeom prst="roundRect">
            <a:avLst>
              <a:gd name="adj" fmla="val 5814"/>
            </a:avLst>
          </a:prstGeom>
          <a:solidFill>
            <a:srgbClr val="FFFFFF"/>
          </a:solidFill>
          <a:ln w="12700">
            <a:solidFill>
              <a:srgbClr val="B4531A"/>
            </a:solidFill>
            <a:prstDash val="solid"/>
          </a:ln>
        </p:spPr>
      </p:sp>
      <p:sp>
        <p:nvSpPr>
          <p:cNvPr id="6" name="Text 4"/>
          <p:cNvSpPr/>
          <p:nvPr/>
        </p:nvSpPr>
        <p:spPr>
          <a:xfrm>
            <a:off x="1027218" y="2954015"/>
            <a:ext cx="243611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1 · WORKING DIRECTORY</a:t>
            </a:r>
            <a:endParaRPr lang="en-US" sz="1200" dirty="0"/>
          </a:p>
        </p:txBody>
      </p:sp>
      <p:sp>
        <p:nvSpPr>
          <p:cNvPr id="7" name="Text 5"/>
          <p:cNvSpPr/>
          <p:nvPr/>
        </p:nvSpPr>
        <p:spPr>
          <a:xfrm>
            <a:off x="1027218" y="3243585"/>
            <a:ext cx="243611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Your folder. Files you are editing right now.</a:t>
            </a:r>
            <a:endParaRPr lang="en-US" sz="1400" dirty="0"/>
          </a:p>
        </p:txBody>
      </p:sp>
      <p:sp>
        <p:nvSpPr>
          <p:cNvPr id="8" name="Text 6"/>
          <p:cNvSpPr/>
          <p:nvPr/>
        </p:nvSpPr>
        <p:spPr>
          <a:xfrm>
            <a:off x="1027218" y="3817615"/>
            <a:ext cx="243611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382B"/>
                </a:solidFill>
                <a:latin typeface="IBM Plex Sans" pitchFamily="34" charset="0"/>
                <a:ea typeface="IBM Plex Sans" pitchFamily="34" charset="-122"/>
                <a:cs typeface="IBM Plex Sans" pitchFamily="34" charset="-120"/>
              </a:rPr>
              <a:t>git status: red</a:t>
            </a:r>
            <a:endParaRPr lang="en-US" sz="1200" dirty="0"/>
          </a:p>
        </p:txBody>
      </p:sp>
      <p:sp>
        <p:nvSpPr>
          <p:cNvPr id="9" name="Shape 7"/>
          <p:cNvSpPr/>
          <p:nvPr/>
        </p:nvSpPr>
        <p:spPr>
          <a:xfrm>
            <a:off x="4705350" y="2673350"/>
            <a:ext cx="2781300" cy="1638300"/>
          </a:xfrm>
          <a:prstGeom prst="roundRect">
            <a:avLst>
              <a:gd name="adj" fmla="val 5814"/>
            </a:avLst>
          </a:prstGeom>
          <a:solidFill>
            <a:srgbClr val="FFFFFF"/>
          </a:solidFill>
          <a:ln w="12700">
            <a:solidFill>
              <a:srgbClr val="3E7D5A"/>
            </a:solidFill>
            <a:prstDash val="solid"/>
          </a:ln>
        </p:spPr>
      </p:sp>
      <p:sp>
        <p:nvSpPr>
          <p:cNvPr id="10" name="Text 8"/>
          <p:cNvSpPr/>
          <p:nvPr/>
        </p:nvSpPr>
        <p:spPr>
          <a:xfrm>
            <a:off x="4913418" y="2954015"/>
            <a:ext cx="243611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E7D5A"/>
                </a:solidFill>
                <a:latin typeface="IBM Plex Sans" pitchFamily="34" charset="0"/>
                <a:ea typeface="IBM Plex Sans" pitchFamily="34" charset="-122"/>
                <a:cs typeface="IBM Plex Sans" pitchFamily="34" charset="-120"/>
              </a:rPr>
              <a:t>2 · STAGING AREA</a:t>
            </a:r>
            <a:endParaRPr lang="en-US" sz="1200" dirty="0"/>
          </a:p>
        </p:txBody>
      </p:sp>
      <p:sp>
        <p:nvSpPr>
          <p:cNvPr id="11" name="Text 9"/>
          <p:cNvSpPr/>
          <p:nvPr/>
        </p:nvSpPr>
        <p:spPr>
          <a:xfrm>
            <a:off x="4913418" y="3243585"/>
            <a:ext cx="243611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Changes you picked for the next snapshot.</a:t>
            </a:r>
            <a:endParaRPr lang="en-US" sz="1400" dirty="0"/>
          </a:p>
        </p:txBody>
      </p:sp>
      <p:sp>
        <p:nvSpPr>
          <p:cNvPr id="12" name="Text 10"/>
          <p:cNvSpPr/>
          <p:nvPr/>
        </p:nvSpPr>
        <p:spPr>
          <a:xfrm>
            <a:off x="4913418" y="3817615"/>
            <a:ext cx="243611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7D5A"/>
                </a:solidFill>
                <a:latin typeface="IBM Plex Sans" pitchFamily="34" charset="0"/>
                <a:ea typeface="IBM Plex Sans" pitchFamily="34" charset="-122"/>
                <a:cs typeface="IBM Plex Sans" pitchFamily="34" charset="-120"/>
              </a:rPr>
              <a:t>git status: green</a:t>
            </a:r>
            <a:endParaRPr lang="en-US" sz="1200" dirty="0"/>
          </a:p>
        </p:txBody>
      </p:sp>
      <p:sp>
        <p:nvSpPr>
          <p:cNvPr id="13" name="Shape 11"/>
          <p:cNvSpPr/>
          <p:nvPr/>
        </p:nvSpPr>
        <p:spPr>
          <a:xfrm>
            <a:off x="8585200" y="2667000"/>
            <a:ext cx="2794000" cy="1651000"/>
          </a:xfrm>
          <a:prstGeom prst="roundRect">
            <a:avLst>
              <a:gd name="adj" fmla="val 6154"/>
            </a:avLst>
          </a:prstGeom>
          <a:solidFill>
            <a:srgbClr val="141B2D"/>
          </a:solidFill>
          <a:ln/>
        </p:spPr>
      </p:sp>
      <p:sp>
        <p:nvSpPr>
          <p:cNvPr id="14" name="Text 12"/>
          <p:cNvSpPr/>
          <p:nvPr/>
        </p:nvSpPr>
        <p:spPr>
          <a:xfrm>
            <a:off x="8788400" y="2954015"/>
            <a:ext cx="245922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94A"/>
                </a:solidFill>
                <a:latin typeface="IBM Plex Sans" pitchFamily="34" charset="0"/>
                <a:ea typeface="IBM Plex Sans" pitchFamily="34" charset="-122"/>
                <a:cs typeface="IBM Plex Sans" pitchFamily="34" charset="-120"/>
              </a:rPr>
              <a:t>3 · REPOSITORY</a:t>
            </a:r>
            <a:endParaRPr lang="en-US" sz="1200" dirty="0"/>
          </a:p>
        </p:txBody>
      </p:sp>
      <p:sp>
        <p:nvSpPr>
          <p:cNvPr id="15" name="Text 13"/>
          <p:cNvSpPr/>
          <p:nvPr/>
        </p:nvSpPr>
        <p:spPr>
          <a:xfrm>
            <a:off x="8788400" y="3243585"/>
            <a:ext cx="245922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Saved snapshots (commits), forever, in .git</a:t>
            </a:r>
            <a:endParaRPr lang="en-US" sz="1400" dirty="0"/>
          </a:p>
        </p:txBody>
      </p:sp>
      <p:sp>
        <p:nvSpPr>
          <p:cNvPr id="16" name="Text 14"/>
          <p:cNvSpPr/>
          <p:nvPr/>
        </p:nvSpPr>
        <p:spPr>
          <a:xfrm>
            <a:off x="8788400" y="3817615"/>
            <a:ext cx="245922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DB4F0"/>
                </a:solidFill>
                <a:latin typeface="IBM Plex Sans" pitchFamily="34" charset="0"/>
                <a:ea typeface="IBM Plex Sans" pitchFamily="34" charset="-122"/>
                <a:cs typeface="IBM Plex Sans" pitchFamily="34" charset="-120"/>
              </a:rPr>
              <a:t>git log</a:t>
            </a:r>
            <a:endParaRPr lang="en-US" sz="1200" dirty="0"/>
          </a:p>
        </p:txBody>
      </p:sp>
      <p:pic>
        <p:nvPicPr>
          <p:cNvPr id="17" name="Image 0" descr="connector">    </p:cNvPr>
          <p:cNvPicPr>
            <a:picLocks noChangeAspect="1"/>
          </p:cNvPicPr>
          <p:nvPr/>
        </p:nvPicPr>
        <p:blipFill>
          <a:blip r:embed="rId1"/>
          <a:srcRect l="0" r="0" t="0" b="0"/>
          <a:stretch/>
        </p:blipFill>
        <p:spPr>
          <a:xfrm>
            <a:off x="3619500" y="3429000"/>
            <a:ext cx="1066800" cy="127000"/>
          </a:xfrm>
          <a:prstGeom prst="rect">
            <a:avLst/>
          </a:prstGeom>
        </p:spPr>
      </p:pic>
      <p:pic>
        <p:nvPicPr>
          <p:cNvPr id="18" name="Image 1" descr="connector">    </p:cNvPr>
          <p:cNvPicPr>
            <a:picLocks noChangeAspect="1"/>
          </p:cNvPicPr>
          <p:nvPr/>
        </p:nvPicPr>
        <p:blipFill>
          <a:blip r:embed="rId2"/>
          <a:srcRect l="0" r="0" t="0" b="0"/>
          <a:stretch/>
        </p:blipFill>
        <p:spPr>
          <a:xfrm>
            <a:off x="7505700" y="3429000"/>
            <a:ext cx="1066800" cy="127000"/>
          </a:xfrm>
          <a:prstGeom prst="rect">
            <a:avLst/>
          </a:prstGeom>
        </p:spPr>
      </p:pic>
      <p:sp>
        <p:nvSpPr>
          <p:cNvPr id="19" name="Text 15"/>
          <p:cNvSpPr/>
          <p:nvPr/>
        </p:nvSpPr>
        <p:spPr>
          <a:xfrm>
            <a:off x="3581400" y="3048000"/>
            <a:ext cx="11430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A2236"/>
                </a:solidFill>
                <a:latin typeface="JetBrains Mono" pitchFamily="49" charset="0"/>
                <a:ea typeface="JetBrains Mono" pitchFamily="49" charset="-122"/>
                <a:cs typeface="JetBrains Mono" pitchFamily="49" charset="-120"/>
              </a:rPr>
              <a:t>git add</a:t>
            </a:r>
            <a:endParaRPr lang="en-US" sz="1200" dirty="0"/>
          </a:p>
        </p:txBody>
      </p:sp>
      <p:sp>
        <p:nvSpPr>
          <p:cNvPr id="20" name="Text 16"/>
          <p:cNvSpPr/>
          <p:nvPr/>
        </p:nvSpPr>
        <p:spPr>
          <a:xfrm>
            <a:off x="7467600" y="3048000"/>
            <a:ext cx="11430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A2236"/>
                </a:solidFill>
                <a:latin typeface="JetBrains Mono" pitchFamily="49" charset="0"/>
                <a:ea typeface="JetBrains Mono" pitchFamily="49" charset="-122"/>
                <a:cs typeface="JetBrains Mono" pitchFamily="49" charset="-120"/>
              </a:rPr>
              <a:t>commit</a:t>
            </a:r>
            <a:endParaRPr lang="en-US" sz="1200" dirty="0"/>
          </a:p>
        </p:txBody>
      </p:sp>
      <p:sp>
        <p:nvSpPr>
          <p:cNvPr id="21" name="Text 17"/>
          <p:cNvSpPr/>
          <p:nvPr/>
        </p:nvSpPr>
        <p:spPr>
          <a:xfrm>
            <a:off x="812800" y="4699000"/>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6"/>
                </a:solidFill>
                <a:latin typeface="IBM Plex Sans" pitchFamily="34" charset="0"/>
                <a:ea typeface="IBM Plex Sans" pitchFamily="34" charset="-122"/>
                <a:cs typeface="IBM Plex Sans" pitchFamily="34" charset="-120"/>
              </a:rPr>
              <a:t>Why a staging area? You changed 5 files but only 2 are ready. Stage those 2, commit them with a clear message, keep working on the rest.</a:t>
            </a:r>
            <a:endParaRPr lang="en-US" sz="1400" dirty="0"/>
          </a:p>
        </p:txBody>
      </p:sp>
      <p:sp>
        <p:nvSpPr>
          <p:cNvPr id="22" name="Text 18"/>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p.17–18 · Section 12.2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191683" cy="289560"/>
          </a:xfrm>
          <a:custGeom>
            <a:avLst/>
            <a:gdLst/>
            <a:ahLst/>
            <a:cxnLst/>
            <a:rect l="l" t="t" r="r" b="b"/>
            <a:pathLst>
              <a:path w="1191683" h="289560">
                <a:moveTo>
                  <a:pt x="144780" y="0"/>
                </a:moveTo>
                <a:lnTo>
                  <a:pt x="1046903" y="0"/>
                </a:lnTo>
                <a:arcTo hR="144780" wR="144780" stAng="16200000" swAng="5400000"/>
                <a:lnTo>
                  <a:pt x="1191683"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ACT IT OUT</a:t>
            </a:r>
            <a:endParaRPr lang="en-US" sz="1200" dirty="0"/>
          </a:p>
        </p:txBody>
      </p:sp>
      <p:sp>
        <p:nvSpPr>
          <p:cNvPr id="3" name="Text 1"/>
          <p:cNvSpPr/>
          <p:nvPr/>
        </p:nvSpPr>
        <p:spPr>
          <a:xfrm>
            <a:off x="2131483" y="850900"/>
            <a:ext cx="26118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1:46 PM · 5 volunteers = 5 files</a:t>
            </a:r>
            <a:endParaRPr lang="en-US" sz="1200" dirty="0"/>
          </a:p>
        </p:txBody>
      </p:sp>
      <p:sp>
        <p:nvSpPr>
          <p:cNvPr id="4" name="Text 2"/>
          <p:cNvSpPr/>
          <p:nvPr>
            <p:ph type="title"/>
          </p:nvPr>
        </p:nvSpPr>
        <p:spPr>
          <a:xfrm>
            <a:off x="812800" y="13055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Git is a photo studio</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018" y="1939088"/>
          <a:ext cx="6999182" cy="2307590"/>
        </p:xfrm>
        <a:graphic>
          <a:graphicData uri="http://schemas.openxmlformats.org/drawingml/2006/table">
            <a:tbl>
              <a:tblPr/>
              <a:tblGrid>
                <a:gridCol w="2799673"/>
                <a:gridCol w="2099754"/>
                <a:gridCol w="2099754"/>
              </a:tblGrid>
              <a:tr h="384598">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In the studio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In Git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Command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People walking around the room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Working directory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(just edit)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Call 3 people onto the stage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Staging area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git add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Click! Photo with a caption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Commit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git commit -m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The photo album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Repository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git log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“Who’s on stage? Who’s not?”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Check state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git status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6" name="Shape 3"/>
          <p:cNvSpPr/>
          <p:nvPr/>
        </p:nvSpPr>
        <p:spPr>
          <a:xfrm>
            <a:off x="8077200" y="1927870"/>
            <a:ext cx="3302000" cy="2318808"/>
          </a:xfrm>
          <a:prstGeom prst="roundRect">
            <a:avLst>
              <a:gd name="adj" fmla="val 4382"/>
            </a:avLst>
          </a:prstGeom>
          <a:solidFill>
            <a:srgbClr val="141B2D"/>
          </a:solidFill>
          <a:ln/>
        </p:spPr>
      </p:sp>
      <p:sp>
        <p:nvSpPr>
          <p:cNvPr id="7" name="Text 4"/>
          <p:cNvSpPr/>
          <p:nvPr/>
        </p:nvSpPr>
        <p:spPr>
          <a:xfrm>
            <a:off x="8305800" y="2156470"/>
            <a:ext cx="293014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94A"/>
                </a:solidFill>
                <a:latin typeface="IBM Plex Sans" pitchFamily="34" charset="0"/>
                <a:ea typeface="IBM Plex Sans" pitchFamily="34" charset="-122"/>
                <a:cs typeface="IBM Plex Sans" pitchFamily="34" charset="-120"/>
              </a:rPr>
              <a:t>ROLE-PLAY SCRIPT</a:t>
            </a:r>
            <a:endParaRPr lang="en-US" sz="1200" dirty="0"/>
          </a:p>
        </p:txBody>
      </p:sp>
      <p:sp>
        <p:nvSpPr>
          <p:cNvPr id="8" name="Text 5"/>
          <p:cNvSpPr/>
          <p:nvPr/>
        </p:nvSpPr>
        <p:spPr>
          <a:xfrm>
            <a:off x="8376920" y="2471415"/>
            <a:ext cx="2851404" cy="1511300"/>
          </a:xfrm>
          <a:prstGeom prst="rect">
            <a:avLst/>
          </a:prstGeom>
          <a:noFill/>
          <a:ln/>
        </p:spPr>
        <p:txBody>
          <a:bodyPr wrap="square" lIns="0" tIns="0" rIns="0" bIns="0" rtlCol="0" anchor="t">
            <a:normAutofit/>
          </a:bodyPr>
          <a:lstStyle/>
          <a:p>
            <a:pPr algn="l" marL="182880" indent="-182880">
              <a:lnSpc>
                <a:spcPts val="1950"/>
              </a:lnSpc>
              <a:buSzPct val="100000"/>
              <a:buFontTx/>
              <a:buAutoNum type="arabicPeriod" startAt="1"/>
            </a:pPr>
            <a:r>
              <a:rPr lang="en-US" sz="1300" dirty="0">
                <a:solidFill>
                  <a:srgbClr val="E3E8F1"/>
                </a:solidFill>
                <a:latin typeface="IBM Plex Sans" pitchFamily="34" charset="0"/>
                <a:ea typeface="IBM Plex Sans" pitchFamily="34" charset="-122"/>
                <a:cs typeface="IBM Plex Sans" pitchFamily="34" charset="-120"/>
              </a:rPr>
              <a:t>5 students wear name cards: index.html, style.css, …</a:t>
            </a:r>
            <a:endParaRPr lang="en-US" sz="1300" dirty="0"/>
          </a:p>
          <a:p>
            <a:pPr algn="l" marL="182880" indent="-182880">
              <a:lnSpc>
                <a:spcPts val="1950"/>
              </a:lnSpc>
              <a:buSzPct val="100000"/>
              <a:buFontTx/>
              <a:buAutoNum type="arabicPeriod" startAt="1"/>
            </a:pPr>
            <a:r>
              <a:rPr lang="en-US" sz="1300" dirty="0">
                <a:solidFill>
                  <a:srgbClr val="E3E8F1"/>
                </a:solidFill>
                <a:latin typeface="IBM Plex Sans" pitchFamily="34" charset="0"/>
                <a:ea typeface="IBM Plex Sans" pitchFamily="34" charset="-122"/>
                <a:cs typeface="IBM Plex Sans" pitchFamily="34" charset="-120"/>
              </a:rPr>
              <a:t>Call 3 to the stage (</a:t>
            </a:r>
            <a:r>
              <a:rPr lang="en-US" sz="1300" b="1" dirty="0">
                <a:solidFill>
                  <a:srgbClr val="E3E8F1"/>
                </a:solidFill>
                <a:latin typeface="IBM Plex Sans" pitchFamily="34" charset="0"/>
                <a:ea typeface="IBM Plex Sans" pitchFamily="34" charset="-122"/>
                <a:cs typeface="IBM Plex Sans" pitchFamily="34" charset="-120"/>
              </a:rPr>
              <a:t>add</a:t>
            </a:r>
            <a:r>
              <a:rPr lang="en-US" sz="1300" dirty="0">
                <a:solidFill>
                  <a:srgbClr val="E3E8F1"/>
                </a:solidFill>
                <a:latin typeface="IBM Plex Sans" pitchFamily="34" charset="0"/>
                <a:ea typeface="IBM Plex Sans" pitchFamily="34" charset="-122"/>
                <a:cs typeface="IBM Plex Sans" pitchFamily="34" charset="-120"/>
              </a:rPr>
              <a:t>)</a:t>
            </a:r>
            <a:endParaRPr lang="en-US" sz="1300" dirty="0"/>
          </a:p>
          <a:p>
            <a:pPr algn="l" marL="182880" indent="-182880">
              <a:lnSpc>
                <a:spcPts val="1950"/>
              </a:lnSpc>
              <a:buSzPct val="100000"/>
              <a:buFontTx/>
              <a:buAutoNum type="arabicPeriod" startAt="1"/>
            </a:pPr>
            <a:r>
              <a:rPr lang="en-US" sz="1300" dirty="0">
                <a:solidFill>
                  <a:srgbClr val="E3E8F1"/>
                </a:solidFill>
                <a:latin typeface="IBM Plex Sans" pitchFamily="34" charset="0"/>
                <a:ea typeface="IBM Plex Sans" pitchFamily="34" charset="-122"/>
                <a:cs typeface="IBM Plex Sans" pitchFamily="34" charset="-120"/>
              </a:rPr>
              <a:t>Class predicts: who’s in the photo?</a:t>
            </a:r>
            <a:endParaRPr lang="en-US" sz="1300" dirty="0"/>
          </a:p>
          <a:p>
            <a:pPr algn="l" marL="182880" indent="-182880">
              <a:lnSpc>
                <a:spcPts val="1950"/>
              </a:lnSpc>
              <a:buSzPct val="100000"/>
              <a:buFontTx/>
              <a:buAutoNum type="arabicPeriod" startAt="1"/>
            </a:pPr>
            <a:r>
              <a:rPr lang="en-US" sz="1300" dirty="0">
                <a:solidFill>
                  <a:srgbClr val="E3E8F1"/>
                </a:solidFill>
                <a:latin typeface="IBM Plex Sans" pitchFamily="34" charset="0"/>
                <a:ea typeface="IBM Plex Sans" pitchFamily="34" charset="-122"/>
                <a:cs typeface="IBM Plex Sans" pitchFamily="34" charset="-120"/>
              </a:rPr>
              <a:t>Click a phone photo (</a:t>
            </a:r>
            <a:r>
              <a:rPr lang="en-US" sz="1300" b="1" dirty="0">
                <a:solidFill>
                  <a:srgbClr val="E3E8F1"/>
                </a:solidFill>
                <a:latin typeface="IBM Plex Sans" pitchFamily="34" charset="0"/>
                <a:ea typeface="IBM Plex Sans" pitchFamily="34" charset="-122"/>
                <a:cs typeface="IBM Plex Sans" pitchFamily="34" charset="-120"/>
              </a:rPr>
              <a:t>commit</a:t>
            </a:r>
            <a:r>
              <a:rPr lang="en-US" sz="1300" dirty="0">
                <a:solidFill>
                  <a:srgbClr val="E3E8F1"/>
                </a:solidFill>
                <a:latin typeface="IBM Plex Sans" pitchFamily="34" charset="0"/>
                <a:ea typeface="IBM Plex Sans" pitchFamily="34" charset="-122"/>
                <a:cs typeface="IBM Plex Sans" pitchFamily="34" charset="-120"/>
              </a:rPr>
              <a:t>)</a:t>
            </a:r>
            <a:endParaRPr lang="en-US" sz="1300" dirty="0"/>
          </a:p>
          <a:p>
            <a:pPr algn="l" marL="182880" indent="-182880">
              <a:lnSpc>
                <a:spcPts val="1950"/>
              </a:lnSpc>
              <a:buSzPct val="100000"/>
              <a:buFontTx/>
              <a:buAutoNum type="arabicPeriod" startAt="1"/>
            </a:pPr>
            <a:r>
              <a:rPr lang="en-US" sz="1300" dirty="0">
                <a:solidFill>
                  <a:srgbClr val="E3E8F1"/>
                </a:solidFill>
                <a:latin typeface="IBM Plex Sans" pitchFamily="34" charset="0"/>
                <a:ea typeface="IBM Plex Sans" pitchFamily="34" charset="-122"/>
                <a:cs typeface="IBM Plex Sans" pitchFamily="34" charset="-120"/>
              </a:rPr>
              <a:t>The 2 off-stage are not in it</a:t>
            </a:r>
            <a:endParaRPr lang="en-US" sz="1300" dirty="0"/>
          </a:p>
        </p:txBody>
      </p:sp>
      <p:sp>
        <p:nvSpPr>
          <p:cNvPr id="9" name="Text 6"/>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Then everyone does it for real on their own portfolio →</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1780858" cy="289560"/>
          </a:xfrm>
          <a:custGeom>
            <a:avLst/>
            <a:gdLst/>
            <a:ahLst/>
            <a:cxnLst/>
            <a:rect l="l" t="t" r="r" b="b"/>
            <a:pathLst>
              <a:path w="1780858" h="289560">
                <a:moveTo>
                  <a:pt x="144780" y="0"/>
                </a:moveTo>
                <a:lnTo>
                  <a:pt x="1636078" y="0"/>
                </a:lnTo>
                <a:arcTo hR="144780" wR="144780" stAng="16200000" swAng="5400000"/>
                <a:lnTo>
                  <a:pt x="1780858"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 · GIT 1</a:t>
            </a:r>
            <a:endParaRPr lang="en-US" sz="1200" dirty="0"/>
          </a:p>
        </p:txBody>
      </p:sp>
      <p:sp>
        <p:nvSpPr>
          <p:cNvPr id="3" name="Text 1"/>
          <p:cNvSpPr/>
          <p:nvPr/>
        </p:nvSpPr>
        <p:spPr>
          <a:xfrm>
            <a:off x="2720658" y="850900"/>
            <a:ext cx="306387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1:55 PM · 5 min · once per computer</a:t>
            </a:r>
            <a:endParaRPr lang="en-US" sz="1200" dirty="0"/>
          </a:p>
        </p:txBody>
      </p:sp>
      <p:sp>
        <p:nvSpPr>
          <p:cNvPr id="4" name="Text 2"/>
          <p:cNvSpPr/>
          <p:nvPr>
            <p:ph type="title"/>
          </p:nvPr>
        </p:nvSpPr>
        <p:spPr>
          <a:xfrm>
            <a:off x="812800" y="13055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1EA"/>
                </a:solidFill>
                <a:latin typeface="Space Grotesk" pitchFamily="34" charset="0"/>
                <a:ea typeface="Space Grotesk" pitchFamily="34" charset="-122"/>
                <a:cs typeface="Space Grotesk" pitchFamily="34" charset="-120"/>
              </a:rPr>
              <a:t>Tell Git who you are</a:t>
            </a:r>
            <a:endParaRPr lang="en-US" sz="2800" dirty="0"/>
          </a:p>
        </p:txBody>
      </p:sp>
      <p:sp>
        <p:nvSpPr>
          <p:cNvPr id="5" name="Shape 3"/>
          <p:cNvSpPr/>
          <p:nvPr/>
        </p:nvSpPr>
        <p:spPr>
          <a:xfrm>
            <a:off x="815975" y="1903090"/>
            <a:ext cx="6877050" cy="3012228"/>
          </a:xfrm>
          <a:prstGeom prst="roundRect">
            <a:avLst>
              <a:gd name="adj" fmla="val 3268"/>
            </a:avLst>
          </a:prstGeom>
          <a:solidFill>
            <a:srgbClr val="0D1220"/>
          </a:solidFill>
          <a:ln w="6350">
            <a:solidFill>
              <a:srgbClr val="2A3550"/>
            </a:solidFill>
            <a:prstDash val="solid"/>
          </a:ln>
        </p:spPr>
      </p:sp>
      <p:sp>
        <p:nvSpPr>
          <p:cNvPr id="6" name="Text 4"/>
          <p:cNvSpPr/>
          <p:nvPr/>
        </p:nvSpPr>
        <p:spPr>
          <a:xfrm>
            <a:off x="1047009" y="2134121"/>
            <a:ext cx="660743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BA3"/>
                </a:solidFill>
                <a:latin typeface="IBM Plex Sans" pitchFamily="34" charset="0"/>
                <a:ea typeface="IBM Plex Sans" pitchFamily="34" charset="-122"/>
                <a:cs typeface="IBM Plex Sans" pitchFamily="34" charset="-120"/>
              </a:rPr>
              <a:t>VS CODE TERMINAL</a:t>
            </a:r>
            <a:endParaRPr lang="en-US" sz="1200" dirty="0"/>
          </a:p>
        </p:txBody>
      </p:sp>
      <p:sp>
        <p:nvSpPr>
          <p:cNvPr id="7" name="Text 5"/>
          <p:cNvSpPr/>
          <p:nvPr/>
        </p:nvSpPr>
        <p:spPr>
          <a:xfrm>
            <a:off x="1047009" y="2398291"/>
            <a:ext cx="6607431" cy="2311400"/>
          </a:xfrm>
          <a:prstGeom prst="rect">
            <a:avLst/>
          </a:prstGeom>
          <a:noFill/>
          <a:ln/>
        </p:spPr>
        <p:txBody>
          <a:bodyPr wrap="square" lIns="0" tIns="0" rIns="0" bIns="0" rtlCol="0" anchor="t">
            <a:normAutofit/>
          </a:bodyPr>
          <a:lstStyle/>
          <a:p>
            <a:pPr algn="l" indent="0" marL="0">
              <a:lnSpc>
                <a:spcPts val="2000"/>
              </a:lnSpc>
              <a:buNone/>
            </a:pPr>
            <a:r>
              <a:rPr lang="en-US" sz="1250" dirty="0">
                <a:solidFill>
                  <a:srgbClr val="F2994A"/>
                </a:solidFill>
                <a:latin typeface="JetBrains Mono" pitchFamily="49" charset="0"/>
                <a:ea typeface="JetBrains Mono" pitchFamily="49" charset="-122"/>
                <a:cs typeface="JetBrains Mono" pitchFamily="49" charset="-120"/>
              </a:rPr>
              <a:t>$</a:t>
            </a:r>
            <a:r>
              <a:rPr lang="en-US" sz="1250" dirty="0">
                <a:solidFill>
                  <a:srgbClr val="E3E8F1"/>
                </a:solidFill>
                <a:latin typeface="JetBrains Mono" pitchFamily="49" charset="0"/>
                <a:ea typeface="JetBrains Mono" pitchFamily="49" charset="-122"/>
                <a:cs typeface="JetBrains Mono" pitchFamily="49" charset="-120"/>
              </a:rPr>
              <a:t> git config --global user.name "</a:t>
            </a:r>
            <a:r>
              <a:rPr lang="en-US" sz="1250" dirty="0">
                <a:solidFill>
                  <a:srgbClr val="7FD1A1"/>
                </a:solidFill>
                <a:latin typeface="JetBrains Mono" pitchFamily="49" charset="0"/>
                <a:ea typeface="JetBrains Mono" pitchFamily="49" charset="-122"/>
                <a:cs typeface="JetBrains Mono" pitchFamily="49" charset="-120"/>
              </a:rPr>
              <a:t>Asha R</a:t>
            </a:r>
            <a:r>
              <a:rPr lang="en-US" sz="1250" dirty="0">
                <a:solidFill>
                  <a:srgbClr val="E3E8F1"/>
                </a:solidFill>
                <a:latin typeface="JetBrains Mono" pitchFamily="49" charset="0"/>
                <a:ea typeface="JetBrains Mono" pitchFamily="49" charset="-122"/>
                <a:cs typeface="JetBrains Mono" pitchFamily="49" charset="-120"/>
              </a:rPr>
              <a:t>"</a:t>
            </a:r>
            <a:endParaRPr lang="en-US" sz="1250" dirty="0"/>
          </a:p>
          <a:p>
            <a:pPr algn="l" indent="0" marL="0">
              <a:lnSpc>
                <a:spcPts val="2000"/>
              </a:lnSpc>
              <a:buNone/>
            </a:pPr>
            <a:r>
              <a:rPr lang="en-US" sz="1250" dirty="0">
                <a:solidFill>
                  <a:srgbClr val="F2994A"/>
                </a:solidFill>
                <a:latin typeface="JetBrains Mono" pitchFamily="49" charset="0"/>
                <a:ea typeface="JetBrains Mono" pitchFamily="49" charset="-122"/>
                <a:cs typeface="JetBrains Mono" pitchFamily="49" charset="-120"/>
              </a:rPr>
              <a:t>$</a:t>
            </a:r>
            <a:r>
              <a:rPr lang="en-US" sz="1250" dirty="0">
                <a:solidFill>
                  <a:srgbClr val="E3E8F1"/>
                </a:solidFill>
                <a:latin typeface="JetBrains Mono" pitchFamily="49" charset="0"/>
                <a:ea typeface="JetBrains Mono" pitchFamily="49" charset="-122"/>
                <a:cs typeface="JetBrains Mono" pitchFamily="49" charset="-120"/>
              </a:rPr>
              <a:t> git config --global user.email "</a:t>
            </a:r>
            <a:r>
              <a:rPr lang="en-US" sz="1250" dirty="0">
                <a:solidFill>
                  <a:srgbClr val="7FD1A1"/>
                </a:solidFill>
                <a:latin typeface="JetBrains Mono" pitchFamily="49" charset="0"/>
                <a:ea typeface="JetBrains Mono" pitchFamily="49" charset="-122"/>
                <a:cs typeface="JetBrains Mono" pitchFamily="49" charset="-120"/>
              </a:rPr>
              <a:t>asha@example.com</a:t>
            </a:r>
            <a:r>
              <a:rPr lang="en-US" sz="1250" dirty="0">
                <a:solidFill>
                  <a:srgbClr val="E3E8F1"/>
                </a:solidFill>
                <a:latin typeface="JetBrains Mono" pitchFamily="49" charset="0"/>
                <a:ea typeface="JetBrains Mono" pitchFamily="49" charset="-122"/>
                <a:cs typeface="JetBrains Mono" pitchFamily="49" charset="-120"/>
              </a:rPr>
              <a:t>"</a:t>
            </a:r>
            <a:endParaRPr lang="en-US" sz="1250" dirty="0"/>
          </a:p>
          <a:p>
            <a:pPr algn="l" indent="0" marL="0">
              <a:lnSpc>
                <a:spcPts val="2000"/>
              </a:lnSpc>
              <a:buNone/>
            </a:pPr>
            <a:r>
              <a:rPr lang="en-US" sz="1250" dirty="0">
                <a:solidFill>
                  <a:srgbClr val="F2994A"/>
                </a:solidFill>
                <a:latin typeface="JetBrains Mono" pitchFamily="49" charset="0"/>
                <a:ea typeface="JetBrains Mono" pitchFamily="49" charset="-122"/>
                <a:cs typeface="JetBrains Mono" pitchFamily="49" charset="-120"/>
              </a:rPr>
              <a:t>$</a:t>
            </a:r>
            <a:r>
              <a:rPr lang="en-US" sz="1250" dirty="0">
                <a:solidFill>
                  <a:srgbClr val="E3E8F1"/>
                </a:solidFill>
                <a:latin typeface="JetBrains Mono" pitchFamily="49" charset="0"/>
                <a:ea typeface="JetBrains Mono" pitchFamily="49" charset="-122"/>
                <a:cs typeface="JetBrains Mono" pitchFamily="49" charset="-120"/>
              </a:rPr>
              <a:t> git config --global init.defaultBranch main</a:t>
            </a:r>
            <a:endParaRPr lang="en-US" sz="1250" dirty="0"/>
          </a:p>
          <a:p>
            <a:pPr algn="l" indent="0" marL="0">
              <a:lnSpc>
                <a:spcPts val="2000"/>
              </a:lnSpc>
              <a:buNone/>
            </a:pPr>
            <a:endParaRPr lang="en-US" sz="1250" dirty="0"/>
          </a:p>
          <a:p>
            <a:pPr algn="l" indent="0" marL="0">
              <a:lnSpc>
                <a:spcPts val="2000"/>
              </a:lnSpc>
              <a:buNone/>
            </a:pPr>
            <a:r>
              <a:rPr lang="en-US" sz="1250" dirty="0">
                <a:solidFill>
                  <a:srgbClr val="7F8BA3"/>
                </a:solidFill>
                <a:latin typeface="JetBrains Mono" pitchFamily="49" charset="0"/>
                <a:ea typeface="JetBrains Mono" pitchFamily="49" charset="-122"/>
                <a:cs typeface="JetBrains Mono" pitchFamily="49" charset="-120"/>
              </a:rPr>
              <a:t># check it worked</a:t>
            </a:r>
            <a:endParaRPr lang="en-US" sz="1250" dirty="0"/>
          </a:p>
          <a:p>
            <a:pPr algn="l" indent="0" marL="0">
              <a:lnSpc>
                <a:spcPts val="2000"/>
              </a:lnSpc>
              <a:buNone/>
            </a:pPr>
            <a:r>
              <a:rPr lang="en-US" sz="1250" dirty="0">
                <a:solidFill>
                  <a:srgbClr val="F2994A"/>
                </a:solidFill>
                <a:latin typeface="JetBrains Mono" pitchFamily="49" charset="0"/>
                <a:ea typeface="JetBrains Mono" pitchFamily="49" charset="-122"/>
                <a:cs typeface="JetBrains Mono" pitchFamily="49" charset="-120"/>
              </a:rPr>
              <a:t>$</a:t>
            </a:r>
            <a:r>
              <a:rPr lang="en-US" sz="1250" dirty="0">
                <a:solidFill>
                  <a:srgbClr val="E3E8F1"/>
                </a:solidFill>
                <a:latin typeface="JetBrains Mono" pitchFamily="49" charset="0"/>
                <a:ea typeface="JetBrains Mono" pitchFamily="49" charset="-122"/>
                <a:cs typeface="JetBrains Mono" pitchFamily="49" charset="-120"/>
              </a:rPr>
              <a:t> git config --list</a:t>
            </a:r>
            <a:endParaRPr lang="en-US" sz="1250" dirty="0"/>
          </a:p>
          <a:p>
            <a:pPr algn="l" indent="0" marL="0">
              <a:lnSpc>
                <a:spcPts val="2000"/>
              </a:lnSpc>
              <a:buNone/>
            </a:pPr>
            <a:r>
              <a:rPr lang="en-US" sz="1250" dirty="0">
                <a:solidFill>
                  <a:srgbClr val="7F8BA3"/>
                </a:solidFill>
                <a:latin typeface="JetBrains Mono" pitchFamily="49" charset="0"/>
                <a:ea typeface="JetBrains Mono" pitchFamily="49" charset="-122"/>
                <a:cs typeface="JetBrains Mono" pitchFamily="49" charset="-120"/>
              </a:rPr>
              <a:t>user.name=Asha R</a:t>
            </a:r>
            <a:endParaRPr lang="en-US" sz="1250" dirty="0"/>
          </a:p>
          <a:p>
            <a:pPr algn="l" indent="0" marL="0">
              <a:lnSpc>
                <a:spcPts val="2000"/>
              </a:lnSpc>
              <a:buNone/>
            </a:pPr>
            <a:r>
              <a:rPr lang="en-US" sz="1250" dirty="0">
                <a:solidFill>
                  <a:srgbClr val="7F8BA3"/>
                </a:solidFill>
                <a:latin typeface="JetBrains Mono" pitchFamily="49" charset="0"/>
                <a:ea typeface="JetBrains Mono" pitchFamily="49" charset="-122"/>
                <a:cs typeface="JetBrains Mono" pitchFamily="49" charset="-120"/>
              </a:rPr>
              <a:t>user.email=asha@example.com</a:t>
            </a:r>
            <a:endParaRPr lang="en-US" sz="1250" dirty="0"/>
          </a:p>
          <a:p>
            <a:pPr algn="l" indent="0" marL="0">
              <a:lnSpc>
                <a:spcPts val="2000"/>
              </a:lnSpc>
              <a:buNone/>
            </a:pPr>
            <a:r>
              <a:rPr lang="en-US" sz="1250" dirty="0">
                <a:solidFill>
                  <a:srgbClr val="7F8BA3"/>
                </a:solidFill>
                <a:latin typeface="JetBrains Mono" pitchFamily="49" charset="0"/>
                <a:ea typeface="JetBrains Mono" pitchFamily="49" charset="-122"/>
                <a:cs typeface="JetBrains Mono" pitchFamily="49" charset="-120"/>
              </a:rPr>
              <a:t>init.defaultbranch=main</a:t>
            </a:r>
            <a:endParaRPr lang="en-US" sz="1250" dirty="0"/>
          </a:p>
        </p:txBody>
      </p:sp>
      <p:sp>
        <p:nvSpPr>
          <p:cNvPr id="8" name="Text 6"/>
          <p:cNvSpPr/>
          <p:nvPr/>
        </p:nvSpPr>
        <p:spPr>
          <a:xfrm>
            <a:off x="7950200" y="1899915"/>
            <a:ext cx="353187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3E8F1"/>
                </a:solidFill>
                <a:latin typeface="IBM Plex Sans" pitchFamily="34" charset="0"/>
                <a:ea typeface="IBM Plex Sans" pitchFamily="34" charset="-122"/>
                <a:cs typeface="IBM Plex Sans" pitchFamily="34" charset="-120"/>
              </a:rPr>
              <a:t>Your name and email are stamped on </a:t>
            </a:r>
            <a:r>
              <a:rPr lang="en-US" sz="1400" b="1" dirty="0">
                <a:solidFill>
                  <a:srgbClr val="E3E8F1"/>
                </a:solidFill>
                <a:latin typeface="IBM Plex Sans" pitchFamily="34" charset="0"/>
                <a:ea typeface="IBM Plex Sans" pitchFamily="34" charset="-122"/>
                <a:cs typeface="IBM Plex Sans" pitchFamily="34" charset="-120"/>
              </a:rPr>
              <a:t>every</a:t>
            </a:r>
            <a:r>
              <a:rPr lang="en-US" sz="1400" dirty="0">
                <a:solidFill>
                  <a:srgbClr val="E3E8F1"/>
                </a:solidFill>
                <a:latin typeface="IBM Plex Sans" pitchFamily="34" charset="0"/>
                <a:ea typeface="IBM Plex Sans" pitchFamily="34" charset="-122"/>
                <a:cs typeface="IBM Plex Sans" pitchFamily="34" charset="-120"/>
              </a:rPr>
              <a:t> commit you make.</a:t>
            </a:r>
            <a:endParaRPr lang="en-US" sz="1400" dirty="0"/>
          </a:p>
        </p:txBody>
      </p:sp>
      <p:sp>
        <p:nvSpPr>
          <p:cNvPr id="9" name="Text 7"/>
          <p:cNvSpPr/>
          <p:nvPr/>
        </p:nvSpPr>
        <p:spPr>
          <a:xfrm>
            <a:off x="7950200" y="2524770"/>
            <a:ext cx="353187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3E8F1"/>
                </a:solidFill>
                <a:latin typeface="IBM Plex Sans" pitchFamily="34" charset="0"/>
                <a:ea typeface="IBM Plex Sans" pitchFamily="34" charset="-122"/>
                <a:cs typeface="IBM Plex Sans" pitchFamily="34" charset="-120"/>
              </a:rPr>
              <a:t>defaultBranch main</a:t>
            </a:r>
            <a:r>
              <a:rPr lang="en-US" sz="1400" dirty="0">
                <a:solidFill>
                  <a:srgbClr val="E3E8F1"/>
                </a:solidFill>
                <a:latin typeface="IBM Plex Sans" pitchFamily="34" charset="0"/>
                <a:ea typeface="IBM Plex Sans" pitchFamily="34" charset="-122"/>
                <a:cs typeface="IBM Plex Sans" pitchFamily="34" charset="-120"/>
              </a:rPr>
              <a:t> names your first branch “main” instead of the old “master”.</a:t>
            </a:r>
            <a:endParaRPr lang="en-US" sz="1400" dirty="0"/>
          </a:p>
        </p:txBody>
      </p:sp>
      <p:sp>
        <p:nvSpPr>
          <p:cNvPr id="10" name="Text 8"/>
          <p:cNvSpPr/>
          <p:nvPr/>
        </p:nvSpPr>
        <p:spPr>
          <a:xfrm>
            <a:off x="7950200" y="3149600"/>
            <a:ext cx="3429000" cy="665480"/>
          </a:xfrm>
          <a:prstGeom prst="roundRect">
            <a:avLst>
              <a:gd name="adj" fmla="val 11450"/>
            </a:avLst>
          </a:prstGeom>
          <a:solidFill>
            <a:srgbClr val="F2994A"/>
          </a:solidFill>
          <a:ln/>
        </p:spPr>
        <p:txBody>
          <a:bodyPr wrap="square" lIns="130082" tIns="79282" rIns="36356" bIns="53882"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Shared lab PC? Use </a:t>
            </a:r>
            <a:r>
              <a:rPr lang="en-US" sz="1300" b="1" dirty="0">
                <a:solidFill>
                  <a:srgbClr val="141B2D"/>
                </a:solidFill>
                <a:latin typeface="IBM Plex Sans" pitchFamily="34" charset="0"/>
                <a:ea typeface="IBM Plex Sans" pitchFamily="34" charset="-122"/>
                <a:cs typeface="IBM Plex Sans" pitchFamily="34" charset="-120"/>
              </a:rPr>
              <a:t>your own</a:t>
            </a:r>
            <a:r>
              <a:rPr lang="en-US" sz="1300" dirty="0">
                <a:solidFill>
                  <a:srgbClr val="141B2D"/>
                </a:solidFill>
                <a:latin typeface="IBM Plex Sans" pitchFamily="34" charset="0"/>
                <a:ea typeface="IBM Plex Sans" pitchFamily="34" charset="-122"/>
                <a:cs typeface="IBM Plex Sans" pitchFamily="34" charset="-120"/>
              </a:rPr>
              <a:t> name. Check with git config --list.</a:t>
            </a:r>
            <a:endParaRPr lang="en-US" sz="1300" dirty="0"/>
          </a:p>
        </p:txBody>
      </p:sp>
      <p:sp>
        <p:nvSpPr>
          <p:cNvPr id="11" name="Text 9"/>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Manual p.64 · Setting identity · Help: git help config</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2778760" cy="289560"/>
          </a:xfrm>
          <a:custGeom>
            <a:avLst/>
            <a:gdLst/>
            <a:ahLst/>
            <a:cxnLst/>
            <a:rect l="l" t="t" r="r" b="b"/>
            <a:pathLst>
              <a:path w="2778760" h="289560">
                <a:moveTo>
                  <a:pt x="144780" y="0"/>
                </a:moveTo>
                <a:lnTo>
                  <a:pt x="2633980" y="0"/>
                </a:lnTo>
                <a:arcTo hR="144780" wR="144780" stAng="16200000" swAng="5400000"/>
                <a:lnTo>
                  <a:pt x="2778760"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 · GIT 2 · COMMIT 1</a:t>
            </a:r>
            <a:endParaRPr lang="en-US" sz="1200" dirty="0"/>
          </a:p>
        </p:txBody>
      </p:sp>
      <p:sp>
        <p:nvSpPr>
          <p:cNvPr id="3" name="Text 1"/>
          <p:cNvSpPr/>
          <p:nvPr/>
        </p:nvSpPr>
        <p:spPr>
          <a:xfrm>
            <a:off x="3718560" y="850900"/>
            <a:ext cx="335140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2:00 PM · 15 min · inside day1-portfolio</a:t>
            </a:r>
            <a:endParaRPr lang="en-US" sz="1200" dirty="0"/>
          </a:p>
        </p:txBody>
      </p:sp>
      <p:sp>
        <p:nvSpPr>
          <p:cNvPr id="4" name="Text 2"/>
          <p:cNvSpPr/>
          <p:nvPr>
            <p:ph type="title"/>
          </p:nvPr>
        </p:nvSpPr>
        <p:spPr>
          <a:xfrm>
            <a:off x="812800" y="13055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1EA"/>
                </a:solidFill>
                <a:latin typeface="Space Grotesk" pitchFamily="34" charset="0"/>
                <a:ea typeface="Space Grotesk" pitchFamily="34" charset="-122"/>
                <a:cs typeface="Space Grotesk" pitchFamily="34" charset="-120"/>
              </a:rPr>
              <a:t>Your first save point</a:t>
            </a:r>
            <a:endParaRPr lang="en-US" sz="2800" dirty="0"/>
          </a:p>
        </p:txBody>
      </p:sp>
      <p:sp>
        <p:nvSpPr>
          <p:cNvPr id="5" name="Text 3"/>
          <p:cNvSpPr/>
          <p:nvPr/>
        </p:nvSpPr>
        <p:spPr>
          <a:xfrm>
            <a:off x="815975" y="1903090"/>
            <a:ext cx="7131050" cy="3725968"/>
          </a:xfrm>
          <a:prstGeom prst="roundRect">
            <a:avLst>
              <a:gd name="adj" fmla="val 2642"/>
            </a:avLst>
          </a:prstGeom>
          <a:solidFill>
            <a:srgbClr val="0D1220"/>
          </a:solidFill>
          <a:ln w="6350">
            <a:solidFill>
              <a:srgbClr val="2A3550"/>
            </a:solidFill>
            <a:prstDash val="solid"/>
          </a:ln>
        </p:spPr>
        <p:txBody>
          <a:bodyPr wrap="square" lIns="202206" tIns="176806" rIns="2137" bIns="151406" rtlCol="0" anchor="t">
            <a:normAutofit/>
          </a:bodyPr>
          <a:lstStyle/>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init</a:t>
            </a:r>
            <a:endParaRPr lang="en-US" sz="1200" dirty="0"/>
          </a:p>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Initialized empty Git repository in …/.git/</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status</a:t>
            </a:r>
            <a:endParaRPr lang="en-US" sz="1200" dirty="0"/>
          </a:p>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Untracked files:</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a:t>
            </a:r>
            <a:r>
              <a:rPr lang="en-US" sz="1200" dirty="0">
                <a:solidFill>
                  <a:srgbClr val="F07A6A"/>
                </a:solidFill>
                <a:latin typeface="JetBrains Mono" pitchFamily="49" charset="0"/>
                <a:ea typeface="JetBrains Mono" pitchFamily="49" charset="-122"/>
                <a:cs typeface="JetBrains Mono" pitchFamily="49" charset="-120"/>
              </a:rPr>
              <a:t>index.html</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a:t>
            </a:r>
            <a:r>
              <a:rPr lang="en-US" sz="1200" dirty="0">
                <a:solidFill>
                  <a:srgbClr val="F07A6A"/>
                </a:solidFill>
                <a:latin typeface="JetBrains Mono" pitchFamily="49" charset="0"/>
                <a:ea typeface="JetBrains Mono" pitchFamily="49" charset="-122"/>
                <a:cs typeface="JetBrains Mono" pitchFamily="49" charset="-120"/>
              </a:rPr>
              <a:t>style.css</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add .</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status</a:t>
            </a:r>
            <a:endParaRPr lang="en-US" sz="1200" dirty="0"/>
          </a:p>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Changes to be committed:</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a:t>
            </a:r>
            <a:r>
              <a:rPr lang="en-US" sz="1200" dirty="0">
                <a:solidFill>
                  <a:srgbClr val="7FD1A1"/>
                </a:solidFill>
                <a:latin typeface="JetBrains Mono" pitchFamily="49" charset="0"/>
                <a:ea typeface="JetBrains Mono" pitchFamily="49" charset="-122"/>
                <a:cs typeface="JetBrains Mono" pitchFamily="49" charset="-120"/>
              </a:rPr>
              <a:t>new file: index.html</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a:t>
            </a:r>
            <a:r>
              <a:rPr lang="en-US" sz="1200" dirty="0">
                <a:solidFill>
                  <a:srgbClr val="7FD1A1"/>
                </a:solidFill>
                <a:latin typeface="JetBrains Mono" pitchFamily="49" charset="0"/>
                <a:ea typeface="JetBrains Mono" pitchFamily="49" charset="-122"/>
                <a:cs typeface="JetBrains Mono" pitchFamily="49" charset="-120"/>
              </a:rPr>
              <a:t>new file: style.css</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commit -m "Add profile page structure and styles"</a:t>
            </a:r>
            <a:endParaRPr lang="en-US" sz="1200" dirty="0"/>
          </a:p>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[main (root-commit) a1b2c3d] Add profile page …</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log --oneline</a:t>
            </a:r>
            <a:endParaRPr lang="en-US" sz="1200" dirty="0"/>
          </a:p>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a1b2c3d (HEAD -&gt; main) Add profile page structure…</a:t>
            </a:r>
            <a:endParaRPr lang="en-US" sz="1200" dirty="0"/>
          </a:p>
        </p:txBody>
      </p:sp>
      <p:sp>
        <p:nvSpPr>
          <p:cNvPr id="6" name="Text 4"/>
          <p:cNvSpPr/>
          <p:nvPr/>
        </p:nvSpPr>
        <p:spPr>
          <a:xfrm>
            <a:off x="8204200" y="1899915"/>
            <a:ext cx="32702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4F0"/>
                </a:solidFill>
                <a:latin typeface="IBM Plex Sans" pitchFamily="34" charset="0"/>
                <a:ea typeface="IBM Plex Sans" pitchFamily="34" charset="-122"/>
                <a:cs typeface="IBM Plex Sans" pitchFamily="34" charset="-120"/>
              </a:rPr>
              <a:t>PREDICT BEFORE EACH ONE</a:t>
            </a:r>
            <a:endParaRPr lang="en-US" sz="1200" dirty="0"/>
          </a:p>
        </p:txBody>
      </p:sp>
      <p:sp>
        <p:nvSpPr>
          <p:cNvPr id="7" name="Text 5"/>
          <p:cNvSpPr/>
          <p:nvPr/>
        </p:nvSpPr>
        <p:spPr>
          <a:xfrm>
            <a:off x="8204200" y="2227585"/>
            <a:ext cx="3270250"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07A6A"/>
                </a:solidFill>
                <a:latin typeface="IBM Plex Sans" pitchFamily="34" charset="0"/>
                <a:ea typeface="IBM Plex Sans" pitchFamily="34" charset="-122"/>
                <a:cs typeface="IBM Plex Sans" pitchFamily="34" charset="-120"/>
              </a:rPr>
              <a:t>Red</a:t>
            </a:r>
            <a:r>
              <a:rPr lang="en-US" sz="1350" dirty="0">
                <a:solidFill>
                  <a:srgbClr val="E3E8F1"/>
                </a:solidFill>
                <a:latin typeface="IBM Plex Sans" pitchFamily="34" charset="0"/>
                <a:ea typeface="IBM Plex Sans" pitchFamily="34" charset="-122"/>
                <a:cs typeface="IBM Plex Sans" pitchFamily="34" charset="-120"/>
              </a:rPr>
              <a:t> = working directory, not staged</a:t>
            </a:r>
            <a:endParaRPr lang="en-US" sz="1350" dirty="0"/>
          </a:p>
        </p:txBody>
      </p:sp>
      <p:sp>
        <p:nvSpPr>
          <p:cNvPr id="8" name="Text 6"/>
          <p:cNvSpPr/>
          <p:nvPr/>
        </p:nvSpPr>
        <p:spPr>
          <a:xfrm>
            <a:off x="8204200" y="2581920"/>
            <a:ext cx="3270250"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7FD1A1"/>
                </a:solidFill>
                <a:latin typeface="IBM Plex Sans" pitchFamily="34" charset="0"/>
                <a:ea typeface="IBM Plex Sans" pitchFamily="34" charset="-122"/>
                <a:cs typeface="IBM Plex Sans" pitchFamily="34" charset="-120"/>
              </a:rPr>
              <a:t>Green</a:t>
            </a:r>
            <a:r>
              <a:rPr lang="en-US" sz="1350" dirty="0">
                <a:solidFill>
                  <a:srgbClr val="E3E8F1"/>
                </a:solidFill>
                <a:latin typeface="IBM Plex Sans" pitchFamily="34" charset="0"/>
                <a:ea typeface="IBM Plex Sans" pitchFamily="34" charset="-122"/>
                <a:cs typeface="IBM Plex Sans" pitchFamily="34" charset="-120"/>
              </a:rPr>
              <a:t> = staged, ready for the photo</a:t>
            </a:r>
            <a:endParaRPr lang="en-US" sz="1350" dirty="0"/>
          </a:p>
        </p:txBody>
      </p:sp>
      <p:sp>
        <p:nvSpPr>
          <p:cNvPr id="9" name="Text 7"/>
          <p:cNvSpPr/>
          <p:nvPr/>
        </p:nvSpPr>
        <p:spPr>
          <a:xfrm>
            <a:off x="8204200" y="2936230"/>
            <a:ext cx="3270250" cy="50546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E3E8F1"/>
                </a:solidFill>
                <a:latin typeface="IBM Plex Sans" pitchFamily="34" charset="0"/>
                <a:ea typeface="IBM Plex Sans" pitchFamily="34" charset="-122"/>
                <a:cs typeface="IBM Plex Sans" pitchFamily="34" charset="-120"/>
              </a:rPr>
              <a:t>a1b2c3d</a:t>
            </a:r>
            <a:r>
              <a:rPr lang="en-US" sz="1350" dirty="0">
                <a:solidFill>
                  <a:srgbClr val="E3E8F1"/>
                </a:solidFill>
                <a:latin typeface="IBM Plex Sans" pitchFamily="34" charset="0"/>
                <a:ea typeface="IBM Plex Sans" pitchFamily="34" charset="-122"/>
                <a:cs typeface="IBM Plex Sans" pitchFamily="34" charset="-120"/>
              </a:rPr>
              <a:t> = the commit ID. Yours will differ.</a:t>
            </a:r>
            <a:endParaRPr lang="en-US" sz="1350" dirty="0"/>
          </a:p>
        </p:txBody>
      </p:sp>
      <p:sp>
        <p:nvSpPr>
          <p:cNvPr id="10" name="Text 8"/>
          <p:cNvSpPr/>
          <p:nvPr/>
        </p:nvSpPr>
        <p:spPr>
          <a:xfrm>
            <a:off x="8204200" y="3530600"/>
            <a:ext cx="3270250"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3E8F1"/>
                </a:solidFill>
                <a:latin typeface="IBM Plex Sans" pitchFamily="34" charset="0"/>
                <a:ea typeface="IBM Plex Sans" pitchFamily="34" charset="-122"/>
                <a:cs typeface="IBM Plex Sans" pitchFamily="34" charset="-120"/>
              </a:rPr>
              <a:t>Show hidden files: the new </a:t>
            </a:r>
            <a:r>
              <a:rPr lang="en-US" sz="1350" b="1" dirty="0">
                <a:solidFill>
                  <a:srgbClr val="E3E8F1"/>
                </a:solidFill>
                <a:latin typeface="IBM Plex Sans" pitchFamily="34" charset="0"/>
                <a:ea typeface="IBM Plex Sans" pitchFamily="34" charset="-122"/>
                <a:cs typeface="IBM Plex Sans" pitchFamily="34" charset="-120"/>
              </a:rPr>
              <a:t>.git</a:t>
            </a:r>
            <a:r>
              <a:rPr lang="en-US" sz="1350" dirty="0">
                <a:solidFill>
                  <a:srgbClr val="E3E8F1"/>
                </a:solidFill>
                <a:latin typeface="IBM Plex Sans" pitchFamily="34" charset="0"/>
                <a:ea typeface="IBM Plex Sans" pitchFamily="34" charset="-122"/>
                <a:cs typeface="IBM Plex Sans" pitchFamily="34" charset="-120"/>
              </a:rPr>
              <a:t> folder is your album.</a:t>
            </a:r>
            <a:endParaRPr lang="en-US" sz="1350" dirty="0"/>
          </a:p>
        </p:txBody>
      </p:sp>
      <p:sp>
        <p:nvSpPr>
          <p:cNvPr id="11" name="Text 9"/>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Manual p.18 · Section 13 · Fill the Git observation table (p.19) as you go</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2778760" cy="289560"/>
          </a:xfrm>
          <a:custGeom>
            <a:avLst/>
            <a:gdLst/>
            <a:ahLst/>
            <a:cxnLst/>
            <a:rect l="l" t="t" r="r" b="b"/>
            <a:pathLst>
              <a:path w="2778760" h="289560">
                <a:moveTo>
                  <a:pt x="144780" y="0"/>
                </a:moveTo>
                <a:lnTo>
                  <a:pt x="2633980" y="0"/>
                </a:lnTo>
                <a:arcTo hR="144780" wR="144780" stAng="16200000" swAng="5400000"/>
                <a:lnTo>
                  <a:pt x="2778760"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 · GIT 3 · COMMIT 2</a:t>
            </a:r>
            <a:endParaRPr lang="en-US" sz="1200" dirty="0"/>
          </a:p>
        </p:txBody>
      </p:sp>
      <p:sp>
        <p:nvSpPr>
          <p:cNvPr id="3" name="Text 1"/>
          <p:cNvSpPr/>
          <p:nvPr/>
        </p:nvSpPr>
        <p:spPr>
          <a:xfrm>
            <a:off x="3718560" y="850900"/>
            <a:ext cx="297611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2:15 PM · 10 min · The status game</a:t>
            </a:r>
            <a:endParaRPr lang="en-US" sz="1200" dirty="0"/>
          </a:p>
        </p:txBody>
      </p:sp>
      <p:sp>
        <p:nvSpPr>
          <p:cNvPr id="4" name="Text 2"/>
          <p:cNvSpPr/>
          <p:nvPr>
            <p:ph type="title"/>
          </p:nvPr>
        </p:nvSpPr>
        <p:spPr>
          <a:xfrm>
            <a:off x="812800" y="13055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1EA"/>
                </a:solidFill>
                <a:latin typeface="Space Grotesk" pitchFamily="34" charset="0"/>
                <a:ea typeface="Space Grotesk" pitchFamily="34" charset="-122"/>
                <a:cs typeface="Space Grotesk" pitchFamily="34" charset="-120"/>
              </a:rPr>
              <a:t>Change one line. Predict what Git sees.</a:t>
            </a:r>
            <a:endParaRPr lang="en-US" sz="2800" dirty="0"/>
          </a:p>
        </p:txBody>
      </p:sp>
      <p:sp>
        <p:nvSpPr>
          <p:cNvPr id="5" name="Text 3"/>
          <p:cNvSpPr/>
          <p:nvPr/>
        </p:nvSpPr>
        <p:spPr>
          <a:xfrm>
            <a:off x="876829" y="1899915"/>
            <a:ext cx="3591031" cy="1311275"/>
          </a:xfrm>
          <a:prstGeom prst="rect">
            <a:avLst/>
          </a:prstGeom>
          <a:noFill/>
          <a:ln/>
        </p:spPr>
        <p:txBody>
          <a:bodyPr wrap="square" lIns="0" tIns="0" rIns="0" bIns="0" rtlCol="0" anchor="t">
            <a:normAutofit/>
          </a:bodyPr>
          <a:lstStyle/>
          <a:p>
            <a:pPr algn="l" marL="189971" indent="-189971">
              <a:lnSpc>
                <a:spcPts val="2025"/>
              </a:lnSpc>
              <a:buSzPct val="100000"/>
              <a:buFontTx/>
              <a:buAutoNum type="arabicPeriod" startAt="1"/>
            </a:pPr>
            <a:r>
              <a:rPr lang="en-US" sz="1350" dirty="0">
                <a:solidFill>
                  <a:srgbClr val="E3E8F1"/>
                </a:solidFill>
                <a:latin typeface="IBM Plex Sans" pitchFamily="34" charset="0"/>
                <a:ea typeface="IBM Plex Sans" pitchFamily="34" charset="-122"/>
                <a:cs typeface="IBM Plex Sans" pitchFamily="34" charset="-120"/>
              </a:rPr>
              <a:t>Change your &lt;h1&gt; text or add a skill row</a:t>
            </a:r>
            <a:endParaRPr lang="en-US" sz="1350" dirty="0"/>
          </a:p>
          <a:p>
            <a:pPr algn="l" marL="189971" indent="-189971">
              <a:lnSpc>
                <a:spcPts val="2025"/>
              </a:lnSpc>
              <a:buSzPct val="100000"/>
              <a:buFontTx/>
              <a:buAutoNum type="arabicPeriod" startAt="1"/>
            </a:pPr>
            <a:r>
              <a:rPr lang="en-US" sz="1350" dirty="0">
                <a:solidFill>
                  <a:srgbClr val="E3E8F1"/>
                </a:solidFill>
                <a:latin typeface="IBM Plex Sans" pitchFamily="34" charset="0"/>
                <a:ea typeface="IBM Plex Sans" pitchFamily="34" charset="-122"/>
                <a:cs typeface="IBM Plex Sans" pitchFamily="34" charset="-120"/>
              </a:rPr>
              <a:t>Save. </a:t>
            </a:r>
            <a:r>
              <a:rPr lang="en-US" sz="1350" b="1" dirty="0">
                <a:solidFill>
                  <a:srgbClr val="E3E8F1"/>
                </a:solidFill>
                <a:latin typeface="IBM Plex Sans" pitchFamily="34" charset="0"/>
                <a:ea typeface="IBM Plex Sans" pitchFamily="34" charset="-122"/>
                <a:cs typeface="IBM Plex Sans" pitchFamily="34" charset="-120"/>
              </a:rPr>
              <a:t>Predict</a:t>
            </a:r>
            <a:r>
              <a:rPr lang="en-US" sz="1350" dirty="0">
                <a:solidFill>
                  <a:srgbClr val="E3E8F1"/>
                </a:solidFill>
                <a:latin typeface="IBM Plex Sans" pitchFamily="34" charset="0"/>
                <a:ea typeface="IBM Plex Sans" pitchFamily="34" charset="-122"/>
                <a:cs typeface="IBM Plex Sans" pitchFamily="34" charset="-120"/>
              </a:rPr>
              <a:t> git status. Then run it.</a:t>
            </a:r>
            <a:endParaRPr lang="en-US" sz="1350" dirty="0"/>
          </a:p>
          <a:p>
            <a:pPr algn="l" marL="189971" indent="-189971">
              <a:lnSpc>
                <a:spcPts val="2025"/>
              </a:lnSpc>
              <a:buSzPct val="100000"/>
              <a:buFontTx/>
              <a:buAutoNum type="arabicPeriod" startAt="1"/>
            </a:pPr>
            <a:r>
              <a:rPr lang="en-US" sz="1350" dirty="0">
                <a:solidFill>
                  <a:srgbClr val="E3E8F1"/>
                </a:solidFill>
                <a:latin typeface="IBM Plex Sans" pitchFamily="34" charset="0"/>
                <a:ea typeface="IBM Plex Sans" pitchFamily="34" charset="-122"/>
                <a:cs typeface="IBM Plex Sans" pitchFamily="34" charset="-120"/>
              </a:rPr>
              <a:t>Run </a:t>
            </a:r>
            <a:r>
              <a:rPr lang="en-US" sz="1350" b="1" dirty="0">
                <a:solidFill>
                  <a:srgbClr val="E3E8F1"/>
                </a:solidFill>
                <a:latin typeface="IBM Plex Sans" pitchFamily="34" charset="0"/>
                <a:ea typeface="IBM Plex Sans" pitchFamily="34" charset="-122"/>
                <a:cs typeface="IBM Plex Sans" pitchFamily="34" charset="-120"/>
              </a:rPr>
              <a:t>git diff</a:t>
            </a:r>
            <a:r>
              <a:rPr lang="en-US" sz="1350" dirty="0">
                <a:solidFill>
                  <a:srgbClr val="E3E8F1"/>
                </a:solidFill>
                <a:latin typeface="IBM Plex Sans" pitchFamily="34" charset="0"/>
                <a:ea typeface="IBM Plex Sans" pitchFamily="34" charset="-122"/>
                <a:cs typeface="IBM Plex Sans" pitchFamily="34" charset="-120"/>
              </a:rPr>
              <a:t>: see exactly what changed</a:t>
            </a:r>
            <a:endParaRPr lang="en-US" sz="1350" dirty="0"/>
          </a:p>
          <a:p>
            <a:pPr algn="l" marL="189971" indent="-189971">
              <a:lnSpc>
                <a:spcPts val="2025"/>
              </a:lnSpc>
              <a:buSzPct val="100000"/>
              <a:buFontTx/>
              <a:buAutoNum type="arabicPeriod" startAt="1"/>
            </a:pPr>
            <a:r>
              <a:rPr lang="en-US" sz="1350" dirty="0">
                <a:solidFill>
                  <a:srgbClr val="E3E8F1"/>
                </a:solidFill>
                <a:latin typeface="IBM Plex Sans" pitchFamily="34" charset="0"/>
                <a:ea typeface="IBM Plex Sans" pitchFamily="34" charset="-122"/>
                <a:cs typeface="IBM Plex Sans" pitchFamily="34" charset="-120"/>
              </a:rPr>
              <a:t>Stage and commit with a clear message</a:t>
            </a:r>
            <a:endParaRPr lang="en-US" sz="1350" dirty="0"/>
          </a:p>
          <a:p>
            <a:pPr algn="l" marL="189971" indent="-189971">
              <a:lnSpc>
                <a:spcPts val="2025"/>
              </a:lnSpc>
              <a:buSzPct val="100000"/>
              <a:buFontTx/>
              <a:buAutoNum type="arabicPeriod" startAt="1"/>
            </a:pPr>
            <a:r>
              <a:rPr lang="en-US" sz="1350" dirty="0">
                <a:solidFill>
                  <a:srgbClr val="E3E8F1"/>
                </a:solidFill>
                <a:latin typeface="IBM Plex Sans" pitchFamily="34" charset="0"/>
                <a:ea typeface="IBM Plex Sans" pitchFamily="34" charset="-122"/>
                <a:cs typeface="IBM Plex Sans" pitchFamily="34" charset="-120"/>
              </a:rPr>
              <a:t>git log --oneline: now 2 save points</a:t>
            </a:r>
            <a:endParaRPr lang="en-US" sz="1350" dirty="0"/>
          </a:p>
        </p:txBody>
      </p:sp>
      <p:sp>
        <p:nvSpPr>
          <p:cNvPr id="6" name="Text 4"/>
          <p:cNvSpPr/>
          <p:nvPr/>
        </p:nvSpPr>
        <p:spPr>
          <a:xfrm>
            <a:off x="4625975" y="1903090"/>
            <a:ext cx="6750050" cy="2842048"/>
          </a:xfrm>
          <a:prstGeom prst="roundRect">
            <a:avLst>
              <a:gd name="adj" fmla="val 3463"/>
            </a:avLst>
          </a:prstGeom>
          <a:solidFill>
            <a:srgbClr val="0D1220"/>
          </a:solidFill>
          <a:ln w="6350">
            <a:solidFill>
              <a:srgbClr val="2A3550"/>
            </a:solidFill>
            <a:prstDash val="solid"/>
          </a:ln>
        </p:spPr>
        <p:txBody>
          <a:bodyPr wrap="square" lIns="202206" tIns="176806" rIns="13567" bIns="151406" rtlCol="0" anchor="t">
            <a:normAutofit/>
          </a:bodyPr>
          <a:lstStyle/>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status</a:t>
            </a:r>
            <a:endParaRPr lang="en-US" sz="1200" dirty="0"/>
          </a:p>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Changes not staged for commit: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a:t>
            </a:r>
            <a:r>
              <a:rPr lang="en-US" sz="1200" dirty="0">
                <a:solidFill>
                  <a:srgbClr val="F07A6A"/>
                </a:solidFill>
                <a:latin typeface="JetBrains Mono" pitchFamily="49" charset="0"/>
                <a:ea typeface="JetBrains Mono" pitchFamily="49" charset="-122"/>
                <a:cs typeface="JetBrains Mono" pitchFamily="49" charset="-120"/>
              </a:rPr>
              <a:t>modified: index.html</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diff</a:t>
            </a:r>
            <a:endParaRPr lang="en-US" sz="1200" dirty="0"/>
          </a:p>
          <a:p>
            <a:pPr algn="l" indent="0" marL="0">
              <a:lnSpc>
                <a:spcPts val="1740"/>
              </a:lnSpc>
              <a:buNone/>
            </a:pPr>
            <a:r>
              <a:rPr lang="en-US" sz="1200" dirty="0">
                <a:solidFill>
                  <a:srgbClr val="F07A6A"/>
                </a:solidFill>
                <a:latin typeface="JetBrains Mono" pitchFamily="49" charset="0"/>
                <a:ea typeface="JetBrains Mono" pitchFamily="49" charset="-122"/>
                <a:cs typeface="JetBrains Mono" pitchFamily="49" charset="-120"/>
              </a:rPr>
              <a:t>-    &lt;h1&gt;Asha R&lt;/h1&gt;</a:t>
            </a:r>
            <a:endParaRPr lang="en-US" sz="1200" dirty="0"/>
          </a:p>
          <a:p>
            <a:pPr algn="l" indent="0" marL="0">
              <a:lnSpc>
                <a:spcPts val="1740"/>
              </a:lnSpc>
              <a:buNone/>
            </a:pPr>
            <a:r>
              <a:rPr lang="en-US" sz="1200" dirty="0">
                <a:solidFill>
                  <a:srgbClr val="7FD1A1"/>
                </a:solidFill>
                <a:latin typeface="JetBrains Mono" pitchFamily="49" charset="0"/>
                <a:ea typeface="JetBrains Mono" pitchFamily="49" charset="-122"/>
                <a:cs typeface="JetBrains Mono" pitchFamily="49" charset="-120"/>
              </a:rPr>
              <a:t>+    &lt;h1&gt;Asha R · Web Developer&lt;/h1&gt;</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add .</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commit -m "Update heading with role"</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log --oneline</a:t>
            </a:r>
            <a:endParaRPr lang="en-US" sz="1200" dirty="0"/>
          </a:p>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e4f5a6b (HEAD -&gt; main) Update heading with role</a:t>
            </a:r>
            <a:endParaRPr lang="en-US" sz="1200" dirty="0"/>
          </a:p>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a1b2c3d Add profile page structure and styles</a:t>
            </a:r>
            <a:endParaRPr lang="en-US" sz="1200" dirty="0"/>
          </a:p>
        </p:txBody>
      </p:sp>
      <p:sp>
        <p:nvSpPr>
          <p:cNvPr id="7" name="Text 5"/>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Press q to exit git diff or git log if the screen gets stuck</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31892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2:24 PM · 2 min · Meaningful commits</a:t>
            </a:r>
            <a:endParaRPr lang="en-US" sz="1200" dirty="0"/>
          </a:p>
        </p:txBody>
      </p:sp>
      <p:sp>
        <p:nvSpPr>
          <p:cNvPr id="4" name="Text 2"/>
          <p:cNvSpPr/>
          <p:nvPr>
            <p:ph type="title"/>
          </p:nvPr>
        </p:nvSpPr>
        <p:spPr>
          <a:xfrm>
            <a:off x="812800" y="130557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A good message says what changed, so future you can find it</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018" y="2358188"/>
          <a:ext cx="6999182" cy="2056342"/>
        </p:xfrm>
        <a:graphic>
          <a:graphicData uri="http://schemas.openxmlformats.org/drawingml/2006/table">
            <a:tbl>
              <a:tblPr/>
              <a:tblGrid>
                <a:gridCol w="2519705"/>
                <a:gridCol w="4479476"/>
              </a:tblGrid>
              <a:tr h="411268">
                <a:tc>
                  <a:txBody>
                    <a:bodyPr/>
                    <a:lstStyle/>
                    <a:p>
                      <a:pPr indent="0" marL="0">
                        <a:lnSpc>
                          <a:spcPts val="2100"/>
                        </a:lnSpc>
                        <a:buNone/>
                      </a:pPr>
                      <a:r>
                        <a:rPr lang="en-US" sz="1500" b="1" dirty="0">
                          <a:solidFill>
                            <a:srgbClr val="1A2236"/>
                          </a:solidFill>
                          <a:latin typeface="IBM Plex Sans" pitchFamily="34" charset="0"/>
                          <a:ea typeface="IBM Plex Sans" pitchFamily="34" charset="-122"/>
                          <a:cs typeface="IBM Plex Sans" pitchFamily="34" charset="-120"/>
                        </a:rPr>
                        <a:t>Bad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2100"/>
                        </a:lnSpc>
                        <a:buNone/>
                      </a:pPr>
                      <a:r>
                        <a:rPr lang="en-US" sz="1500" b="1" dirty="0">
                          <a:solidFill>
                            <a:srgbClr val="1A2236"/>
                          </a:solidFill>
                          <a:latin typeface="IBM Plex Sans" pitchFamily="34" charset="0"/>
                          <a:ea typeface="IBM Plex Sans" pitchFamily="34" charset="-122"/>
                          <a:cs typeface="IBM Plex Sans" pitchFamily="34" charset="-120"/>
                        </a:rPr>
                        <a:t>Good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411268">
                <a:tc>
                  <a:txBody>
                    <a:bodyPr/>
                    <a:lstStyle/>
                    <a:p>
                      <a:pPr indent="0" marL="0">
                        <a:lnSpc>
                          <a:spcPts val="2100"/>
                        </a:lnSpc>
                        <a:buNone/>
                      </a:pPr>
                      <a:r>
                        <a:rPr lang="en-US" sz="1500" dirty="0">
                          <a:solidFill>
                            <a:srgbClr val="C2382B"/>
                          </a:solidFill>
                          <a:latin typeface="IBM Plex Sans" pitchFamily="34" charset="0"/>
                          <a:ea typeface="IBM Plex Sans" pitchFamily="34" charset="-122"/>
                          <a:cs typeface="IBM Plex Sans" pitchFamily="34" charset="-120"/>
                        </a:rPr>
                        <a:t>update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Add responsive project cards with Flexbox</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11268">
                <a:tc>
                  <a:txBody>
                    <a:bodyPr/>
                    <a:lstStyle/>
                    <a:p>
                      <a:pPr indent="0" marL="0">
                        <a:lnSpc>
                          <a:spcPts val="2100"/>
                        </a:lnSpc>
                        <a:buNone/>
                      </a:pPr>
                      <a:r>
                        <a:rPr lang="en-US" sz="1500" dirty="0">
                          <a:solidFill>
                            <a:srgbClr val="C2382B"/>
                          </a:solidFill>
                          <a:latin typeface="IBM Plex Sans" pitchFamily="34" charset="0"/>
                          <a:ea typeface="IBM Plex Sans" pitchFamily="34" charset="-122"/>
                          <a:cs typeface="IBM Plex Sans" pitchFamily="34" charset="-120"/>
                        </a:rPr>
                        <a:t>final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Fix horizontal scroll on mobile view</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11268">
                <a:tc>
                  <a:txBody>
                    <a:bodyPr/>
                    <a:lstStyle/>
                    <a:p>
                      <a:pPr indent="0" marL="0">
                        <a:lnSpc>
                          <a:spcPts val="2100"/>
                        </a:lnSpc>
                        <a:buNone/>
                      </a:pPr>
                      <a:r>
                        <a:rPr lang="en-US" sz="1500" dirty="0">
                          <a:solidFill>
                            <a:srgbClr val="C2382B"/>
                          </a:solidFill>
                          <a:latin typeface="IBM Plex Sans" pitchFamily="34" charset="0"/>
                          <a:ea typeface="IBM Plex Sans" pitchFamily="34" charset="-122"/>
                          <a:cs typeface="IBM Plex Sans" pitchFamily="34" charset="-120"/>
                        </a:rPr>
                        <a:t>asdf</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Add contact form with email validation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11268">
                <a:tc>
                  <a:txBody>
                    <a:bodyPr/>
                    <a:lstStyle/>
                    <a:p>
                      <a:pPr indent="0" marL="0">
                        <a:lnSpc>
                          <a:spcPts val="2100"/>
                        </a:lnSpc>
                        <a:buNone/>
                      </a:pPr>
                      <a:r>
                        <a:rPr lang="en-US" sz="1500" dirty="0">
                          <a:solidFill>
                            <a:srgbClr val="C2382B"/>
                          </a:solidFill>
                          <a:latin typeface="IBM Plex Sans" pitchFamily="34" charset="0"/>
                          <a:ea typeface="IBM Plex Sans" pitchFamily="34" charset="-122"/>
                          <a:cs typeface="IBM Plex Sans" pitchFamily="34" charset="-120"/>
                        </a:rPr>
                        <a:t>changes done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A2236"/>
                          </a:solidFill>
                          <a:latin typeface="IBM Plex Sans" pitchFamily="34" charset="0"/>
                          <a:ea typeface="IBM Plex Sans" pitchFamily="34" charset="-122"/>
                          <a:cs typeface="IBM Plex Sans" pitchFamily="34" charset="-120"/>
                        </a:rPr>
                        <a:t>Change header colour to navy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6" name="Shape 3"/>
          <p:cNvSpPr/>
          <p:nvPr/>
        </p:nvSpPr>
        <p:spPr>
          <a:xfrm>
            <a:off x="8080375" y="2350145"/>
            <a:ext cx="3295650" cy="2061210"/>
          </a:xfrm>
          <a:prstGeom prst="roundRect">
            <a:avLst>
              <a:gd name="adj" fmla="val 4775"/>
            </a:avLst>
          </a:prstGeom>
          <a:solidFill>
            <a:srgbClr val="FFFFFF"/>
          </a:solidFill>
          <a:ln w="6350">
            <a:solidFill>
              <a:srgbClr val="E1DED5"/>
            </a:solidFill>
            <a:prstDash val="solid"/>
          </a:ln>
        </p:spPr>
      </p:sp>
      <p:sp>
        <p:nvSpPr>
          <p:cNvPr id="7" name="Text 4"/>
          <p:cNvSpPr/>
          <p:nvPr/>
        </p:nvSpPr>
        <p:spPr>
          <a:xfrm>
            <a:off x="8311409" y="2581176"/>
            <a:ext cx="291858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1A"/>
                </a:solidFill>
                <a:latin typeface="IBM Plex Sans" pitchFamily="34" charset="0"/>
                <a:ea typeface="IBM Plex Sans" pitchFamily="34" charset="-122"/>
                <a:cs typeface="IBM Plex Sans" pitchFamily="34" charset="-120"/>
              </a:rPr>
              <a:t>THE FORMULA</a:t>
            </a:r>
            <a:endParaRPr lang="en-US" sz="1200" dirty="0"/>
          </a:p>
        </p:txBody>
      </p:sp>
      <p:sp>
        <p:nvSpPr>
          <p:cNvPr id="8" name="Text 5"/>
          <p:cNvSpPr/>
          <p:nvPr/>
        </p:nvSpPr>
        <p:spPr>
          <a:xfrm>
            <a:off x="8311409" y="2896121"/>
            <a:ext cx="291858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A2236"/>
                </a:solidFill>
                <a:latin typeface="JetBrains Mono" pitchFamily="49" charset="0"/>
                <a:ea typeface="JetBrains Mono" pitchFamily="49" charset="-122"/>
                <a:cs typeface="JetBrains Mono" pitchFamily="49" charset="-120"/>
              </a:rPr>
              <a:t>Verb + what</a:t>
            </a:r>
            <a:endParaRPr lang="en-US" sz="1500" dirty="0"/>
          </a:p>
        </p:txBody>
      </p:sp>
      <p:sp>
        <p:nvSpPr>
          <p:cNvPr id="9" name="Text 6"/>
          <p:cNvSpPr/>
          <p:nvPr/>
        </p:nvSpPr>
        <p:spPr>
          <a:xfrm>
            <a:off x="8311409" y="3264421"/>
            <a:ext cx="291858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6"/>
                </a:solidFill>
                <a:latin typeface="IBM Plex Sans" pitchFamily="34" charset="0"/>
                <a:ea typeface="IBM Plex Sans" pitchFamily="34" charset="-122"/>
                <a:cs typeface="IBM Plex Sans" pitchFamily="34" charset="-120"/>
              </a:rPr>
              <a:t>Add, Fix, Update, Remove, Style…</a:t>
            </a:r>
            <a:endParaRPr lang="en-US" sz="1300" dirty="0"/>
          </a:p>
        </p:txBody>
      </p:sp>
      <p:sp>
        <p:nvSpPr>
          <p:cNvPr id="10" name="Text 7"/>
          <p:cNvSpPr/>
          <p:nvPr/>
        </p:nvSpPr>
        <p:spPr>
          <a:xfrm>
            <a:off x="8311409" y="3597176"/>
            <a:ext cx="291858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6"/>
                </a:solidFill>
                <a:latin typeface="IBM Plex Sans" pitchFamily="34" charset="0"/>
                <a:ea typeface="IBM Plex Sans" pitchFamily="34" charset="-122"/>
                <a:cs typeface="IBM Plex Sans" pitchFamily="34" charset="-120"/>
              </a:rPr>
              <a:t>Under ~50 characters</a:t>
            </a:r>
            <a:endParaRPr lang="en-US" sz="1300" dirty="0"/>
          </a:p>
        </p:txBody>
      </p:sp>
      <p:sp>
        <p:nvSpPr>
          <p:cNvPr id="11" name="Text 8"/>
          <p:cNvSpPr/>
          <p:nvPr/>
        </p:nvSpPr>
        <p:spPr>
          <a:xfrm>
            <a:off x="8311409" y="3929906"/>
            <a:ext cx="291858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6"/>
                </a:solidFill>
                <a:latin typeface="IBM Plex Sans" pitchFamily="34" charset="0"/>
                <a:ea typeface="IBM Plex Sans" pitchFamily="34" charset="-122"/>
                <a:cs typeface="IBM Plex Sans" pitchFamily="34" charset="-120"/>
              </a:rPr>
              <a:t>One logical change per commit</a:t>
            </a:r>
            <a:endParaRPr lang="en-US" sz="1300" dirty="0"/>
          </a:p>
        </p:txBody>
      </p:sp>
      <p:sp>
        <p:nvSpPr>
          <p:cNvPr id="12" name="Text 9"/>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The mini challenge marks “meaningful” commits · Bad messages lose marks</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1560407" cy="289560"/>
          </a:xfrm>
          <a:custGeom>
            <a:avLst/>
            <a:gdLst/>
            <a:ahLst/>
            <a:cxnLst/>
            <a:rect l="l" t="t" r="r" b="b"/>
            <a:pathLst>
              <a:path w="1560407" h="289560">
                <a:moveTo>
                  <a:pt x="144780" y="0"/>
                </a:moveTo>
                <a:lnTo>
                  <a:pt x="1415627" y="0"/>
                </a:lnTo>
                <a:arcTo hR="144780" wR="144780" stAng="16200000" swAng="5400000"/>
                <a:lnTo>
                  <a:pt x="1560407"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SPRINT · PAIRS</a:t>
            </a:r>
            <a:endParaRPr lang="en-US" sz="1200" dirty="0"/>
          </a:p>
        </p:txBody>
      </p:sp>
      <p:sp>
        <p:nvSpPr>
          <p:cNvPr id="3" name="Text 1"/>
          <p:cNvSpPr/>
          <p:nvPr/>
        </p:nvSpPr>
        <p:spPr>
          <a:xfrm>
            <a:off x="2500207" y="850900"/>
            <a:ext cx="472859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2:25 PM · 30 min · Driver / navigator, swap every 15 min</a:t>
            </a:r>
            <a:endParaRPr lang="en-US" sz="1200" dirty="0"/>
          </a:p>
        </p:txBody>
      </p:sp>
      <p:sp>
        <p:nvSpPr>
          <p:cNvPr id="4" name="Text 2"/>
          <p:cNvSpPr/>
          <p:nvPr>
            <p:ph type="title"/>
          </p:nvPr>
        </p:nvSpPr>
        <p:spPr>
          <a:xfrm>
            <a:off x="812800" y="13055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1EA"/>
                </a:solidFill>
                <a:latin typeface="Space Grotesk" pitchFamily="34" charset="0"/>
                <a:ea typeface="Space Grotesk" pitchFamily="34" charset="-122"/>
                <a:cs typeface="Space Grotesk" pitchFamily="34" charset="-120"/>
              </a:rPr>
              <a:t>Turn the profile into a portfolio. Commit after each part.</a:t>
            </a:r>
            <a:endParaRPr lang="en-US" sz="2800" dirty="0"/>
          </a:p>
        </p:txBody>
      </p:sp>
      <p:sp>
        <p:nvSpPr>
          <p:cNvPr id="5" name="Shape 3"/>
          <p:cNvSpPr/>
          <p:nvPr/>
        </p:nvSpPr>
        <p:spPr>
          <a:xfrm>
            <a:off x="815975" y="1903090"/>
            <a:ext cx="7054850" cy="3649768"/>
          </a:xfrm>
          <a:prstGeom prst="roundRect">
            <a:avLst>
              <a:gd name="adj" fmla="val 2697"/>
            </a:avLst>
          </a:prstGeom>
          <a:solidFill>
            <a:srgbClr val="0D1220"/>
          </a:solidFill>
          <a:ln w="6350">
            <a:solidFill>
              <a:srgbClr val="2A3550"/>
            </a:solidFill>
            <a:prstDash val="solid"/>
          </a:ln>
        </p:spPr>
      </p:sp>
      <p:sp>
        <p:nvSpPr>
          <p:cNvPr id="6" name="Text 4"/>
          <p:cNvSpPr/>
          <p:nvPr/>
        </p:nvSpPr>
        <p:spPr>
          <a:xfrm>
            <a:off x="1021609" y="2108721"/>
            <a:ext cx="684289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BA3"/>
                </a:solidFill>
                <a:latin typeface="IBM Plex Sans" pitchFamily="34" charset="0"/>
                <a:ea typeface="IBM Plex Sans" pitchFamily="34" charset="-122"/>
                <a:cs typeface="IBM Plex Sans" pitchFamily="34" charset="-120"/>
              </a:rPr>
              <a:t>HERO · top of &lt;main&gt;</a:t>
            </a:r>
            <a:endParaRPr lang="en-US" sz="1200" dirty="0"/>
          </a:p>
        </p:txBody>
      </p:sp>
      <p:sp>
        <p:nvSpPr>
          <p:cNvPr id="7" name="Text 5"/>
          <p:cNvSpPr/>
          <p:nvPr/>
        </p:nvSpPr>
        <p:spPr>
          <a:xfrm>
            <a:off x="1021609" y="2398291"/>
            <a:ext cx="6842890" cy="20142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&lt;section class="</a:t>
            </a:r>
            <a:r>
              <a:rPr lang="en-US" sz="1200" dirty="0">
                <a:solidFill>
                  <a:srgbClr val="F2994A"/>
                </a:solidFill>
                <a:latin typeface="JetBrains Mono" pitchFamily="49" charset="0"/>
                <a:ea typeface="JetBrains Mono" pitchFamily="49" charset="-122"/>
                <a:cs typeface="JetBrains Mono" pitchFamily="49" charset="-120"/>
              </a:rPr>
              <a:t>hero</a:t>
            </a:r>
            <a:r>
              <a:rPr lang="en-US" sz="1200" dirty="0">
                <a:solidFill>
                  <a:srgbClr val="E3E8F1"/>
                </a:solidFill>
                <a:latin typeface="JetBrains Mono" pitchFamily="49" charset="0"/>
                <a:ea typeface="JetBrains Mono" pitchFamily="49" charset="-122"/>
                <a:cs typeface="JetBrains Mono" pitchFamily="49" charset="-120"/>
              </a:rPr>
              <a:t>"&gt;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&lt;img src="https://picsum.photos/160"</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alt="Photo of Asha"&gt;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&lt;div&gt;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&lt;h2&gt;Hi, I’m Asha&lt;/h2&gt;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&lt;p&gt;I build responsive websites.&lt;/p&gt;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&lt;a class="</a:t>
            </a:r>
            <a:r>
              <a:rPr lang="en-US" sz="1200" dirty="0">
                <a:solidFill>
                  <a:srgbClr val="F2994A"/>
                </a:solidFill>
                <a:latin typeface="JetBrains Mono" pitchFamily="49" charset="0"/>
                <a:ea typeface="JetBrains Mono" pitchFamily="49" charset="-122"/>
                <a:cs typeface="JetBrains Mono" pitchFamily="49" charset="-120"/>
              </a:rPr>
              <a:t>btn</a:t>
            </a:r>
            <a:r>
              <a:rPr lang="en-US" sz="1200" dirty="0">
                <a:solidFill>
                  <a:srgbClr val="E3E8F1"/>
                </a:solidFill>
                <a:latin typeface="JetBrains Mono" pitchFamily="49" charset="0"/>
                <a:ea typeface="JetBrains Mono" pitchFamily="49" charset="-122"/>
                <a:cs typeface="JetBrains Mono" pitchFamily="49" charset="-120"/>
              </a:rPr>
              <a:t>" href="#contact"&gt;Hire me&lt;/a&gt;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&lt;/div&gt;</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&lt;/section&gt;</a:t>
            </a:r>
            <a:endParaRPr lang="en-US" sz="1200" dirty="0"/>
          </a:p>
        </p:txBody>
      </p:sp>
      <p:sp>
        <p:nvSpPr>
          <p:cNvPr id="8" name="Text 6"/>
          <p:cNvSpPr/>
          <p:nvPr/>
        </p:nvSpPr>
        <p:spPr>
          <a:xfrm>
            <a:off x="1021609" y="4463306"/>
            <a:ext cx="6842890" cy="909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.hero</a:t>
            </a:r>
            <a:r>
              <a:rPr lang="en-US" sz="1200" dirty="0">
                <a:solidFill>
                  <a:srgbClr val="E3E8F1"/>
                </a:solidFill>
                <a:latin typeface="JetBrains Mono" pitchFamily="49" charset="0"/>
                <a:ea typeface="JetBrains Mono" pitchFamily="49" charset="-122"/>
                <a:cs typeface="JetBrains Mono" pitchFamily="49" charset="-120"/>
              </a:rPr>
              <a:t> { display:flex; flex-wrap:wrap;</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align-items:center; gap:24px; }</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.btn</a:t>
            </a:r>
            <a:r>
              <a:rPr lang="en-US" sz="1200" dirty="0">
                <a:solidFill>
                  <a:srgbClr val="E3E8F1"/>
                </a:solidFill>
                <a:latin typeface="JetBrains Mono" pitchFamily="49" charset="0"/>
                <a:ea typeface="JetBrains Mono" pitchFamily="49" charset="-122"/>
                <a:cs typeface="JetBrains Mono" pitchFamily="49" charset="-120"/>
              </a:rPr>
              <a:t> { background:#1e3a8a; color:white;</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padding:10px 18px; border-radius:6px; }</a:t>
            </a:r>
            <a:endParaRPr lang="en-US" sz="1200" dirty="0"/>
          </a:p>
        </p:txBody>
      </p:sp>
      <p:sp>
        <p:nvSpPr>
          <p:cNvPr id="9" name="Text 7"/>
          <p:cNvSpPr/>
          <p:nvPr/>
        </p:nvSpPr>
        <p:spPr>
          <a:xfrm>
            <a:off x="8077200" y="1899915"/>
            <a:ext cx="3401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4F0"/>
                </a:solidFill>
                <a:latin typeface="IBM Plex Sans" pitchFamily="34" charset="0"/>
                <a:ea typeface="IBM Plex Sans" pitchFamily="34" charset="-122"/>
                <a:cs typeface="IBM Plex Sans" pitchFamily="34" charset="-120"/>
              </a:rPr>
              <a:t>CHECKLIST</a:t>
            </a:r>
            <a:endParaRPr lang="en-US" sz="1200" dirty="0"/>
          </a:p>
        </p:txBody>
      </p:sp>
      <p:sp>
        <p:nvSpPr>
          <p:cNvPr id="10" name="Text 8"/>
          <p:cNvSpPr/>
          <p:nvPr/>
        </p:nvSpPr>
        <p:spPr>
          <a:xfrm>
            <a:off x="8077200" y="2202185"/>
            <a:ext cx="3302000" cy="417830"/>
          </a:xfrm>
          <a:prstGeom prst="roundRect">
            <a:avLst>
              <a:gd name="adj" fmla="val 15198"/>
            </a:avLst>
          </a:prstGeom>
          <a:solidFill>
            <a:srgbClr val="1E2840"/>
          </a:solidFill>
          <a:ln/>
        </p:spPr>
        <p:txBody>
          <a:bodyPr wrap="square" lIns="108401" tIns="70301" rIns="16961" bIns="44901" rtlCol="0" anchor="t">
            <a:normAutofit/>
          </a:bodyPr>
          <a:lstStyle/>
          <a:p>
            <a:pPr algn="l" indent="0" marL="0">
              <a:lnSpc>
                <a:spcPts val="1890"/>
              </a:lnSpc>
              <a:buNone/>
            </a:pPr>
            <a:r>
              <a:rPr lang="en-US" sz="1350" dirty="0">
                <a:solidFill>
                  <a:srgbClr val="F3F1EA"/>
                </a:solidFill>
                <a:latin typeface="IBM Plex Sans" pitchFamily="34" charset="0"/>
                <a:ea typeface="IBM Plex Sans" pitchFamily="34" charset="-122"/>
                <a:cs typeface="IBM Plex Sans" pitchFamily="34" charset="-120"/>
              </a:rPr>
              <a:t>1. Hero section → </a:t>
            </a:r>
            <a:r>
              <a:rPr lang="en-US" sz="1350" b="1" dirty="0">
                <a:solidFill>
                  <a:srgbClr val="F3F1EA"/>
                </a:solidFill>
                <a:latin typeface="IBM Plex Sans" pitchFamily="34" charset="0"/>
                <a:ea typeface="IBM Plex Sans" pitchFamily="34" charset="-122"/>
                <a:cs typeface="IBM Plex Sans" pitchFamily="34" charset="-120"/>
              </a:rPr>
              <a:t>commit</a:t>
            </a:r>
            <a:endParaRPr lang="en-US" sz="1350" dirty="0"/>
          </a:p>
        </p:txBody>
      </p:sp>
      <p:sp>
        <p:nvSpPr>
          <p:cNvPr id="11" name="Text 9"/>
          <p:cNvSpPr/>
          <p:nvPr/>
        </p:nvSpPr>
        <p:spPr>
          <a:xfrm>
            <a:off x="8077200" y="2708920"/>
            <a:ext cx="3302000" cy="417830"/>
          </a:xfrm>
          <a:prstGeom prst="roundRect">
            <a:avLst>
              <a:gd name="adj" fmla="val 15198"/>
            </a:avLst>
          </a:prstGeom>
          <a:solidFill>
            <a:srgbClr val="1E2840"/>
          </a:solidFill>
          <a:ln/>
        </p:spPr>
        <p:txBody>
          <a:bodyPr wrap="square" lIns="108401" tIns="70301" rIns="16961" bIns="44901" rtlCol="0" anchor="t">
            <a:normAutofit/>
          </a:bodyPr>
          <a:lstStyle/>
          <a:p>
            <a:pPr algn="l" indent="0" marL="0">
              <a:lnSpc>
                <a:spcPts val="1890"/>
              </a:lnSpc>
              <a:buNone/>
            </a:pPr>
            <a:r>
              <a:rPr lang="en-US" sz="1350" dirty="0">
                <a:solidFill>
                  <a:srgbClr val="F3F1EA"/>
                </a:solidFill>
                <a:latin typeface="IBM Plex Sans" pitchFamily="34" charset="0"/>
                <a:ea typeface="IBM Plex Sans" pitchFamily="34" charset="-122"/>
                <a:cs typeface="IBM Plex Sans" pitchFamily="34" charset="-120"/>
              </a:rPr>
              <a:t>2. Real project cards → </a:t>
            </a:r>
            <a:r>
              <a:rPr lang="en-US" sz="1350" b="1" dirty="0">
                <a:solidFill>
                  <a:srgbClr val="F3F1EA"/>
                </a:solidFill>
                <a:latin typeface="IBM Plex Sans" pitchFamily="34" charset="0"/>
                <a:ea typeface="IBM Plex Sans" pitchFamily="34" charset="-122"/>
                <a:cs typeface="IBM Plex Sans" pitchFamily="34" charset="-120"/>
              </a:rPr>
              <a:t>commit</a:t>
            </a:r>
            <a:endParaRPr lang="en-US" sz="1350" dirty="0"/>
          </a:p>
        </p:txBody>
      </p:sp>
      <p:sp>
        <p:nvSpPr>
          <p:cNvPr id="12" name="Text 10"/>
          <p:cNvSpPr/>
          <p:nvPr/>
        </p:nvSpPr>
        <p:spPr>
          <a:xfrm>
            <a:off x="8077200" y="3215630"/>
            <a:ext cx="3302000" cy="417830"/>
          </a:xfrm>
          <a:prstGeom prst="roundRect">
            <a:avLst>
              <a:gd name="adj" fmla="val 15198"/>
            </a:avLst>
          </a:prstGeom>
          <a:solidFill>
            <a:srgbClr val="1E2840"/>
          </a:solidFill>
          <a:ln/>
        </p:spPr>
        <p:txBody>
          <a:bodyPr wrap="square" lIns="108401" tIns="70301" rIns="16961" bIns="44901" rtlCol="0" anchor="t">
            <a:normAutofit/>
          </a:bodyPr>
          <a:lstStyle/>
          <a:p>
            <a:pPr algn="l" indent="0" marL="0">
              <a:lnSpc>
                <a:spcPts val="1890"/>
              </a:lnSpc>
              <a:buNone/>
            </a:pPr>
            <a:r>
              <a:rPr lang="en-US" sz="1350" dirty="0">
                <a:solidFill>
                  <a:srgbClr val="F3F1EA"/>
                </a:solidFill>
                <a:latin typeface="IBM Plex Sans" pitchFamily="34" charset="0"/>
                <a:ea typeface="IBM Plex Sans" pitchFamily="34" charset="-122"/>
                <a:cs typeface="IBM Plex Sans" pitchFamily="34" charset="-120"/>
              </a:rPr>
              <a:t>3. Footer with links → </a:t>
            </a:r>
            <a:r>
              <a:rPr lang="en-US" sz="1350" b="1" dirty="0">
                <a:solidFill>
                  <a:srgbClr val="F3F1EA"/>
                </a:solidFill>
                <a:latin typeface="IBM Plex Sans" pitchFamily="34" charset="0"/>
                <a:ea typeface="IBM Plex Sans" pitchFamily="34" charset="-122"/>
                <a:cs typeface="IBM Plex Sans" pitchFamily="34" charset="-120"/>
              </a:rPr>
              <a:t>commit</a:t>
            </a:r>
            <a:endParaRPr lang="en-US" sz="1350" dirty="0"/>
          </a:p>
        </p:txBody>
      </p:sp>
      <p:sp>
        <p:nvSpPr>
          <p:cNvPr id="13" name="Text 11"/>
          <p:cNvSpPr/>
          <p:nvPr/>
        </p:nvSpPr>
        <p:spPr>
          <a:xfrm>
            <a:off x="8077200" y="3722365"/>
            <a:ext cx="3302000" cy="417830"/>
          </a:xfrm>
          <a:prstGeom prst="roundRect">
            <a:avLst>
              <a:gd name="adj" fmla="val 15198"/>
            </a:avLst>
          </a:prstGeom>
          <a:solidFill>
            <a:srgbClr val="1E2840"/>
          </a:solidFill>
          <a:ln/>
        </p:spPr>
        <p:txBody>
          <a:bodyPr wrap="square" lIns="108401" tIns="70301" rIns="16961" bIns="44901" rtlCol="0" anchor="t">
            <a:normAutofit/>
          </a:bodyPr>
          <a:lstStyle/>
          <a:p>
            <a:pPr algn="l" indent="0" marL="0">
              <a:lnSpc>
                <a:spcPts val="1890"/>
              </a:lnSpc>
              <a:buNone/>
            </a:pPr>
            <a:r>
              <a:rPr lang="en-US" sz="1350" dirty="0">
                <a:solidFill>
                  <a:srgbClr val="F3F1EA"/>
                </a:solidFill>
                <a:latin typeface="IBM Plex Sans" pitchFamily="34" charset="0"/>
                <a:ea typeface="IBM Plex Sans" pitchFamily="34" charset="-122"/>
                <a:cs typeface="IBM Plex Sans" pitchFamily="34" charset="-120"/>
              </a:rPr>
              <a:t>4. Your own colours → </a:t>
            </a:r>
            <a:r>
              <a:rPr lang="en-US" sz="1350" b="1" dirty="0">
                <a:solidFill>
                  <a:srgbClr val="F3F1EA"/>
                </a:solidFill>
                <a:latin typeface="IBM Plex Sans" pitchFamily="34" charset="0"/>
                <a:ea typeface="IBM Plex Sans" pitchFamily="34" charset="-122"/>
                <a:cs typeface="IBM Plex Sans" pitchFamily="34" charset="-120"/>
              </a:rPr>
              <a:t>commit</a:t>
            </a:r>
            <a:endParaRPr lang="en-US" sz="1350" dirty="0"/>
          </a:p>
        </p:txBody>
      </p:sp>
      <p:sp>
        <p:nvSpPr>
          <p:cNvPr id="14" name="Text 12"/>
          <p:cNvSpPr/>
          <p:nvPr/>
        </p:nvSpPr>
        <p:spPr>
          <a:xfrm>
            <a:off x="8077200" y="4229100"/>
            <a:ext cx="340106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2D3"/>
                </a:solidFill>
                <a:latin typeface="IBM Plex Sans" pitchFamily="34" charset="0"/>
                <a:ea typeface="IBM Plex Sans" pitchFamily="34" charset="-122"/>
                <a:cs typeface="IBM Plex Sans" pitchFamily="34" charset="-120"/>
              </a:rPr>
              <a:t>Driver types. Navigator reads the slide, spots typos, checks git status.</a:t>
            </a:r>
            <a:endParaRPr lang="en-US" sz="1200" dirty="0"/>
          </a:p>
        </p:txBody>
      </p:sp>
      <p:sp>
        <p:nvSpPr>
          <p:cNvPr id="15" name="Text 13"/>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Each student works on their own repo; the pair helps each other. Break at 2:55.</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01476" cy="289560"/>
          </a:xfrm>
          <a:custGeom>
            <a:avLst/>
            <a:gdLst/>
            <a:ahLst/>
            <a:cxnLst/>
            <a:rect l="l" t="t" r="r" b="b"/>
            <a:pathLst>
              <a:path w="801476" h="289560">
                <a:moveTo>
                  <a:pt x="144780" y="0"/>
                </a:moveTo>
                <a:lnTo>
                  <a:pt x="656696" y="0"/>
                </a:lnTo>
                <a:arcTo hR="144780" wR="144780" stAng="16200000" swAng="5400000"/>
                <a:lnTo>
                  <a:pt x="80147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LEARN</a:t>
            </a:r>
            <a:endParaRPr lang="en-US" sz="1200" dirty="0"/>
          </a:p>
        </p:txBody>
      </p:sp>
      <p:sp>
        <p:nvSpPr>
          <p:cNvPr id="3" name="Text 1"/>
          <p:cNvSpPr/>
          <p:nvPr/>
        </p:nvSpPr>
        <p:spPr>
          <a:xfrm>
            <a:off x="1741276" y="850900"/>
            <a:ext cx="25833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3:05 PM · Branches and merge</a:t>
            </a:r>
            <a:endParaRPr lang="en-US" sz="1200" dirty="0"/>
          </a:p>
        </p:txBody>
      </p:sp>
      <p:sp>
        <p:nvSpPr>
          <p:cNvPr id="4" name="Text 2"/>
          <p:cNvSpPr/>
          <p:nvPr>
            <p:ph type="title"/>
          </p:nvPr>
        </p:nvSpPr>
        <p:spPr>
          <a:xfrm>
            <a:off x="812800" y="13055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A branch is a parallel universe for risky ideas</a:t>
            </a:r>
            <a:endParaRPr lang="en-US" sz="3000" dirty="0"/>
          </a:p>
        </p:txBody>
      </p:sp>
      <p:pic>
        <p:nvPicPr>
          <p:cNvPr id="5" name="Image 0" descr="connector">    </p:cNvPr>
          <p:cNvPicPr>
            <a:picLocks noChangeAspect="1"/>
          </p:cNvPicPr>
          <p:nvPr/>
        </p:nvPicPr>
        <p:blipFill>
          <a:blip r:embed="rId1"/>
          <a:srcRect l="0" r="0" t="0" b="0"/>
          <a:stretch/>
        </p:blipFill>
        <p:spPr>
          <a:xfrm>
            <a:off x="1174750" y="3714750"/>
            <a:ext cx="9842500" cy="190500"/>
          </a:xfrm>
          <a:prstGeom prst="rect">
            <a:avLst/>
          </a:prstGeom>
        </p:spPr>
      </p:pic>
      <p:pic>
        <p:nvPicPr>
          <p:cNvPr id="6" name="Image 1" descr="connector">    </p:cNvPr>
          <p:cNvPicPr>
            <a:picLocks noChangeAspect="1"/>
          </p:cNvPicPr>
          <p:nvPr/>
        </p:nvPicPr>
        <p:blipFill>
          <a:blip r:embed="rId2"/>
          <a:srcRect l="0" r="0" t="0" b="0"/>
          <a:stretch/>
        </p:blipFill>
        <p:spPr>
          <a:xfrm>
            <a:off x="3841750" y="2698750"/>
            <a:ext cx="1460500" cy="1206500"/>
          </a:xfrm>
          <a:prstGeom prst="rect">
            <a:avLst/>
          </a:prstGeom>
        </p:spPr>
      </p:pic>
      <p:pic>
        <p:nvPicPr>
          <p:cNvPr id="7" name="Image 2" descr="connector">    </p:cNvPr>
          <p:cNvPicPr>
            <a:picLocks noChangeAspect="1"/>
          </p:cNvPicPr>
          <p:nvPr/>
        </p:nvPicPr>
        <p:blipFill>
          <a:blip r:embed="rId3"/>
          <a:srcRect l="0" r="0" t="0" b="0"/>
          <a:stretch/>
        </p:blipFill>
        <p:spPr>
          <a:xfrm>
            <a:off x="5111750" y="2698750"/>
            <a:ext cx="2730500" cy="190500"/>
          </a:xfrm>
          <a:prstGeom prst="rect">
            <a:avLst/>
          </a:prstGeom>
        </p:spPr>
      </p:pic>
      <p:pic>
        <p:nvPicPr>
          <p:cNvPr id="8" name="Image 3" descr="connector">    </p:cNvPr>
          <p:cNvPicPr>
            <a:picLocks noChangeAspect="1"/>
          </p:cNvPicPr>
          <p:nvPr/>
        </p:nvPicPr>
        <p:blipFill>
          <a:blip r:embed="rId4"/>
          <a:srcRect l="0" r="0" t="0" b="0"/>
          <a:stretch/>
        </p:blipFill>
        <p:spPr>
          <a:xfrm>
            <a:off x="7651750" y="2698750"/>
            <a:ext cx="1460500" cy="1206500"/>
          </a:xfrm>
          <a:prstGeom prst="rect">
            <a:avLst/>
          </a:prstGeom>
        </p:spPr>
      </p:pic>
      <p:pic>
        <p:nvPicPr>
          <p:cNvPr id="9" name="Image 4" descr="ellipse">    </p:cNvPr>
          <p:cNvPicPr>
            <a:picLocks noChangeAspect="1"/>
          </p:cNvPicPr>
          <p:nvPr/>
        </p:nvPicPr>
        <p:blipFill>
          <a:blip r:embed="rId5"/>
          <a:srcRect l="0" r="0" t="0" b="0"/>
          <a:stretch/>
        </p:blipFill>
        <p:spPr>
          <a:xfrm>
            <a:off x="1778000" y="3657600"/>
            <a:ext cx="304800" cy="304800"/>
          </a:xfrm>
          <a:prstGeom prst="rect">
            <a:avLst/>
          </a:prstGeom>
        </p:spPr>
      </p:pic>
      <p:pic>
        <p:nvPicPr>
          <p:cNvPr id="10" name="Image 5" descr="ellipse">    </p:cNvPr>
          <p:cNvPicPr>
            <a:picLocks noChangeAspect="1"/>
          </p:cNvPicPr>
          <p:nvPr/>
        </p:nvPicPr>
        <p:blipFill>
          <a:blip r:embed="rId6"/>
          <a:srcRect l="0" r="0" t="0" b="0"/>
          <a:stretch/>
        </p:blipFill>
        <p:spPr>
          <a:xfrm>
            <a:off x="3784600" y="3657600"/>
            <a:ext cx="304800" cy="304800"/>
          </a:xfrm>
          <a:prstGeom prst="rect">
            <a:avLst/>
          </a:prstGeom>
        </p:spPr>
      </p:pic>
      <p:pic>
        <p:nvPicPr>
          <p:cNvPr id="11" name="Image 6" descr="ellipse">    </p:cNvPr>
          <p:cNvPicPr>
            <a:picLocks noChangeAspect="1"/>
          </p:cNvPicPr>
          <p:nvPr/>
        </p:nvPicPr>
        <p:blipFill>
          <a:blip r:embed="rId7"/>
          <a:srcRect l="0" r="0" t="0" b="0"/>
          <a:stretch/>
        </p:blipFill>
        <p:spPr>
          <a:xfrm>
            <a:off x="5816600" y="2641600"/>
            <a:ext cx="304800" cy="304800"/>
          </a:xfrm>
          <a:prstGeom prst="rect">
            <a:avLst/>
          </a:prstGeom>
        </p:spPr>
      </p:pic>
      <p:pic>
        <p:nvPicPr>
          <p:cNvPr id="12" name="Image 7" descr="ellipse">    </p:cNvPr>
          <p:cNvPicPr>
            <a:picLocks noChangeAspect="1"/>
          </p:cNvPicPr>
          <p:nvPr/>
        </p:nvPicPr>
        <p:blipFill>
          <a:blip r:embed="rId8"/>
          <a:srcRect l="0" r="0" t="0" b="0"/>
          <a:stretch/>
        </p:blipFill>
        <p:spPr>
          <a:xfrm>
            <a:off x="7086600" y="2641600"/>
            <a:ext cx="304800" cy="304800"/>
          </a:xfrm>
          <a:prstGeom prst="rect">
            <a:avLst/>
          </a:prstGeom>
        </p:spPr>
      </p:pic>
      <p:pic>
        <p:nvPicPr>
          <p:cNvPr id="13" name="Image 8" descr="ellipse">    </p:cNvPr>
          <p:cNvPicPr>
            <a:picLocks noChangeAspect="1"/>
          </p:cNvPicPr>
          <p:nvPr/>
        </p:nvPicPr>
        <p:blipFill>
          <a:blip r:embed="rId9"/>
          <a:srcRect l="0" r="0" t="0" b="0"/>
          <a:stretch/>
        </p:blipFill>
        <p:spPr>
          <a:xfrm>
            <a:off x="8864600" y="3606800"/>
            <a:ext cx="406400" cy="406400"/>
          </a:xfrm>
          <a:prstGeom prst="rect">
            <a:avLst/>
          </a:prstGeom>
        </p:spPr>
      </p:pic>
      <p:sp>
        <p:nvSpPr>
          <p:cNvPr id="14" name="Text 3"/>
          <p:cNvSpPr/>
          <p:nvPr/>
        </p:nvSpPr>
        <p:spPr>
          <a:xfrm>
            <a:off x="1244600" y="4064000"/>
            <a:ext cx="1447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A2236"/>
                </a:solidFill>
                <a:latin typeface="IBM Plex Sans" pitchFamily="34" charset="0"/>
                <a:ea typeface="IBM Plex Sans" pitchFamily="34" charset="-122"/>
                <a:cs typeface="IBM Plex Sans" pitchFamily="34" charset="-120"/>
              </a:rPr>
              <a:t>Commit 1</a:t>
            </a:r>
            <a:endParaRPr lang="en-US" sz="1200" dirty="0"/>
          </a:p>
        </p:txBody>
      </p:sp>
      <p:sp>
        <p:nvSpPr>
          <p:cNvPr id="15" name="Text 4"/>
          <p:cNvSpPr/>
          <p:nvPr/>
        </p:nvSpPr>
        <p:spPr>
          <a:xfrm>
            <a:off x="3276600" y="4064000"/>
            <a:ext cx="1447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A2236"/>
                </a:solidFill>
                <a:latin typeface="IBM Plex Sans" pitchFamily="34" charset="0"/>
                <a:ea typeface="IBM Plex Sans" pitchFamily="34" charset="-122"/>
                <a:cs typeface="IBM Plex Sans" pitchFamily="34" charset="-120"/>
              </a:rPr>
              <a:t>Commit 2</a:t>
            </a:r>
            <a:endParaRPr lang="en-US" sz="1200" dirty="0"/>
          </a:p>
        </p:txBody>
      </p:sp>
      <p:sp>
        <p:nvSpPr>
          <p:cNvPr id="16" name="Text 5"/>
          <p:cNvSpPr/>
          <p:nvPr/>
        </p:nvSpPr>
        <p:spPr>
          <a:xfrm>
            <a:off x="5165090" y="2286000"/>
            <a:ext cx="287782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B4531A"/>
                </a:solidFill>
                <a:latin typeface="IBM Plex Sans" pitchFamily="34" charset="0"/>
                <a:ea typeface="IBM Plex Sans" pitchFamily="34" charset="-122"/>
                <a:cs typeface="IBM Plex Sans" pitchFamily="34" charset="-120"/>
              </a:rPr>
              <a:t>feature-dark-theme</a:t>
            </a:r>
            <a:endParaRPr lang="en-US" sz="1300" dirty="0"/>
          </a:p>
        </p:txBody>
      </p:sp>
      <p:sp>
        <p:nvSpPr>
          <p:cNvPr id="17" name="Text 6"/>
          <p:cNvSpPr/>
          <p:nvPr/>
        </p:nvSpPr>
        <p:spPr>
          <a:xfrm>
            <a:off x="8343900" y="4127500"/>
            <a:ext cx="14478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Merge</a:t>
            </a:r>
            <a:endParaRPr lang="en-US" sz="1300" dirty="0"/>
          </a:p>
        </p:txBody>
      </p:sp>
      <p:sp>
        <p:nvSpPr>
          <p:cNvPr id="18" name="Text 7"/>
          <p:cNvSpPr/>
          <p:nvPr/>
        </p:nvSpPr>
        <p:spPr>
          <a:xfrm>
            <a:off x="9906000" y="3467100"/>
            <a:ext cx="1320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FA8"/>
                </a:solidFill>
                <a:latin typeface="IBM Plex Sans" pitchFamily="34" charset="0"/>
                <a:ea typeface="IBM Plex Sans" pitchFamily="34" charset="-122"/>
                <a:cs typeface="IBM Plex Sans" pitchFamily="34" charset="-120"/>
              </a:rPr>
              <a:t>main</a:t>
            </a:r>
            <a:endParaRPr lang="en-US" sz="1300" dirty="0"/>
          </a:p>
        </p:txBody>
      </p:sp>
      <p:sp>
        <p:nvSpPr>
          <p:cNvPr id="19" name="Text 8"/>
          <p:cNvSpPr/>
          <p:nvPr/>
        </p:nvSpPr>
        <p:spPr>
          <a:xfrm>
            <a:off x="812800" y="4699000"/>
            <a:ext cx="3420533" cy="434340"/>
          </a:xfrm>
          <a:prstGeom prst="roundRect">
            <a:avLst>
              <a:gd name="adj" fmla="val 17544"/>
            </a:avLst>
          </a:prstGeom>
          <a:solidFill>
            <a:srgbClr val="E3E9F5"/>
          </a:solidFill>
          <a:ln/>
        </p:spPr>
        <p:txBody>
          <a:bodyPr wrap="square" lIns="130082" tIns="79282" rIns="36610" bIns="53882" rtlCol="0" anchor="t">
            <a:normAutofit/>
          </a:bodyPr>
          <a:lstStyle/>
          <a:p>
            <a:pPr algn="l"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branch</a:t>
            </a:r>
            <a:r>
              <a:rPr lang="en-US" sz="1300" dirty="0">
                <a:solidFill>
                  <a:srgbClr val="1A2236"/>
                </a:solidFill>
                <a:latin typeface="IBM Plex Sans" pitchFamily="34" charset="0"/>
                <a:ea typeface="IBM Plex Sans" pitchFamily="34" charset="-122"/>
                <a:cs typeface="IBM Plex Sans" pitchFamily="34" charset="-120"/>
              </a:rPr>
              <a:t>: start a new line of work</a:t>
            </a:r>
            <a:endParaRPr lang="en-US" sz="1300" dirty="0"/>
          </a:p>
        </p:txBody>
      </p:sp>
      <p:sp>
        <p:nvSpPr>
          <p:cNvPr id="20" name="Text 9"/>
          <p:cNvSpPr/>
          <p:nvPr/>
        </p:nvSpPr>
        <p:spPr>
          <a:xfrm>
            <a:off x="4385733" y="4699000"/>
            <a:ext cx="3420533" cy="434340"/>
          </a:xfrm>
          <a:prstGeom prst="roundRect">
            <a:avLst>
              <a:gd name="adj" fmla="val 17544"/>
            </a:avLst>
          </a:prstGeom>
          <a:solidFill>
            <a:srgbClr val="FBEDE3"/>
          </a:solidFill>
          <a:ln/>
        </p:spPr>
        <p:txBody>
          <a:bodyPr wrap="square" lIns="130082" tIns="79282" rIns="36610" bIns="53882" rtlCol="0" anchor="t">
            <a:normAutofit/>
          </a:bodyPr>
          <a:lstStyle/>
          <a:p>
            <a:pPr algn="l"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checkout</a:t>
            </a:r>
            <a:r>
              <a:rPr lang="en-US" sz="1300" dirty="0">
                <a:solidFill>
                  <a:srgbClr val="1A2236"/>
                </a:solidFill>
                <a:latin typeface="IBM Plex Sans" pitchFamily="34" charset="0"/>
                <a:ea typeface="IBM Plex Sans" pitchFamily="34" charset="-122"/>
                <a:cs typeface="IBM Plex Sans" pitchFamily="34" charset="-120"/>
              </a:rPr>
              <a:t>: jump between universes</a:t>
            </a:r>
            <a:endParaRPr lang="en-US" sz="1300" dirty="0"/>
          </a:p>
        </p:txBody>
      </p:sp>
      <p:sp>
        <p:nvSpPr>
          <p:cNvPr id="21" name="Text 10"/>
          <p:cNvSpPr/>
          <p:nvPr/>
        </p:nvSpPr>
        <p:spPr>
          <a:xfrm>
            <a:off x="7958667" y="4699000"/>
            <a:ext cx="3420533" cy="434340"/>
          </a:xfrm>
          <a:prstGeom prst="roundRect">
            <a:avLst>
              <a:gd name="adj" fmla="val 17544"/>
            </a:avLst>
          </a:prstGeom>
          <a:solidFill>
            <a:srgbClr val="E4F2E6"/>
          </a:solidFill>
          <a:ln/>
        </p:spPr>
        <p:txBody>
          <a:bodyPr wrap="square" lIns="130082" tIns="79282" rIns="36610" bIns="53882" rtlCol="0" anchor="t">
            <a:normAutofit/>
          </a:bodyPr>
          <a:lstStyle/>
          <a:p>
            <a:pPr algn="l"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merge</a:t>
            </a:r>
            <a:r>
              <a:rPr lang="en-US" sz="1300" dirty="0">
                <a:solidFill>
                  <a:srgbClr val="1A2236"/>
                </a:solidFill>
                <a:latin typeface="IBM Plex Sans" pitchFamily="34" charset="0"/>
                <a:ea typeface="IBM Plex Sans" pitchFamily="34" charset="-122"/>
                <a:cs typeface="IBM Plex Sans" pitchFamily="34" charset="-120"/>
              </a:rPr>
              <a:t>: bring the good idea home</a:t>
            </a:r>
            <a:endParaRPr lang="en-US" sz="1300" dirty="0"/>
          </a:p>
        </p:txBody>
      </p:sp>
      <p:sp>
        <p:nvSpPr>
          <p:cNvPr id="22" name="Text 11"/>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p.18 · Section 12.3 · main stays safe while you experiment</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2778760" cy="289560"/>
          </a:xfrm>
          <a:custGeom>
            <a:avLst/>
            <a:gdLst/>
            <a:ahLst/>
            <a:cxnLst/>
            <a:rect l="l" t="t" r="r" b="b"/>
            <a:pathLst>
              <a:path w="2778760" h="289560">
                <a:moveTo>
                  <a:pt x="144780" y="0"/>
                </a:moveTo>
                <a:lnTo>
                  <a:pt x="2633980" y="0"/>
                </a:lnTo>
                <a:arcTo hR="144780" wR="144780" stAng="16200000" swAng="5400000"/>
                <a:lnTo>
                  <a:pt x="2778760"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 · GIT 4 · COMMIT 3</a:t>
            </a:r>
            <a:endParaRPr lang="en-US" sz="1200" dirty="0"/>
          </a:p>
        </p:txBody>
      </p:sp>
      <p:sp>
        <p:nvSpPr>
          <p:cNvPr id="3" name="Text 1"/>
          <p:cNvSpPr/>
          <p:nvPr/>
        </p:nvSpPr>
        <p:spPr>
          <a:xfrm>
            <a:off x="3718560" y="850900"/>
            <a:ext cx="30581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3:12 PM · 15 min · The vanishing act</a:t>
            </a:r>
            <a:endParaRPr lang="en-US" sz="1200" dirty="0"/>
          </a:p>
        </p:txBody>
      </p:sp>
      <p:sp>
        <p:nvSpPr>
          <p:cNvPr id="4" name="Text 2"/>
          <p:cNvSpPr/>
          <p:nvPr>
            <p:ph type="title"/>
          </p:nvPr>
        </p:nvSpPr>
        <p:spPr>
          <a:xfrm>
            <a:off x="812800" y="13055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1EA"/>
                </a:solidFill>
                <a:latin typeface="Space Grotesk" pitchFamily="34" charset="0"/>
                <a:ea typeface="Space Grotesk" pitchFamily="34" charset="-122"/>
                <a:cs typeface="Space Grotesk" pitchFamily="34" charset="-120"/>
              </a:rPr>
              <a:t>Make a dark theme in a parallel universe</a:t>
            </a:r>
            <a:endParaRPr lang="en-US" sz="2800" dirty="0"/>
          </a:p>
        </p:txBody>
      </p:sp>
      <p:sp>
        <p:nvSpPr>
          <p:cNvPr id="5" name="Text 3"/>
          <p:cNvSpPr/>
          <p:nvPr/>
        </p:nvSpPr>
        <p:spPr>
          <a:xfrm>
            <a:off x="815975" y="1903090"/>
            <a:ext cx="6927850" cy="3504988"/>
          </a:xfrm>
          <a:prstGeom prst="roundRect">
            <a:avLst>
              <a:gd name="adj" fmla="val 2808"/>
            </a:avLst>
          </a:prstGeom>
          <a:solidFill>
            <a:srgbClr val="0D1220"/>
          </a:solidFill>
          <a:ln w="6350">
            <a:solidFill>
              <a:srgbClr val="2A3550"/>
            </a:solidFill>
            <a:prstDash val="solid"/>
          </a:ln>
        </p:spPr>
        <p:txBody>
          <a:bodyPr wrap="square" lIns="202206" tIns="176806" rIns="8233" bIns="151406" rtlCol="0" anchor="t">
            <a:normAutofit/>
          </a:bodyPr>
          <a:lstStyle/>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branch feature-dark-theme</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branch</a:t>
            </a:r>
            <a:endParaRPr lang="en-US" sz="1200" dirty="0"/>
          </a:p>
          <a:p>
            <a:pPr algn="l" indent="0" marL="0">
              <a:lnSpc>
                <a:spcPts val="1740"/>
              </a:lnSpc>
              <a:buNone/>
            </a:pPr>
            <a:r>
              <a:rPr lang="en-US" sz="1200" dirty="0">
                <a:solidFill>
                  <a:srgbClr val="7FD1A1"/>
                </a:solidFill>
                <a:latin typeface="JetBrains Mono" pitchFamily="49" charset="0"/>
                <a:ea typeface="JetBrains Mono" pitchFamily="49" charset="-122"/>
                <a:cs typeface="JetBrains Mono" pitchFamily="49" charset="-120"/>
              </a:rPr>
              <a:t>* main</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feature-dark-theme</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checkout feature-dark-theme</a:t>
            </a:r>
            <a:endParaRPr lang="en-US" sz="1200" dirty="0"/>
          </a:p>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Switched to branch 'feature-dark-theme'</a:t>
            </a:r>
            <a:endParaRPr lang="en-US" sz="1200" dirty="0"/>
          </a:p>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 add the CSS on the right, save</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add .</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commit -m "Add dark colour theme"</a:t>
            </a:r>
            <a:endParaRPr lang="en-US" sz="1200" dirty="0"/>
          </a:p>
          <a:p>
            <a:pPr algn="l" indent="0" marL="0">
              <a:lnSpc>
                <a:spcPts val="1740"/>
              </a:lnSpc>
              <a:buNone/>
            </a:pP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checkout main</a:t>
            </a:r>
            <a:endParaRPr lang="en-US" sz="1200" dirty="0"/>
          </a:p>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 refresh the browser… it’s GONE!</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checkout feature-dark-theme</a:t>
            </a:r>
            <a:endParaRPr lang="en-US" sz="1200" dirty="0"/>
          </a:p>
          <a:p>
            <a:pPr algn="l" indent="0" marL="0">
              <a:lnSpc>
                <a:spcPts val="1740"/>
              </a:lnSpc>
              <a:buNone/>
            </a:pPr>
            <a:r>
              <a:rPr lang="en-US" sz="1200" dirty="0">
                <a:solidFill>
                  <a:srgbClr val="7F8BA3"/>
                </a:solidFill>
                <a:latin typeface="JetBrains Mono" pitchFamily="49" charset="0"/>
                <a:ea typeface="JetBrains Mono" pitchFamily="49" charset="-122"/>
                <a:cs typeface="JetBrains Mono" pitchFamily="49" charset="-120"/>
              </a:rPr>
              <a:t># refresh again… it’s BACK!</a:t>
            </a:r>
            <a:endParaRPr lang="en-US" sz="1200" dirty="0"/>
          </a:p>
        </p:txBody>
      </p:sp>
      <p:sp>
        <p:nvSpPr>
          <p:cNvPr id="6" name="Text 4"/>
          <p:cNvSpPr/>
          <p:nvPr/>
        </p:nvSpPr>
        <p:spPr>
          <a:xfrm>
            <a:off x="7950200" y="1899915"/>
            <a:ext cx="353187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4F0"/>
                </a:solidFill>
                <a:latin typeface="IBM Plex Sans" pitchFamily="34" charset="0"/>
                <a:ea typeface="IBM Plex Sans" pitchFamily="34" charset="-122"/>
                <a:cs typeface="IBM Plex Sans" pitchFamily="34" charset="-120"/>
              </a:rPr>
              <a:t>ADD TO style.css (on the branch)</a:t>
            </a:r>
            <a:endParaRPr lang="en-US" sz="1200" dirty="0"/>
          </a:p>
        </p:txBody>
      </p:sp>
      <p:sp>
        <p:nvSpPr>
          <p:cNvPr id="7" name="Text 5"/>
          <p:cNvSpPr/>
          <p:nvPr/>
        </p:nvSpPr>
        <p:spPr>
          <a:xfrm>
            <a:off x="7953375" y="2218060"/>
            <a:ext cx="3422650" cy="1414568"/>
          </a:xfrm>
          <a:prstGeom prst="roundRect">
            <a:avLst>
              <a:gd name="adj" fmla="val 5162"/>
            </a:avLst>
          </a:prstGeom>
          <a:solidFill>
            <a:srgbClr val="0D1220"/>
          </a:solidFill>
          <a:ln w="6350">
            <a:solidFill>
              <a:srgbClr val="2A3550"/>
            </a:solidFill>
            <a:prstDash val="solid"/>
          </a:ln>
        </p:spPr>
        <p:txBody>
          <a:bodyPr wrap="square" lIns="133446" tIns="133446" rIns="40056" bIns="108046" rtlCol="0" anchor="t">
            <a:normAutofit/>
          </a:bodyPr>
          <a:lstStyle/>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body</a:t>
            </a:r>
            <a:r>
              <a:rPr lang="en-US" sz="1200" dirty="0">
                <a:solidFill>
                  <a:srgbClr val="E3E8F1"/>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background: #111827;</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  color: #e5e7eb;</a:t>
            </a:r>
            <a:endParaRPr lang="en-US" sz="1200" dirty="0"/>
          </a:p>
          <a:p>
            <a:pPr algn="l" indent="0" marL="0">
              <a:lnSpc>
                <a:spcPts val="1740"/>
              </a:lnSpc>
              <a:buNone/>
            </a:pPr>
            <a:r>
              <a:rPr lang="en-US" sz="1200" dirty="0">
                <a:solidFill>
                  <a:srgbClr val="E3E8F1"/>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.card</a:t>
            </a:r>
            <a:r>
              <a:rPr lang="en-US" sz="1200" dirty="0">
                <a:solidFill>
                  <a:srgbClr val="E3E8F1"/>
                </a:solidFill>
                <a:latin typeface="JetBrains Mono" pitchFamily="49" charset="0"/>
                <a:ea typeface="JetBrains Mono" pitchFamily="49" charset="-122"/>
                <a:cs typeface="JetBrains Mono" pitchFamily="49" charset="-120"/>
              </a:rPr>
              <a:t> { border-color: #374151; }</a:t>
            </a:r>
            <a:endParaRPr lang="en-US" sz="1200" dirty="0"/>
          </a:p>
        </p:txBody>
      </p:sp>
      <p:sp>
        <p:nvSpPr>
          <p:cNvPr id="8" name="Text 6"/>
          <p:cNvSpPr/>
          <p:nvPr/>
        </p:nvSpPr>
        <p:spPr>
          <a:xfrm>
            <a:off x="7950200" y="3737397"/>
            <a:ext cx="3429000" cy="665480"/>
          </a:xfrm>
          <a:prstGeom prst="roundRect">
            <a:avLst>
              <a:gd name="adj" fmla="val 11450"/>
            </a:avLst>
          </a:prstGeom>
          <a:solidFill>
            <a:srgbClr val="F2994A"/>
          </a:solidFill>
          <a:ln/>
        </p:spPr>
        <p:txBody>
          <a:bodyPr wrap="square" lIns="130082" tIns="79282" rIns="36356" bIns="53882"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Same folder, same file, different universe. Git swaps the files for you.</a:t>
            </a:r>
            <a:endParaRPr lang="en-US" sz="1300" dirty="0"/>
          </a:p>
        </p:txBody>
      </p:sp>
      <p:sp>
        <p:nvSpPr>
          <p:cNvPr id="9" name="Text 7"/>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Newer Git: git switch -c feature-dark-theme does branch + checkout in one step</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1780858" cy="289560"/>
          </a:xfrm>
          <a:custGeom>
            <a:avLst/>
            <a:gdLst/>
            <a:ahLst/>
            <a:cxnLst/>
            <a:rect l="l" t="t" r="r" b="b"/>
            <a:pathLst>
              <a:path w="1780858" h="289560">
                <a:moveTo>
                  <a:pt x="144780" y="0"/>
                </a:moveTo>
                <a:lnTo>
                  <a:pt x="1636078" y="0"/>
                </a:lnTo>
                <a:arcTo hR="144780" wR="144780" stAng="16200000" swAng="5400000"/>
                <a:lnTo>
                  <a:pt x="1780858"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DO IT NOW · GIT 5</a:t>
            </a:r>
            <a:endParaRPr lang="en-US" sz="1200" dirty="0"/>
          </a:p>
        </p:txBody>
      </p:sp>
      <p:sp>
        <p:nvSpPr>
          <p:cNvPr id="3" name="Text 1"/>
          <p:cNvSpPr/>
          <p:nvPr/>
        </p:nvSpPr>
        <p:spPr>
          <a:xfrm>
            <a:off x="2720658" y="850900"/>
            <a:ext cx="26019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3:27 PM · 8 min · Bring it home</a:t>
            </a:r>
            <a:endParaRPr lang="en-US" sz="1200" dirty="0"/>
          </a:p>
        </p:txBody>
      </p:sp>
      <p:sp>
        <p:nvSpPr>
          <p:cNvPr id="4" name="Text 2"/>
          <p:cNvSpPr/>
          <p:nvPr>
            <p:ph type="title"/>
          </p:nvPr>
        </p:nvSpPr>
        <p:spPr>
          <a:xfrm>
            <a:off x="812800" y="13055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1EA"/>
                </a:solidFill>
                <a:latin typeface="Space Grotesk" pitchFamily="34" charset="0"/>
                <a:ea typeface="Space Grotesk" pitchFamily="34" charset="-122"/>
                <a:cs typeface="Space Grotesk" pitchFamily="34" charset="-120"/>
              </a:rPr>
              <a:t>Like the dark theme? Merge it into main.</a:t>
            </a:r>
            <a:endParaRPr lang="en-US" sz="2800" dirty="0"/>
          </a:p>
        </p:txBody>
      </p:sp>
      <p:sp>
        <p:nvSpPr>
          <p:cNvPr id="5" name="Text 3"/>
          <p:cNvSpPr/>
          <p:nvPr/>
        </p:nvSpPr>
        <p:spPr>
          <a:xfrm>
            <a:off x="815975" y="1903090"/>
            <a:ext cx="7004050" cy="3611668"/>
          </a:xfrm>
          <a:prstGeom prst="roundRect">
            <a:avLst>
              <a:gd name="adj" fmla="val 2725"/>
            </a:avLst>
          </a:prstGeom>
          <a:solidFill>
            <a:srgbClr val="0D1220"/>
          </a:solidFill>
          <a:ln w="6350">
            <a:solidFill>
              <a:srgbClr val="2A3550"/>
            </a:solidFill>
            <a:prstDash val="solid"/>
          </a:ln>
        </p:spPr>
        <p:txBody>
          <a:bodyPr wrap="square" lIns="202206" tIns="176806" rIns="5947" bIns="151406" rtlCol="0" anchor="t">
            <a:normAutofit/>
          </a:bodyPr>
          <a:lstStyle/>
          <a:p>
            <a:pPr algn="l" indent="0" marL="0">
              <a:lnSpc>
                <a:spcPts val="1800"/>
              </a:lnSpc>
              <a:buNone/>
            </a:pPr>
            <a:r>
              <a:rPr lang="en-US" sz="1200" dirty="0">
                <a:solidFill>
                  <a:srgbClr val="7F8BA3"/>
                </a:solidFill>
                <a:latin typeface="JetBrains Mono" pitchFamily="49" charset="0"/>
                <a:ea typeface="JetBrains Mono" pitchFamily="49" charset="-122"/>
                <a:cs typeface="JetBrains Mono" pitchFamily="49" charset="-120"/>
              </a:rPr>
              <a:t># 1. go to the branch that RECEIVES</a:t>
            </a:r>
            <a:endParaRPr lang="en-US" sz="1200" dirty="0"/>
          </a:p>
          <a:p>
            <a:pPr algn="l" indent="0" marL="0">
              <a:lnSpc>
                <a:spcPts val="180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checkout main</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8BA3"/>
                </a:solidFill>
                <a:latin typeface="JetBrains Mono" pitchFamily="49" charset="0"/>
                <a:ea typeface="JetBrains Mono" pitchFamily="49" charset="-122"/>
                <a:cs typeface="JetBrains Mono" pitchFamily="49" charset="-120"/>
              </a:rPr>
              <a:t># 2. pull the feature in</a:t>
            </a:r>
            <a:endParaRPr lang="en-US" sz="1200" dirty="0"/>
          </a:p>
          <a:p>
            <a:pPr algn="l" indent="0" marL="0">
              <a:lnSpc>
                <a:spcPts val="180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merge feature-dark-theme</a:t>
            </a:r>
            <a:endParaRPr lang="en-US" sz="1200" dirty="0"/>
          </a:p>
          <a:p>
            <a:pPr algn="l" indent="0" marL="0">
              <a:lnSpc>
                <a:spcPts val="1800"/>
              </a:lnSpc>
              <a:buNone/>
            </a:pPr>
            <a:r>
              <a:rPr lang="en-US" sz="1200" dirty="0">
                <a:solidFill>
                  <a:srgbClr val="7F8BA3"/>
                </a:solidFill>
                <a:latin typeface="JetBrains Mono" pitchFamily="49" charset="0"/>
                <a:ea typeface="JetBrains Mono" pitchFamily="49" charset="-122"/>
                <a:cs typeface="JetBrains Mono" pitchFamily="49" charset="-120"/>
              </a:rPr>
              <a:t>Updating e4f5a6b..9c8d7e6</a:t>
            </a:r>
            <a:endParaRPr lang="en-US" sz="1200" dirty="0"/>
          </a:p>
          <a:p>
            <a:pPr algn="l" indent="0" marL="0">
              <a:lnSpc>
                <a:spcPts val="1800"/>
              </a:lnSpc>
              <a:buNone/>
            </a:pPr>
            <a:r>
              <a:rPr lang="en-US" sz="1200" dirty="0">
                <a:solidFill>
                  <a:srgbClr val="7F8BA3"/>
                </a:solidFill>
                <a:latin typeface="JetBrains Mono" pitchFamily="49" charset="0"/>
                <a:ea typeface="JetBrains Mono" pitchFamily="49" charset="-122"/>
                <a:cs typeface="JetBrains Mono" pitchFamily="49" charset="-120"/>
              </a:rPr>
              <a:t>Fast-forward</a:t>
            </a:r>
            <a:endParaRPr lang="en-US" sz="1200" dirty="0"/>
          </a:p>
          <a:p>
            <a:pPr algn="l" indent="0" marL="0">
              <a:lnSpc>
                <a:spcPts val="1800"/>
              </a:lnSpc>
              <a:buNone/>
            </a:pPr>
            <a:r>
              <a:rPr lang="en-US" sz="1200" dirty="0">
                <a:solidFill>
                  <a:srgbClr val="7F8BA3"/>
                </a:solidFill>
                <a:latin typeface="JetBrains Mono" pitchFamily="49" charset="0"/>
                <a:ea typeface="JetBrains Mono" pitchFamily="49" charset="-122"/>
                <a:cs typeface="JetBrains Mono" pitchFamily="49" charset="-120"/>
              </a:rPr>
              <a:t> style.css | 5 +++++</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8BA3"/>
                </a:solidFill>
                <a:latin typeface="JetBrains Mono" pitchFamily="49" charset="0"/>
                <a:ea typeface="JetBrains Mono" pitchFamily="49" charset="-122"/>
                <a:cs typeface="JetBrains Mono" pitchFamily="49" charset="-120"/>
              </a:rPr>
              <a:t># 3. see the full story</a:t>
            </a:r>
            <a:endParaRPr lang="en-US" sz="1200" dirty="0"/>
          </a:p>
          <a:p>
            <a:pPr algn="l" indent="0" marL="0">
              <a:lnSpc>
                <a:spcPts val="1800"/>
              </a:lnSpc>
              <a:buNone/>
            </a:pPr>
            <a:r>
              <a:rPr lang="en-US" sz="1200" dirty="0">
                <a:solidFill>
                  <a:srgbClr val="F2994A"/>
                </a:solidFill>
                <a:latin typeface="JetBrains Mono" pitchFamily="49" charset="0"/>
                <a:ea typeface="JetBrains Mono" pitchFamily="49" charset="-122"/>
                <a:cs typeface="JetBrains Mono" pitchFamily="49" charset="-120"/>
              </a:rPr>
              <a:t>$</a:t>
            </a:r>
            <a:r>
              <a:rPr lang="en-US" sz="1200" dirty="0">
                <a:solidFill>
                  <a:srgbClr val="E3E8F1"/>
                </a:solidFill>
                <a:latin typeface="JetBrains Mono" pitchFamily="49" charset="0"/>
                <a:ea typeface="JetBrains Mono" pitchFamily="49" charset="-122"/>
                <a:cs typeface="JetBrains Mono" pitchFamily="49" charset="-120"/>
              </a:rPr>
              <a:t> git log --oneline</a:t>
            </a:r>
            <a:endParaRPr lang="en-US" sz="1200" dirty="0"/>
          </a:p>
          <a:p>
            <a:pPr algn="l" indent="0" marL="0">
              <a:lnSpc>
                <a:spcPts val="1800"/>
              </a:lnSpc>
              <a:buNone/>
            </a:pPr>
            <a:r>
              <a:rPr lang="en-US" sz="1200" dirty="0">
                <a:solidFill>
                  <a:srgbClr val="7FD1A1"/>
                </a:solidFill>
                <a:latin typeface="JetBrains Mono" pitchFamily="49" charset="0"/>
                <a:ea typeface="JetBrains Mono" pitchFamily="49" charset="-122"/>
                <a:cs typeface="JetBrains Mono" pitchFamily="49" charset="-120"/>
              </a:rPr>
              <a:t>9c8d7e6 (HEAD -&gt; main, feature-dark-theme) Add dark…</a:t>
            </a:r>
            <a:endParaRPr lang="en-US" sz="1200" dirty="0"/>
          </a:p>
          <a:p>
            <a:pPr algn="l" indent="0" marL="0">
              <a:lnSpc>
                <a:spcPts val="1800"/>
              </a:lnSpc>
              <a:buNone/>
            </a:pPr>
            <a:r>
              <a:rPr lang="en-US" sz="1200" dirty="0">
                <a:solidFill>
                  <a:srgbClr val="7F8BA3"/>
                </a:solidFill>
                <a:latin typeface="JetBrains Mono" pitchFamily="49" charset="0"/>
                <a:ea typeface="JetBrains Mono" pitchFamily="49" charset="-122"/>
                <a:cs typeface="JetBrains Mono" pitchFamily="49" charset="-120"/>
              </a:rPr>
              <a:t>e4f5a6b Update heading with role</a:t>
            </a:r>
            <a:endParaRPr lang="en-US" sz="1200" dirty="0"/>
          </a:p>
          <a:p>
            <a:pPr algn="l" indent="0" marL="0">
              <a:lnSpc>
                <a:spcPts val="1800"/>
              </a:lnSpc>
              <a:buNone/>
            </a:pPr>
            <a:r>
              <a:rPr lang="en-US" sz="1200" dirty="0">
                <a:solidFill>
                  <a:srgbClr val="7F8BA3"/>
                </a:solidFill>
                <a:latin typeface="JetBrains Mono" pitchFamily="49" charset="0"/>
                <a:ea typeface="JetBrains Mono" pitchFamily="49" charset="-122"/>
                <a:cs typeface="JetBrains Mono" pitchFamily="49" charset="-120"/>
              </a:rPr>
              <a:t>a1b2c3d Add profile page structure and styles</a:t>
            </a:r>
            <a:endParaRPr lang="en-US" sz="1200" dirty="0"/>
          </a:p>
        </p:txBody>
      </p:sp>
      <p:sp>
        <p:nvSpPr>
          <p:cNvPr id="6" name="Text 4"/>
          <p:cNvSpPr/>
          <p:nvPr/>
        </p:nvSpPr>
        <p:spPr>
          <a:xfrm>
            <a:off x="8077200" y="1899915"/>
            <a:ext cx="3401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B4F0"/>
                </a:solidFill>
                <a:latin typeface="IBM Plex Sans" pitchFamily="34" charset="0"/>
                <a:ea typeface="IBM Plex Sans" pitchFamily="34" charset="-122"/>
                <a:cs typeface="IBM Plex Sans" pitchFamily="34" charset="-120"/>
              </a:rPr>
              <a:t>CHECK YOURSELF</a:t>
            </a:r>
            <a:endParaRPr lang="en-US" sz="1200" dirty="0"/>
          </a:p>
        </p:txBody>
      </p:sp>
      <p:sp>
        <p:nvSpPr>
          <p:cNvPr id="7" name="Text 5"/>
          <p:cNvSpPr/>
          <p:nvPr/>
        </p:nvSpPr>
        <p:spPr>
          <a:xfrm>
            <a:off x="8077200" y="2227585"/>
            <a:ext cx="3401060"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3E8F1"/>
                </a:solidFill>
                <a:latin typeface="IBM Plex Sans" pitchFamily="34" charset="0"/>
                <a:ea typeface="IBM Plex Sans" pitchFamily="34" charset="-122"/>
                <a:cs typeface="IBM Plex Sans" pitchFamily="34" charset="-120"/>
              </a:rPr>
              <a:t>On main, refresh: the dark theme stays now</a:t>
            </a:r>
            <a:endParaRPr lang="en-US" sz="1350" dirty="0"/>
          </a:p>
        </p:txBody>
      </p:sp>
      <p:sp>
        <p:nvSpPr>
          <p:cNvPr id="8" name="Text 6"/>
          <p:cNvSpPr/>
          <p:nvPr/>
        </p:nvSpPr>
        <p:spPr>
          <a:xfrm>
            <a:off x="8077200" y="2821930"/>
            <a:ext cx="3401060" cy="50546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E3E8F1"/>
                </a:solidFill>
                <a:latin typeface="IBM Plex Sans" pitchFamily="34" charset="0"/>
                <a:ea typeface="IBM Plex Sans" pitchFamily="34" charset="-122"/>
                <a:cs typeface="IBM Plex Sans" pitchFamily="34" charset="-120"/>
              </a:rPr>
              <a:t>Fast-forward</a:t>
            </a:r>
            <a:r>
              <a:rPr lang="en-US" sz="1350" dirty="0">
                <a:solidFill>
                  <a:srgbClr val="E3E8F1"/>
                </a:solidFill>
                <a:latin typeface="IBM Plex Sans" pitchFamily="34" charset="0"/>
                <a:ea typeface="IBM Plex Sans" pitchFamily="34" charset="-122"/>
                <a:cs typeface="IBM Plex Sans" pitchFamily="34" charset="-120"/>
              </a:rPr>
              <a:t>: main had no new commits, so Git just moved it forward</a:t>
            </a:r>
            <a:endParaRPr lang="en-US" sz="1350" dirty="0"/>
          </a:p>
        </p:txBody>
      </p:sp>
      <p:sp>
        <p:nvSpPr>
          <p:cNvPr id="9" name="Text 7"/>
          <p:cNvSpPr/>
          <p:nvPr/>
        </p:nvSpPr>
        <p:spPr>
          <a:xfrm>
            <a:off x="8077200" y="3416300"/>
            <a:ext cx="3401060"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3E8F1"/>
                </a:solidFill>
                <a:latin typeface="IBM Plex Sans" pitchFamily="34" charset="0"/>
                <a:ea typeface="IBM Plex Sans" pitchFamily="34" charset="-122"/>
                <a:cs typeface="IBM Plex Sans" pitchFamily="34" charset="-120"/>
              </a:rPr>
              <a:t>3+ commits and 1 merge = Git requirement met</a:t>
            </a:r>
            <a:endParaRPr lang="en-US" sz="1350" dirty="0"/>
          </a:p>
        </p:txBody>
      </p:sp>
      <p:sp>
        <p:nvSpPr>
          <p:cNvPr id="10" name="Text 8"/>
          <p:cNvSpPr/>
          <p:nvPr/>
        </p:nvSpPr>
        <p:spPr>
          <a:xfrm>
            <a:off x="8077200" y="4010670"/>
            <a:ext cx="3302000" cy="665480"/>
          </a:xfrm>
          <a:prstGeom prst="roundRect">
            <a:avLst>
              <a:gd name="adj" fmla="val 11450"/>
            </a:avLst>
          </a:prstGeom>
          <a:solidFill>
            <a:srgbClr val="F2994A"/>
          </a:solidFill>
          <a:ln/>
        </p:spPr>
        <p:txBody>
          <a:bodyPr wrap="square" lIns="130082" tIns="79282" rIns="40166" bIns="53882"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Screenshot your git log --oneline now. You’ll submit it.</a:t>
            </a:r>
            <a:endParaRPr lang="en-US" sz="1300" dirty="0"/>
          </a:p>
        </p:txBody>
      </p:sp>
      <p:sp>
        <p:nvSpPr>
          <p:cNvPr id="11" name="Text 9"/>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Manual p.18 · Expected observation: commits, history, active branch, merged changes</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383348" cy="289560"/>
          </a:xfrm>
          <a:custGeom>
            <a:avLst/>
            <a:gdLst/>
            <a:ahLst/>
            <a:cxnLst/>
            <a:rect l="l" t="t" r="r" b="b"/>
            <a:pathLst>
              <a:path w="1383348" h="289560">
                <a:moveTo>
                  <a:pt x="144780" y="0"/>
                </a:moveTo>
                <a:lnTo>
                  <a:pt x="1238568" y="0"/>
                </a:lnTo>
                <a:arcTo hR="144780" wR="144780" stAng="16200000" swAng="5400000"/>
                <a:lnTo>
                  <a:pt x="1383348" y="144780"/>
                </a:lnTo>
                <a:arcTo hR="144780" wR="144780" stAng="0" swAng="5400000"/>
                <a:lnTo>
                  <a:pt x="144780" y="289560"/>
                </a:lnTo>
                <a:arcTo hR="144780" wR="144780" stAng="5400000" swAng="5400000"/>
                <a:lnTo>
                  <a:pt x="0" y="144780"/>
                </a:lnTo>
                <a:arcTo hR="144780" wR="144780" stAng="10800000" swAng="5400000"/>
                <a:close/>
              </a:path>
            </a:pathLst>
          </a:custGeom>
          <a:solidFill>
            <a:srgbClr val="2F5FA8"/>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CHEAT SHEET</a:t>
            </a:r>
            <a:endParaRPr lang="en-US" sz="1200" dirty="0"/>
          </a:p>
        </p:txBody>
      </p:sp>
      <p:sp>
        <p:nvSpPr>
          <p:cNvPr id="3" name="Text 1"/>
          <p:cNvSpPr/>
          <p:nvPr/>
        </p:nvSpPr>
        <p:spPr>
          <a:xfrm>
            <a:off x="2323148" y="850900"/>
            <a:ext cx="32795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A8"/>
                </a:solidFill>
                <a:latin typeface="IBM Plex Sans" pitchFamily="34" charset="0"/>
                <a:ea typeface="IBM Plex Sans" pitchFamily="34" charset="-122"/>
                <a:cs typeface="IBM Plex Sans" pitchFamily="34" charset="-120"/>
              </a:rPr>
              <a:t>Keep this slide up during the challenge</a:t>
            </a:r>
            <a:endParaRPr lang="en-US" sz="1200" dirty="0"/>
          </a:p>
        </p:txBody>
      </p:sp>
      <p:sp>
        <p:nvSpPr>
          <p:cNvPr id="4" name="Text 2"/>
          <p:cNvSpPr/>
          <p:nvPr>
            <p:ph type="title"/>
          </p:nvPr>
        </p:nvSpPr>
        <p:spPr>
          <a:xfrm>
            <a:off x="812800" y="13055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Eight commands you used today</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018" y="1939088"/>
          <a:ext cx="10555182" cy="3461385"/>
        </p:xfrm>
        <a:graphic>
          <a:graphicData uri="http://schemas.openxmlformats.org/drawingml/2006/table">
            <a:tbl>
              <a:tblPr/>
              <a:tblGrid>
                <a:gridCol w="3166554"/>
                <a:gridCol w="4010969"/>
                <a:gridCol w="3377658"/>
              </a:tblGrid>
              <a:tr h="384598">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Command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Does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Analogy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git init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Start a repository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Buy a photo album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git status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Show what changed / staged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Who’s on stage?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git add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Stage changes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Call them on stage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git commit -m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Save a snapshot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Click the photo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git log --oneline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Show history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Flip through the album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git branch name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Create a branch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New save slot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git checkout name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Switch branch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Load that slot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git merge name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Combine into current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Bring the idea home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6" name="Text 3"/>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p.19 · Section 14 · Git command summary</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2555558" cy="289560"/>
          </a:xfrm>
          <a:custGeom>
            <a:avLst/>
            <a:gdLst/>
            <a:ahLst/>
            <a:cxnLst/>
            <a:rect l="l" t="t" r="r" b="b"/>
            <a:pathLst>
              <a:path w="2555558" h="289560">
                <a:moveTo>
                  <a:pt x="144780" y="0"/>
                </a:moveTo>
                <a:lnTo>
                  <a:pt x="2410778" y="0"/>
                </a:lnTo>
                <a:arcTo hR="144780" wR="144780" stAng="16200000" swAng="5400000"/>
                <a:lnTo>
                  <a:pt x="2555558" y="144780"/>
                </a:lnTo>
                <a:arcTo hR="144780" wR="144780" stAng="0" swAng="5400000"/>
                <a:lnTo>
                  <a:pt x="144780" y="289560"/>
                </a:lnTo>
                <a:arcTo hR="144780" wR="144780" stAng="5400000" swAng="5400000"/>
                <a:lnTo>
                  <a:pt x="0" y="144780"/>
                </a:lnTo>
                <a:arcTo hR="144780" wR="144780" stAng="10800000" swAng="5400000"/>
                <a:close/>
              </a:path>
            </a:pathLst>
          </a:custGeom>
          <a:solidFill>
            <a:srgbClr val="8DB4F0"/>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STRETCH · FAST FINISHERS</a:t>
            </a:r>
            <a:endParaRPr lang="en-US" sz="1200" dirty="0"/>
          </a:p>
        </p:txBody>
      </p:sp>
      <p:sp>
        <p:nvSpPr>
          <p:cNvPr id="3" name="Text 1"/>
          <p:cNvSpPr/>
          <p:nvPr/>
        </p:nvSpPr>
        <p:spPr>
          <a:xfrm>
            <a:off x="3495358" y="850900"/>
            <a:ext cx="39005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DB4F0"/>
                </a:solidFill>
                <a:latin typeface="IBM Plex Sans" pitchFamily="34" charset="0"/>
                <a:ea typeface="IBM Plex Sans" pitchFamily="34" charset="-122"/>
                <a:cs typeface="IBM Plex Sans" pitchFamily="34" charset="-120"/>
              </a:rPr>
              <a:t>Optional · 10 min · Preview of Day 2 and Day 5</a:t>
            </a:r>
            <a:endParaRPr lang="en-US" sz="1200" dirty="0"/>
          </a:p>
        </p:txBody>
      </p:sp>
      <p:sp>
        <p:nvSpPr>
          <p:cNvPr id="4" name="Text 2"/>
          <p:cNvSpPr/>
          <p:nvPr>
            <p:ph type="title"/>
          </p:nvPr>
        </p:nvSpPr>
        <p:spPr>
          <a:xfrm>
            <a:off x="812800" y="130557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1EA"/>
                </a:solidFill>
                <a:latin typeface="Space Grotesk" pitchFamily="34" charset="0"/>
                <a:ea typeface="Space Grotesk" pitchFamily="34" charset="-122"/>
                <a:cs typeface="Space Grotesk" pitchFamily="34" charset="-120"/>
              </a:rPr>
              <a:t>Create a merge conflict on purpose, then fix it</a:t>
            </a:r>
            <a:endParaRPr lang="en-US" sz="2800" dirty="0"/>
          </a:p>
        </p:txBody>
      </p:sp>
      <p:sp>
        <p:nvSpPr>
          <p:cNvPr id="5" name="Text 3"/>
          <p:cNvSpPr/>
          <p:nvPr/>
        </p:nvSpPr>
        <p:spPr>
          <a:xfrm>
            <a:off x="883920" y="1899915"/>
            <a:ext cx="4107180" cy="2254250"/>
          </a:xfrm>
          <a:prstGeom prst="rect">
            <a:avLst/>
          </a:prstGeom>
          <a:noFill/>
          <a:ln/>
        </p:spPr>
        <p:txBody>
          <a:bodyPr wrap="square" lIns="0" tIns="0" rIns="0" bIns="0" rtlCol="0" anchor="t">
            <a:normAutofit/>
          </a:bodyPr>
          <a:lstStyle/>
          <a:p>
            <a:pPr algn="l" marL="182880" indent="-182880">
              <a:lnSpc>
                <a:spcPts val="1950"/>
              </a:lnSpc>
              <a:buSzPct val="100000"/>
              <a:buFontTx/>
              <a:buAutoNum type="arabicPeriod" startAt="1"/>
            </a:pPr>
            <a:r>
              <a:rPr lang="en-US" sz="1300" b="1" dirty="0">
                <a:solidFill>
                  <a:srgbClr val="E3E8F1"/>
                </a:solidFill>
                <a:latin typeface="IBM Plex Sans" pitchFamily="34" charset="0"/>
                <a:ea typeface="IBM Plex Sans" pitchFamily="34" charset="-122"/>
                <a:cs typeface="IBM Plex Sans" pitchFamily="34" charset="-120"/>
              </a:rPr>
              <a:t>git switch -c feature-title</a:t>
            </a:r>
            <a:endParaRPr lang="en-US" sz="1300" dirty="0"/>
          </a:p>
          <a:p>
            <a:pPr algn="l" marL="182880" indent="-182880">
              <a:lnSpc>
                <a:spcPts val="1950"/>
              </a:lnSpc>
              <a:buSzPct val="100000"/>
              <a:buFontTx/>
              <a:buAutoNum type="arabicPeriod" startAt="1"/>
            </a:pPr>
            <a:r>
              <a:rPr lang="en-US" sz="1300" dirty="0">
                <a:solidFill>
                  <a:srgbClr val="E3E8F1"/>
                </a:solidFill>
                <a:latin typeface="IBM Plex Sans" pitchFamily="34" charset="0"/>
                <a:ea typeface="IBM Plex Sans" pitchFamily="34" charset="-122"/>
                <a:cs typeface="IBM Plex Sans" pitchFamily="34" charset="-120"/>
              </a:rPr>
              <a:t>Change &lt;h1&gt; to “Asha | Developer”, commit</a:t>
            </a:r>
            <a:endParaRPr lang="en-US" sz="1300" dirty="0"/>
          </a:p>
          <a:p>
            <a:pPr algn="l" marL="182880" indent="-182880">
              <a:lnSpc>
                <a:spcPts val="1950"/>
              </a:lnSpc>
              <a:buSzPct val="100000"/>
              <a:buFontTx/>
              <a:buAutoNum type="arabicPeriod" startAt="1"/>
            </a:pPr>
            <a:r>
              <a:rPr lang="en-US" sz="1300" b="1" dirty="0">
                <a:solidFill>
                  <a:srgbClr val="E3E8F1"/>
                </a:solidFill>
                <a:latin typeface="IBM Plex Sans" pitchFamily="34" charset="0"/>
                <a:ea typeface="IBM Plex Sans" pitchFamily="34" charset="-122"/>
                <a:cs typeface="IBM Plex Sans" pitchFamily="34" charset="-120"/>
              </a:rPr>
              <a:t>git checkout main</a:t>
            </a:r>
            <a:endParaRPr lang="en-US" sz="1300" dirty="0"/>
          </a:p>
          <a:p>
            <a:pPr algn="l" marL="182880" indent="-182880">
              <a:lnSpc>
                <a:spcPts val="1950"/>
              </a:lnSpc>
              <a:buSzPct val="100000"/>
              <a:buFontTx/>
              <a:buAutoNum type="arabicPeriod" startAt="1"/>
            </a:pPr>
            <a:r>
              <a:rPr lang="en-US" sz="1300" dirty="0">
                <a:solidFill>
                  <a:srgbClr val="E3E8F1"/>
                </a:solidFill>
                <a:latin typeface="IBM Plex Sans" pitchFamily="34" charset="0"/>
                <a:ea typeface="IBM Plex Sans" pitchFamily="34" charset="-122"/>
                <a:cs typeface="IBM Plex Sans" pitchFamily="34" charset="-120"/>
              </a:rPr>
              <a:t>Change the same &lt;h1&gt; to “Asha | Designer”, commit</a:t>
            </a:r>
            <a:endParaRPr lang="en-US" sz="1300" dirty="0"/>
          </a:p>
          <a:p>
            <a:pPr algn="l" marL="182880" indent="-182880">
              <a:lnSpc>
                <a:spcPts val="1950"/>
              </a:lnSpc>
              <a:buSzPct val="100000"/>
              <a:buFontTx/>
              <a:buAutoNum type="arabicPeriod" startAt="1"/>
            </a:pPr>
            <a:r>
              <a:rPr lang="en-US" sz="1300" b="1" dirty="0">
                <a:solidFill>
                  <a:srgbClr val="E3E8F1"/>
                </a:solidFill>
                <a:latin typeface="IBM Plex Sans" pitchFamily="34" charset="0"/>
                <a:ea typeface="IBM Plex Sans" pitchFamily="34" charset="-122"/>
                <a:cs typeface="IBM Plex Sans" pitchFamily="34" charset="-120"/>
              </a:rPr>
              <a:t>git merge feature-title</a:t>
            </a:r>
            <a:r>
              <a:rPr lang="en-US" sz="1300" dirty="0">
                <a:solidFill>
                  <a:srgbClr val="E3E8F1"/>
                </a:solidFill>
                <a:latin typeface="IBM Plex Sans" pitchFamily="34" charset="0"/>
                <a:ea typeface="IBM Plex Sans" pitchFamily="34" charset="-122"/>
                <a:cs typeface="IBM Plex Sans" pitchFamily="34" charset="-120"/>
              </a:rPr>
              <a:t> → CONFLICT!</a:t>
            </a:r>
            <a:endParaRPr lang="en-US" sz="1300" dirty="0"/>
          </a:p>
          <a:p>
            <a:pPr algn="l" marL="182880" indent="-182880">
              <a:lnSpc>
                <a:spcPts val="1950"/>
              </a:lnSpc>
              <a:buSzPct val="100000"/>
              <a:buFontTx/>
              <a:buAutoNum type="arabicPeriod" startAt="1"/>
            </a:pPr>
            <a:r>
              <a:rPr lang="en-US" sz="1300" dirty="0">
                <a:solidFill>
                  <a:srgbClr val="E3E8F1"/>
                </a:solidFill>
                <a:latin typeface="IBM Plex Sans" pitchFamily="34" charset="0"/>
                <a:ea typeface="IBM Plex Sans" pitchFamily="34" charset="-122"/>
                <a:cs typeface="IBM Plex Sans" pitchFamily="34" charset="-120"/>
              </a:rPr>
              <a:t>Open index.html, keep one line, delete the 3 marker lines</a:t>
            </a:r>
            <a:endParaRPr lang="en-US" sz="1300" dirty="0"/>
          </a:p>
          <a:p>
            <a:pPr algn="l" marL="182880" indent="-182880">
              <a:lnSpc>
                <a:spcPts val="1950"/>
              </a:lnSpc>
              <a:buSzPct val="100000"/>
              <a:buFontTx/>
              <a:buAutoNum type="arabicPeriod" startAt="1"/>
            </a:pPr>
            <a:r>
              <a:rPr lang="en-US" sz="1300" b="1" dirty="0">
                <a:solidFill>
                  <a:srgbClr val="E3E8F1"/>
                </a:solidFill>
                <a:latin typeface="IBM Plex Sans" pitchFamily="34" charset="0"/>
                <a:ea typeface="IBM Plex Sans" pitchFamily="34" charset="-122"/>
                <a:cs typeface="IBM Plex Sans" pitchFamily="34" charset="-120"/>
              </a:rPr>
              <a:t>git add .</a:t>
            </a:r>
            <a:r>
              <a:rPr lang="en-US" sz="1300" dirty="0">
                <a:solidFill>
                  <a:srgbClr val="E3E8F1"/>
                </a:solidFill>
                <a:latin typeface="IBM Plex Sans" pitchFamily="34" charset="0"/>
                <a:ea typeface="IBM Plex Sans" pitchFamily="34" charset="-122"/>
                <a:cs typeface="IBM Plex Sans" pitchFamily="34" charset="-120"/>
              </a:rPr>
              <a:t> then </a:t>
            </a:r>
            <a:r>
              <a:rPr lang="en-US" sz="1300" b="1" dirty="0">
                <a:solidFill>
                  <a:srgbClr val="E3E8F1"/>
                </a:solidFill>
                <a:latin typeface="IBM Plex Sans" pitchFamily="34" charset="0"/>
                <a:ea typeface="IBM Plex Sans" pitchFamily="34" charset="-122"/>
                <a:cs typeface="IBM Plex Sans" pitchFamily="34" charset="-120"/>
              </a:rPr>
              <a:t>git commit</a:t>
            </a:r>
            <a:endParaRPr lang="en-US" sz="1300" dirty="0"/>
          </a:p>
        </p:txBody>
      </p:sp>
      <p:sp>
        <p:nvSpPr>
          <p:cNvPr id="6" name="Shape 4"/>
          <p:cNvSpPr/>
          <p:nvPr/>
        </p:nvSpPr>
        <p:spPr>
          <a:xfrm>
            <a:off x="5133975" y="1903090"/>
            <a:ext cx="6242050" cy="2238481"/>
          </a:xfrm>
          <a:prstGeom prst="roundRect">
            <a:avLst>
              <a:gd name="adj" fmla="val 4397"/>
            </a:avLst>
          </a:prstGeom>
          <a:solidFill>
            <a:srgbClr val="0D1220"/>
          </a:solidFill>
          <a:ln w="6350">
            <a:solidFill>
              <a:srgbClr val="2A3550"/>
            </a:solidFill>
            <a:prstDash val="solid"/>
          </a:ln>
        </p:spPr>
      </p:sp>
      <p:sp>
        <p:nvSpPr>
          <p:cNvPr id="7" name="Text 5"/>
          <p:cNvSpPr/>
          <p:nvPr/>
        </p:nvSpPr>
        <p:spPr>
          <a:xfrm>
            <a:off x="5365009" y="2108721"/>
            <a:ext cx="595338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BA3"/>
                </a:solidFill>
                <a:latin typeface="IBM Plex Sans" pitchFamily="34" charset="0"/>
                <a:ea typeface="IBM Plex Sans" pitchFamily="34" charset="-122"/>
                <a:cs typeface="IBM Plex Sans" pitchFamily="34" charset="-120"/>
              </a:rPr>
              <a:t>WHAT YOU’LL SEE IN index.html</a:t>
            </a:r>
            <a:endParaRPr lang="en-US" sz="1200" dirty="0"/>
          </a:p>
        </p:txBody>
      </p:sp>
      <p:sp>
        <p:nvSpPr>
          <p:cNvPr id="8" name="Text 6"/>
          <p:cNvSpPr/>
          <p:nvPr/>
        </p:nvSpPr>
        <p:spPr>
          <a:xfrm>
            <a:off x="5365009" y="2398291"/>
            <a:ext cx="5953381" cy="1255713"/>
          </a:xfrm>
          <a:prstGeom prst="rect">
            <a:avLst/>
          </a:prstGeom>
          <a:noFill/>
          <a:ln/>
        </p:spPr>
        <p:txBody>
          <a:bodyPr wrap="square" lIns="0" tIns="0" rIns="0" bIns="0" rtlCol="0" anchor="t">
            <a:normAutofit/>
          </a:bodyPr>
          <a:lstStyle/>
          <a:p>
            <a:pPr algn="l" indent="0" marL="0">
              <a:lnSpc>
                <a:spcPts val="1938"/>
              </a:lnSpc>
              <a:buNone/>
            </a:pPr>
            <a:r>
              <a:rPr lang="en-US" sz="1250" dirty="0">
                <a:solidFill>
                  <a:srgbClr val="F07A6A"/>
                </a:solidFill>
                <a:latin typeface="JetBrains Mono" pitchFamily="49" charset="0"/>
                <a:ea typeface="JetBrains Mono" pitchFamily="49" charset="-122"/>
                <a:cs typeface="JetBrains Mono" pitchFamily="49" charset="-120"/>
              </a:rPr>
              <a:t>&lt;&lt;&lt;&lt;&lt;&lt;&lt; HEAD</a:t>
            </a:r>
            <a:endParaRPr lang="en-US" sz="1250" dirty="0"/>
          </a:p>
          <a:p>
            <a:pPr algn="l" indent="0" marL="0">
              <a:lnSpc>
                <a:spcPts val="1938"/>
              </a:lnSpc>
              <a:buNone/>
            </a:pPr>
            <a:r>
              <a:rPr lang="en-US" sz="1250" dirty="0">
                <a:solidFill>
                  <a:srgbClr val="E3E8F1"/>
                </a:solidFill>
                <a:latin typeface="JetBrains Mono" pitchFamily="49" charset="0"/>
                <a:ea typeface="JetBrains Mono" pitchFamily="49" charset="-122"/>
                <a:cs typeface="JetBrains Mono" pitchFamily="49" charset="-120"/>
              </a:rPr>
              <a:t>&lt;h1&gt;Asha | Designer&lt;/h1&gt;</a:t>
            </a:r>
            <a:endParaRPr lang="en-US" sz="1250" dirty="0"/>
          </a:p>
          <a:p>
            <a:pPr algn="l" indent="0" marL="0">
              <a:lnSpc>
                <a:spcPts val="1938"/>
              </a:lnSpc>
              <a:buNone/>
            </a:pPr>
            <a:r>
              <a:rPr lang="en-US" sz="1250" dirty="0">
                <a:solidFill>
                  <a:srgbClr val="F2994A"/>
                </a:solidFill>
                <a:latin typeface="JetBrains Mono" pitchFamily="49" charset="0"/>
                <a:ea typeface="JetBrains Mono" pitchFamily="49" charset="-122"/>
                <a:cs typeface="JetBrains Mono" pitchFamily="49" charset="-120"/>
              </a:rPr>
              <a:t>=======</a:t>
            </a:r>
            <a:endParaRPr lang="en-US" sz="1250" dirty="0"/>
          </a:p>
          <a:p>
            <a:pPr algn="l" indent="0" marL="0">
              <a:lnSpc>
                <a:spcPts val="1938"/>
              </a:lnSpc>
              <a:buNone/>
            </a:pPr>
            <a:r>
              <a:rPr lang="en-US" sz="1250" dirty="0">
                <a:solidFill>
                  <a:srgbClr val="E3E8F1"/>
                </a:solidFill>
                <a:latin typeface="JetBrains Mono" pitchFamily="49" charset="0"/>
                <a:ea typeface="JetBrains Mono" pitchFamily="49" charset="-122"/>
                <a:cs typeface="JetBrains Mono" pitchFamily="49" charset="-120"/>
              </a:rPr>
              <a:t>&lt;h1&gt;Asha | Developer&lt;/h1&gt;</a:t>
            </a:r>
            <a:endParaRPr lang="en-US" sz="1250" dirty="0"/>
          </a:p>
          <a:p>
            <a:pPr algn="l" indent="0" marL="0">
              <a:lnSpc>
                <a:spcPts val="1938"/>
              </a:lnSpc>
              <a:buNone/>
            </a:pPr>
            <a:r>
              <a:rPr lang="en-US" sz="1250" dirty="0">
                <a:solidFill>
                  <a:srgbClr val="7FD1A1"/>
                </a:solidFill>
                <a:latin typeface="JetBrains Mono" pitchFamily="49" charset="0"/>
                <a:ea typeface="JetBrains Mono" pitchFamily="49" charset="-122"/>
                <a:cs typeface="JetBrains Mono" pitchFamily="49" charset="-120"/>
              </a:rPr>
              <a:t>&gt;&gt;&gt;&gt;&gt;&gt;&gt; feature-title</a:t>
            </a:r>
            <a:endParaRPr lang="en-US" sz="1250" dirty="0"/>
          </a:p>
        </p:txBody>
      </p:sp>
      <p:sp>
        <p:nvSpPr>
          <p:cNvPr id="9" name="Text 7"/>
          <p:cNvSpPr/>
          <p:nvPr/>
        </p:nvSpPr>
        <p:spPr>
          <a:xfrm>
            <a:off x="5365009" y="3704803"/>
            <a:ext cx="595338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2D3"/>
                </a:solidFill>
                <a:latin typeface="IBM Plex Sans" pitchFamily="34" charset="0"/>
                <a:ea typeface="IBM Plex Sans" pitchFamily="34" charset="-122"/>
                <a:cs typeface="IBM Plex Sans" pitchFamily="34" charset="-120"/>
              </a:rPr>
              <a:t>Top = what main has. Bottom = what the branch has. You decide.</a:t>
            </a:r>
            <a:endParaRPr lang="en-US" sz="1300" dirty="0"/>
          </a:p>
        </p:txBody>
      </p:sp>
      <p:sp>
        <p:nvSpPr>
          <p:cNvPr id="10" name="Text 8"/>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Manual p.36 · Step 8: pull requests and merge conflicts</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2994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41B2D"/>
                </a:solidFill>
                <a:latin typeface="IBM Plex Sans" pitchFamily="34" charset="0"/>
                <a:ea typeface="IBM Plex Sans" pitchFamily="34" charset="-122"/>
                <a:cs typeface="IBM Plex Sans" pitchFamily="34" charset="-120"/>
              </a:rPr>
              <a:t>DAY-1 MINI CHALLENGE · 3:35 – 4:05 PM · 30 MIN</a:t>
            </a:r>
            <a:endParaRPr lang="en-US" sz="1400" dirty="0"/>
          </a:p>
        </p:txBody>
      </p:sp>
      <p:sp>
        <p:nvSpPr>
          <p:cNvPr id="3" name="Text 1"/>
          <p:cNvSpPr/>
          <p:nvPr>
            <p:ph type="title"/>
          </p:nvPr>
        </p:nvSpPr>
        <p:spPr>
          <a:xfrm>
            <a:off x="812800" y="1264915"/>
            <a:ext cx="10883392" cy="612140"/>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141B2D"/>
                </a:solidFill>
                <a:latin typeface="Space Grotesk" pitchFamily="34" charset="0"/>
                <a:ea typeface="Space Grotesk" pitchFamily="34" charset="-122"/>
                <a:cs typeface="Space Grotesk" pitchFamily="34" charset="-120"/>
              </a:rPr>
              <a:t>Responsive Student Portfolio</a:t>
            </a:r>
            <a:endParaRPr lang="en-US" sz="4400" dirty="0"/>
          </a:p>
        </p:txBody>
      </p:sp>
      <p:sp>
        <p:nvSpPr>
          <p:cNvPr id="4" name="Shape 2"/>
          <p:cNvSpPr/>
          <p:nvPr/>
        </p:nvSpPr>
        <p:spPr>
          <a:xfrm>
            <a:off x="812800" y="2054870"/>
            <a:ext cx="3420533" cy="1849120"/>
          </a:xfrm>
          <a:prstGeom prst="roundRect">
            <a:avLst>
              <a:gd name="adj" fmla="val 5495"/>
            </a:avLst>
          </a:prstGeom>
          <a:solidFill>
            <a:srgbClr val="141B2D"/>
          </a:solidFill>
          <a:ln/>
        </p:spPr>
      </p:sp>
      <p:sp>
        <p:nvSpPr>
          <p:cNvPr id="5" name="Text 3"/>
          <p:cNvSpPr/>
          <p:nvPr/>
        </p:nvSpPr>
        <p:spPr>
          <a:xfrm>
            <a:off x="1016000" y="2258070"/>
            <a:ext cx="310455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94A"/>
                </a:solidFill>
                <a:latin typeface="IBM Plex Sans" pitchFamily="34" charset="0"/>
                <a:ea typeface="IBM Plex Sans" pitchFamily="34" charset="-122"/>
                <a:cs typeface="IBM Plex Sans" pitchFamily="34" charset="-120"/>
              </a:rPr>
              <a:t>HTML</a:t>
            </a:r>
            <a:endParaRPr lang="en-US" sz="1200" dirty="0"/>
          </a:p>
        </p:txBody>
      </p:sp>
      <p:sp>
        <p:nvSpPr>
          <p:cNvPr id="6" name="Text 4"/>
          <p:cNvSpPr/>
          <p:nvPr/>
        </p:nvSpPr>
        <p:spPr>
          <a:xfrm>
            <a:off x="1016000" y="2547615"/>
            <a:ext cx="310455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1EA"/>
                </a:solidFill>
                <a:latin typeface="IBM Plex Sans" pitchFamily="34" charset="0"/>
                <a:ea typeface="IBM Plex Sans" pitchFamily="34" charset="-122"/>
                <a:cs typeface="IBM Plex Sans" pitchFamily="34" charset="-120"/>
              </a:rPr>
              <a:t>header, nav, main, footer</a:t>
            </a:r>
            <a:endParaRPr lang="en-US" sz="1300" dirty="0"/>
          </a:p>
        </p:txBody>
      </p:sp>
      <p:sp>
        <p:nvSpPr>
          <p:cNvPr id="7" name="Text 5"/>
          <p:cNvSpPr/>
          <p:nvPr/>
        </p:nvSpPr>
        <p:spPr>
          <a:xfrm>
            <a:off x="1016000" y="2854970"/>
            <a:ext cx="310455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1EA"/>
                </a:solidFill>
                <a:latin typeface="IBM Plex Sans" pitchFamily="34" charset="0"/>
                <a:ea typeface="IBM Plex Sans" pitchFamily="34" charset="-122"/>
                <a:cs typeface="IBM Plex Sans" pitchFamily="34" charset="-120"/>
              </a:rPr>
              <a:t>3+ sections, photo with alt</a:t>
            </a:r>
            <a:endParaRPr lang="en-US" sz="1300" dirty="0"/>
          </a:p>
        </p:txBody>
      </p:sp>
      <p:sp>
        <p:nvSpPr>
          <p:cNvPr id="8" name="Text 6"/>
          <p:cNvSpPr/>
          <p:nvPr/>
        </p:nvSpPr>
        <p:spPr>
          <a:xfrm>
            <a:off x="1016000" y="3162300"/>
            <a:ext cx="310455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1EA"/>
                </a:solidFill>
                <a:latin typeface="IBM Plex Sans" pitchFamily="34" charset="0"/>
                <a:ea typeface="IBM Plex Sans" pitchFamily="34" charset="-122"/>
                <a:cs typeface="IBM Plex Sans" pitchFamily="34" charset="-120"/>
              </a:rPr>
              <a:t>skills list or table</a:t>
            </a:r>
            <a:endParaRPr lang="en-US" sz="1300" dirty="0"/>
          </a:p>
        </p:txBody>
      </p:sp>
      <p:sp>
        <p:nvSpPr>
          <p:cNvPr id="9" name="Text 7"/>
          <p:cNvSpPr/>
          <p:nvPr/>
        </p:nvSpPr>
        <p:spPr>
          <a:xfrm>
            <a:off x="1016000" y="3469630"/>
            <a:ext cx="310455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1EA"/>
                </a:solidFill>
                <a:latin typeface="IBM Plex Sans" pitchFamily="34" charset="0"/>
                <a:ea typeface="IBM Plex Sans" pitchFamily="34" charset="-122"/>
                <a:cs typeface="IBM Plex Sans" pitchFamily="34" charset="-120"/>
              </a:rPr>
              <a:t>contact form with labels</a:t>
            </a:r>
            <a:endParaRPr lang="en-US" sz="1300" dirty="0"/>
          </a:p>
        </p:txBody>
      </p:sp>
      <p:sp>
        <p:nvSpPr>
          <p:cNvPr id="10" name="Shape 8"/>
          <p:cNvSpPr/>
          <p:nvPr/>
        </p:nvSpPr>
        <p:spPr>
          <a:xfrm>
            <a:off x="4385733" y="2054870"/>
            <a:ext cx="3420533" cy="1849120"/>
          </a:xfrm>
          <a:prstGeom prst="roundRect">
            <a:avLst>
              <a:gd name="adj" fmla="val 5495"/>
            </a:avLst>
          </a:prstGeom>
          <a:solidFill>
            <a:srgbClr val="141B2D"/>
          </a:solidFill>
          <a:ln/>
        </p:spPr>
      </p:sp>
      <p:sp>
        <p:nvSpPr>
          <p:cNvPr id="11" name="Text 9"/>
          <p:cNvSpPr/>
          <p:nvPr/>
        </p:nvSpPr>
        <p:spPr>
          <a:xfrm>
            <a:off x="4588933" y="2258070"/>
            <a:ext cx="310455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94A"/>
                </a:solidFill>
                <a:latin typeface="IBM Plex Sans" pitchFamily="34" charset="0"/>
                <a:ea typeface="IBM Plex Sans" pitchFamily="34" charset="-122"/>
                <a:cs typeface="IBM Plex Sans" pitchFamily="34" charset="-120"/>
              </a:rPr>
              <a:t>CSS</a:t>
            </a:r>
            <a:endParaRPr lang="en-US" sz="1200" dirty="0"/>
          </a:p>
        </p:txBody>
      </p:sp>
      <p:sp>
        <p:nvSpPr>
          <p:cNvPr id="12" name="Text 10"/>
          <p:cNvSpPr/>
          <p:nvPr/>
        </p:nvSpPr>
        <p:spPr>
          <a:xfrm>
            <a:off x="4588933" y="2547615"/>
            <a:ext cx="310455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1EA"/>
                </a:solidFill>
                <a:latin typeface="IBM Plex Sans" pitchFamily="34" charset="0"/>
                <a:ea typeface="IBM Plex Sans" pitchFamily="34" charset="-122"/>
                <a:cs typeface="IBM Plex Sans" pitchFamily="34" charset="-120"/>
              </a:rPr>
              <a:t>External style.css</a:t>
            </a:r>
            <a:endParaRPr lang="en-US" sz="1300" dirty="0"/>
          </a:p>
        </p:txBody>
      </p:sp>
      <p:sp>
        <p:nvSpPr>
          <p:cNvPr id="13" name="Text 11"/>
          <p:cNvSpPr/>
          <p:nvPr/>
        </p:nvSpPr>
        <p:spPr>
          <a:xfrm>
            <a:off x="4588933" y="2854970"/>
            <a:ext cx="310455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1EA"/>
                </a:solidFill>
                <a:latin typeface="IBM Plex Sans" pitchFamily="34" charset="0"/>
                <a:ea typeface="IBM Plex Sans" pitchFamily="34" charset="-122"/>
                <a:cs typeface="IBM Plex Sans" pitchFamily="34" charset="-120"/>
              </a:rPr>
              <a:t>Class selectors + :hover</a:t>
            </a:r>
            <a:endParaRPr lang="en-US" sz="1300" dirty="0"/>
          </a:p>
        </p:txBody>
      </p:sp>
      <p:sp>
        <p:nvSpPr>
          <p:cNvPr id="14" name="Text 12"/>
          <p:cNvSpPr/>
          <p:nvPr/>
        </p:nvSpPr>
        <p:spPr>
          <a:xfrm>
            <a:off x="4588933" y="3162300"/>
            <a:ext cx="310455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1EA"/>
                </a:solidFill>
                <a:latin typeface="IBM Plex Sans" pitchFamily="34" charset="0"/>
                <a:ea typeface="IBM Plex Sans" pitchFamily="34" charset="-122"/>
                <a:cs typeface="IBM Plex Sans" pitchFamily="34" charset="-120"/>
              </a:rPr>
              <a:t>3 Flexbox cards with wrap, gap</a:t>
            </a:r>
            <a:endParaRPr lang="en-US" sz="1300" dirty="0"/>
          </a:p>
        </p:txBody>
      </p:sp>
      <p:sp>
        <p:nvSpPr>
          <p:cNvPr id="15" name="Text 13"/>
          <p:cNvSpPr/>
          <p:nvPr/>
        </p:nvSpPr>
        <p:spPr>
          <a:xfrm>
            <a:off x="4588933" y="3469630"/>
            <a:ext cx="310455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1EA"/>
                </a:solidFill>
                <a:latin typeface="IBM Plex Sans" pitchFamily="34" charset="0"/>
                <a:ea typeface="IBM Plex Sans" pitchFamily="34" charset="-122"/>
                <a:cs typeface="IBM Plex Sans" pitchFamily="34" charset="-120"/>
              </a:rPr>
              <a:t>1+ media query, no scroll at 375px</a:t>
            </a:r>
            <a:endParaRPr lang="en-US" sz="1300" dirty="0"/>
          </a:p>
        </p:txBody>
      </p:sp>
      <p:sp>
        <p:nvSpPr>
          <p:cNvPr id="16" name="Shape 14"/>
          <p:cNvSpPr/>
          <p:nvPr/>
        </p:nvSpPr>
        <p:spPr>
          <a:xfrm>
            <a:off x="7958667" y="2054870"/>
            <a:ext cx="3420533" cy="1849120"/>
          </a:xfrm>
          <a:prstGeom prst="roundRect">
            <a:avLst>
              <a:gd name="adj" fmla="val 5495"/>
            </a:avLst>
          </a:prstGeom>
          <a:solidFill>
            <a:srgbClr val="141B2D"/>
          </a:solidFill>
          <a:ln/>
        </p:spPr>
      </p:sp>
      <p:sp>
        <p:nvSpPr>
          <p:cNvPr id="17" name="Text 15"/>
          <p:cNvSpPr/>
          <p:nvPr/>
        </p:nvSpPr>
        <p:spPr>
          <a:xfrm>
            <a:off x="8161867" y="2258070"/>
            <a:ext cx="310455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94A"/>
                </a:solidFill>
                <a:latin typeface="IBM Plex Sans" pitchFamily="34" charset="0"/>
                <a:ea typeface="IBM Plex Sans" pitchFamily="34" charset="-122"/>
                <a:cs typeface="IBM Plex Sans" pitchFamily="34" charset="-120"/>
              </a:rPr>
              <a:t>GIT</a:t>
            </a:r>
            <a:endParaRPr lang="en-US" sz="1200" dirty="0"/>
          </a:p>
        </p:txBody>
      </p:sp>
      <p:sp>
        <p:nvSpPr>
          <p:cNvPr id="18" name="Text 16"/>
          <p:cNvSpPr/>
          <p:nvPr/>
        </p:nvSpPr>
        <p:spPr>
          <a:xfrm>
            <a:off x="8161867" y="2547615"/>
            <a:ext cx="310455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1EA"/>
                </a:solidFill>
                <a:latin typeface="IBM Plex Sans" pitchFamily="34" charset="0"/>
                <a:ea typeface="IBM Plex Sans" pitchFamily="34" charset="-122"/>
                <a:cs typeface="IBM Plex Sans" pitchFamily="34" charset="-120"/>
              </a:rPr>
              <a:t>3+ meaningful commits</a:t>
            </a:r>
            <a:endParaRPr lang="en-US" sz="1300" dirty="0"/>
          </a:p>
        </p:txBody>
      </p:sp>
      <p:sp>
        <p:nvSpPr>
          <p:cNvPr id="19" name="Text 17"/>
          <p:cNvSpPr/>
          <p:nvPr/>
        </p:nvSpPr>
        <p:spPr>
          <a:xfrm>
            <a:off x="8161867" y="2854970"/>
            <a:ext cx="310455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1EA"/>
                </a:solidFill>
                <a:latin typeface="IBM Plex Sans" pitchFamily="34" charset="0"/>
                <a:ea typeface="IBM Plex Sans" pitchFamily="34" charset="-122"/>
                <a:cs typeface="IBM Plex Sans" pitchFamily="34" charset="-120"/>
              </a:rPr>
              <a:t>1 feature branch</a:t>
            </a:r>
            <a:endParaRPr lang="en-US" sz="1300" dirty="0"/>
          </a:p>
        </p:txBody>
      </p:sp>
      <p:sp>
        <p:nvSpPr>
          <p:cNvPr id="20" name="Text 18"/>
          <p:cNvSpPr/>
          <p:nvPr/>
        </p:nvSpPr>
        <p:spPr>
          <a:xfrm>
            <a:off x="8161867" y="3162300"/>
            <a:ext cx="310455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1EA"/>
                </a:solidFill>
                <a:latin typeface="IBM Plex Sans" pitchFamily="34" charset="0"/>
                <a:ea typeface="IBM Plex Sans" pitchFamily="34" charset="-122"/>
                <a:cs typeface="IBM Plex Sans" pitchFamily="34" charset="-120"/>
              </a:rPr>
              <a:t>merged into main</a:t>
            </a:r>
            <a:endParaRPr lang="en-US" sz="1300" dirty="0"/>
          </a:p>
        </p:txBody>
      </p:sp>
      <p:sp>
        <p:nvSpPr>
          <p:cNvPr id="21" name="Text 19"/>
          <p:cNvSpPr/>
          <p:nvPr/>
        </p:nvSpPr>
        <p:spPr>
          <a:xfrm>
            <a:off x="8161867" y="3469630"/>
            <a:ext cx="310455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1EA"/>
                </a:solidFill>
                <a:latin typeface="IBM Plex Sans" pitchFamily="34" charset="0"/>
                <a:ea typeface="IBM Plex Sans" pitchFamily="34" charset="-122"/>
                <a:cs typeface="IBM Plex Sans" pitchFamily="34" charset="-120"/>
              </a:rPr>
              <a:t>screenshot of git log --oneline</a:t>
            </a:r>
            <a:endParaRPr lang="en-US" sz="1300" dirty="0"/>
          </a:p>
        </p:txBody>
      </p:sp>
      <p:sp>
        <p:nvSpPr>
          <p:cNvPr id="22" name="Text 20"/>
          <p:cNvSpPr/>
          <p:nvPr/>
        </p:nvSpPr>
        <p:spPr>
          <a:xfrm>
            <a:off x="812800" y="410718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B2D"/>
                </a:solidFill>
                <a:latin typeface="IBM Plex Sans" pitchFamily="34" charset="0"/>
                <a:ea typeface="IBM Plex Sans" pitchFamily="34" charset="-122"/>
                <a:cs typeface="IBM Plex Sans" pitchFamily="34" charset="-120"/>
              </a:rPr>
              <a:t>Already done most of it? Make it unmistakably yours: colours, real projects, a second media query.</a:t>
            </a:r>
            <a:endParaRPr lang="en-US" sz="1500" dirty="0"/>
          </a:p>
        </p:txBody>
      </p:sp>
      <p:sp>
        <p:nvSpPr>
          <p:cNvPr id="23" name="Text 21"/>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2A10"/>
                </a:solidFill>
                <a:latin typeface="IBM Plex Sans" pitchFamily="34" charset="0"/>
                <a:ea typeface="IBM Plex Sans" pitchFamily="34" charset="-122"/>
                <a:cs typeface="IBM Plex Sans" pitchFamily="34" charset="-120"/>
              </a:rPr>
              <a:t>Manual p.5–6 · CIE Project 1 (20 marks) · Submit source files + git log evidence</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898948" cy="289560"/>
          </a:xfrm>
          <a:custGeom>
            <a:avLst/>
            <a:gdLst/>
            <a:ahLst/>
            <a:cxnLst/>
            <a:rect l="l" t="t" r="r" b="b"/>
            <a:pathLst>
              <a:path w="898948" h="289560">
                <a:moveTo>
                  <a:pt x="144780" y="0"/>
                </a:moveTo>
                <a:lnTo>
                  <a:pt x="754168" y="0"/>
                </a:lnTo>
                <a:arcTo hR="144780" wR="144780" stAng="16200000" swAng="5400000"/>
                <a:lnTo>
                  <a:pt x="898948" y="144780"/>
                </a:lnTo>
                <a:arcTo hR="144780" wR="144780" stAng="0" swAng="5400000"/>
                <a:lnTo>
                  <a:pt x="144780" y="289560"/>
                </a:lnTo>
                <a:arcTo hR="144780" wR="144780" stAng="5400000" swAng="5400000"/>
                <a:lnTo>
                  <a:pt x="0" y="144780"/>
                </a:lnTo>
                <a:arcTo hR="144780" wR="144780" stAng="10800000" swAng="5400000"/>
                <a:close/>
              </a:path>
            </a:pathLst>
          </a:custGeom>
          <a:solidFill>
            <a:srgbClr val="B4531A"/>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RUBRIC</a:t>
            </a:r>
            <a:endParaRPr lang="en-US" sz="1200" dirty="0"/>
          </a:p>
        </p:txBody>
      </p:sp>
      <p:sp>
        <p:nvSpPr>
          <p:cNvPr id="3" name="Text 1"/>
          <p:cNvSpPr/>
          <p:nvPr/>
        </p:nvSpPr>
        <p:spPr>
          <a:xfrm>
            <a:off x="1838748" y="850900"/>
            <a:ext cx="281609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1A"/>
                </a:solidFill>
                <a:latin typeface="IBM Plex Sans" pitchFamily="34" charset="0"/>
                <a:ea typeface="IBM Plex Sans" pitchFamily="34" charset="-122"/>
                <a:cs typeface="IBM Plex Sans" pitchFamily="34" charset="-120"/>
              </a:rPr>
              <a:t>20 marks · matches CIE Project 1</a:t>
            </a:r>
            <a:endParaRPr lang="en-US" sz="1200" dirty="0"/>
          </a:p>
        </p:txBody>
      </p:sp>
      <p:sp>
        <p:nvSpPr>
          <p:cNvPr id="4" name="Text 2"/>
          <p:cNvSpPr/>
          <p:nvPr>
            <p:ph type="title"/>
          </p:nvPr>
        </p:nvSpPr>
        <p:spPr>
          <a:xfrm>
            <a:off x="812800" y="13055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How your portfolio will be marked</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018" y="1939088"/>
          <a:ext cx="10555182" cy="2692188"/>
        </p:xfrm>
        <a:graphic>
          <a:graphicData uri="http://schemas.openxmlformats.org/drawingml/2006/table">
            <a:tbl>
              <a:tblPr/>
              <a:tblGrid>
                <a:gridCol w="3166554"/>
                <a:gridCol w="1055518"/>
                <a:gridCol w="6333109"/>
              </a:tblGrid>
              <a:tr h="384598">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Criterion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Marks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960"/>
                        </a:lnSpc>
                        <a:buNone/>
                      </a:pPr>
                      <a:r>
                        <a:rPr lang="en-US" sz="1400" b="1" dirty="0">
                          <a:solidFill>
                            <a:srgbClr val="1A2236"/>
                          </a:solidFill>
                          <a:latin typeface="IBM Plex Sans" pitchFamily="34" charset="0"/>
                          <a:ea typeface="IBM Plex Sans" pitchFamily="34" charset="-122"/>
                          <a:cs typeface="IBM Plex Sans" pitchFamily="34" charset="-120"/>
                        </a:rPr>
                        <a:t>Full marks look like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Semantic HTML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All semantic tags used correctly; validator shows no errors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CSS + box model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External CSS, consistent spacing, hover and focus states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Flexbox + responsive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Cards wrap; layout changes at breakpoint; fine at 375px and 1200px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Git workflow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3+ clear commits, branch created and merged, git log shown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Explanation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Explains one design choice and one Git command in own words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4598">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Total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BF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BFAD"/>
                      </a:solidFill>
                      <a:prstDash val="solid"/>
                      <a:round/>
                      <a:headEnd type="none" w="med" len="med"/>
                      <a:tailEnd type="none" w="med" len="med"/>
                    </a:lnB>
                    <a:solidFill>
                      <a:srgbClr val="FCEFD9"/>
                    </a:solidFill>
                  </a:tcPr>
                </a:tc>
                <a:tc>
                  <a:txBody>
                    <a:bodyPr/>
                    <a:lstStyle/>
                    <a:p>
                      <a:pPr indent="0" marL="0">
                        <a:lnSpc>
                          <a:spcPts val="1960"/>
                        </a:lnSpc>
                        <a:buNone/>
                      </a:pPr>
                      <a:r>
                        <a:rPr lang="en-US" sz="1400" dirty="0">
                          <a:solidFill>
                            <a:srgbClr val="1A2236"/>
                          </a:solidFill>
                          <a:latin typeface="IBM Plex Sans" pitchFamily="34" charset="0"/>
                          <a:ea typeface="IBM Plex Sans" pitchFamily="34" charset="-122"/>
                          <a:cs typeface="IBM Plex Sans" pitchFamily="34" charset="-120"/>
                        </a:rPr>
                        <a:t>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BFAD"/>
                      </a:solidFill>
                      <a:prstDash val="solid"/>
                      <a:round/>
                      <a:headEnd type="none" w="med" len="med"/>
                      <a:tailEnd type="none" w="med" len="med"/>
                    </a:lnL>
                    <a:lnR w="12700" cap="flat" cmpd="sng" algn="ctr">
                      <a:solidFill>
                        <a:srgbClr val="C9BF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BFAD"/>
                      </a:solidFill>
                      <a:prstDash val="solid"/>
                      <a:round/>
                      <a:headEnd type="none" w="med" len="med"/>
                      <a:tailEnd type="none" w="med" len="med"/>
                    </a:lnB>
                    <a:solidFill>
                      <a:srgbClr val="FCEFD9"/>
                    </a:solidFill>
                  </a:tcPr>
                </a:tc>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BFAD"/>
                      </a:solidFill>
                      <a:prstDash val="solid"/>
                      <a:round/>
                      <a:headEnd type="none" w="med" len="med"/>
                      <a:tailEnd type="none" w="med" len="med"/>
                    </a:lnL>
                    <a:lnR w="12700" cap="flat" cmpd="sng" algn="ctr">
                      <a:solidFill>
                        <a:srgbClr val="C9BF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BFAD"/>
                      </a:solidFill>
                      <a:prstDash val="solid"/>
                      <a:round/>
                      <a:headEnd type="none" w="med" len="med"/>
                      <a:tailEnd type="none" w="med" len="med"/>
                    </a:lnB>
                    <a:solidFill>
                      <a:srgbClr val="FCEFD9"/>
                    </a:solidFill>
                  </a:tcPr>
                </a:tc>
              </a:tr>
            </a:tbl>
          </a:graphicData>
        </a:graphic>
      </p:graphicFrame>
      <p:sp>
        <p:nvSpPr>
          <p:cNvPr id="6" name="Text 3"/>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Manual p.9 · CIE evaluation scheme</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904048" cy="289560"/>
          </a:xfrm>
          <a:custGeom>
            <a:avLst/>
            <a:gdLst/>
            <a:ahLst/>
            <a:cxnLst/>
            <a:rect l="l" t="t" r="r" b="b"/>
            <a:pathLst>
              <a:path w="1904048" h="289560">
                <a:moveTo>
                  <a:pt x="144780" y="0"/>
                </a:moveTo>
                <a:lnTo>
                  <a:pt x="1759268" y="0"/>
                </a:lnTo>
                <a:arcTo hR="144780" wR="144780" stAng="16200000" swAng="5400000"/>
                <a:lnTo>
                  <a:pt x="1904048" y="144780"/>
                </a:lnTo>
                <a:arcTo hR="144780" wR="144780" stAng="0" swAng="5400000"/>
                <a:lnTo>
                  <a:pt x="144780" y="289560"/>
                </a:lnTo>
                <a:arcTo hR="144780" wR="144780" stAng="5400000" swAng="5400000"/>
                <a:lnTo>
                  <a:pt x="0" y="144780"/>
                </a:lnTo>
                <a:arcTo hR="144780" wR="144780" stAng="10800000" swAng="5400000"/>
                <a:close/>
              </a:path>
            </a:pathLst>
          </a:custGeom>
          <a:solidFill>
            <a:srgbClr val="4A5266"/>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TROUBLESHOOTING</a:t>
            </a:r>
            <a:endParaRPr lang="en-US" sz="1200" dirty="0"/>
          </a:p>
        </p:txBody>
      </p:sp>
      <p:sp>
        <p:nvSpPr>
          <p:cNvPr id="3" name="Text 1"/>
          <p:cNvSpPr/>
          <p:nvPr/>
        </p:nvSpPr>
        <p:spPr>
          <a:xfrm>
            <a:off x="2843848" y="850900"/>
            <a:ext cx="278993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266"/>
                </a:solidFill>
                <a:latin typeface="IBM Plex Sans" pitchFamily="34" charset="0"/>
                <a:ea typeface="IBM Plex Sans" pitchFamily="34" charset="-122"/>
                <a:cs typeface="IBM Plex Sans" pitchFamily="34" charset="-120"/>
              </a:rPr>
              <a:t>For tech buddies · HTML and CSS</a:t>
            </a:r>
            <a:endParaRPr lang="en-US" sz="1200" dirty="0"/>
          </a:p>
        </p:txBody>
      </p:sp>
      <p:sp>
        <p:nvSpPr>
          <p:cNvPr id="4" name="Text 2"/>
          <p:cNvSpPr/>
          <p:nvPr>
            <p:ph type="title"/>
          </p:nvPr>
        </p:nvSpPr>
        <p:spPr>
          <a:xfrm>
            <a:off x="812800" y="13055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Page not doing what you expect?</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018" y="1939088"/>
          <a:ext cx="10555182" cy="2863427"/>
        </p:xfrm>
        <a:graphic>
          <a:graphicData uri="http://schemas.openxmlformats.org/drawingml/2006/table">
            <a:tbl>
              <a:tblPr/>
              <a:tblGrid>
                <a:gridCol w="3166554"/>
                <a:gridCol w="3377658"/>
                <a:gridCol w="4010969"/>
              </a:tblGrid>
              <a:tr h="357928">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Symptom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Likely cause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Fix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CSS has no effect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Wrong href, or not saved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Check file name, Ctrl+S, Ctrl+Shift+R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Broken image icon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Wrong path or capital letters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Match name exactly, or use picsum link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Phone view looks zoomed out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No viewport meta tag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Add it inside &lt;head&gt;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Label click does nothing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for ≠ 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Make them identical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Cards don’t wrap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flex-wrap on wrong element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Put flex + wrap on .cards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Sideways scrollbar on phone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Fixed width like 800px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Use %, max-width, img max-width:100%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Nav link doesn’t jump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id missing or case differs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href="#about" needs id="about"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6" name="Text 3"/>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First tool for any problem: F12 → Console (errors) and Network (404s)</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904048" cy="289560"/>
          </a:xfrm>
          <a:custGeom>
            <a:avLst/>
            <a:gdLst/>
            <a:ahLst/>
            <a:cxnLst/>
            <a:rect l="l" t="t" r="r" b="b"/>
            <a:pathLst>
              <a:path w="1904048" h="289560">
                <a:moveTo>
                  <a:pt x="144780" y="0"/>
                </a:moveTo>
                <a:lnTo>
                  <a:pt x="1759268" y="0"/>
                </a:lnTo>
                <a:arcTo hR="144780" wR="144780" stAng="16200000" swAng="5400000"/>
                <a:lnTo>
                  <a:pt x="1904048" y="144780"/>
                </a:lnTo>
                <a:arcTo hR="144780" wR="144780" stAng="0" swAng="5400000"/>
                <a:lnTo>
                  <a:pt x="144780" y="289560"/>
                </a:lnTo>
                <a:arcTo hR="144780" wR="144780" stAng="5400000" swAng="5400000"/>
                <a:lnTo>
                  <a:pt x="0" y="144780"/>
                </a:lnTo>
                <a:arcTo hR="144780" wR="144780" stAng="10800000" swAng="5400000"/>
                <a:close/>
              </a:path>
            </a:pathLst>
          </a:custGeom>
          <a:solidFill>
            <a:srgbClr val="4A5266"/>
          </a:solidFill>
          <a:ln/>
        </p:spPr>
        <p:txBody>
          <a:bodyPr wrap="none" lIns="0" tIns="0" rIns="0" bIns="0" rtlCol="0" anchor="ctr">
            <a:normAutofit/>
          </a:bodyPr>
          <a:lstStyle/>
          <a:p>
            <a:pPr algn="ctr" indent="0" marL="0">
              <a:lnSpc>
                <a:spcPts val="1680"/>
              </a:lnSpc>
              <a:buNone/>
            </a:pPr>
            <a:r>
              <a:rPr lang="en-US" sz="1200" b="1" spc="100" kern="0" dirty="0">
                <a:solidFill>
                  <a:srgbClr val="F5F3EE"/>
                </a:solidFill>
                <a:latin typeface="IBM Plex Sans" pitchFamily="34" charset="0"/>
                <a:ea typeface="IBM Plex Sans" pitchFamily="34" charset="-122"/>
                <a:cs typeface="IBM Plex Sans" pitchFamily="34" charset="-120"/>
              </a:rPr>
              <a:t>TROUBLESHOOTING</a:t>
            </a:r>
            <a:endParaRPr lang="en-US" sz="1200" dirty="0"/>
          </a:p>
        </p:txBody>
      </p:sp>
      <p:sp>
        <p:nvSpPr>
          <p:cNvPr id="3" name="Text 1"/>
          <p:cNvSpPr/>
          <p:nvPr/>
        </p:nvSpPr>
        <p:spPr>
          <a:xfrm>
            <a:off x="2843848" y="850900"/>
            <a:ext cx="181216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266"/>
                </a:solidFill>
                <a:latin typeface="IBM Plex Sans" pitchFamily="34" charset="0"/>
                <a:ea typeface="IBM Plex Sans" pitchFamily="34" charset="-122"/>
                <a:cs typeface="IBM Plex Sans" pitchFamily="34" charset="-120"/>
              </a:rPr>
              <a:t>For tech buddies · Git</a:t>
            </a:r>
            <a:endParaRPr lang="en-US" sz="1200" dirty="0"/>
          </a:p>
        </p:txBody>
      </p:sp>
      <p:sp>
        <p:nvSpPr>
          <p:cNvPr id="4" name="Text 2"/>
          <p:cNvSpPr/>
          <p:nvPr>
            <p:ph type="title"/>
          </p:nvPr>
        </p:nvSpPr>
        <p:spPr>
          <a:xfrm>
            <a:off x="812800" y="13055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A2236"/>
                </a:solidFill>
                <a:latin typeface="Space Grotesk" pitchFamily="34" charset="0"/>
                <a:ea typeface="Space Grotesk" pitchFamily="34" charset="-122"/>
                <a:cs typeface="Space Grotesk" pitchFamily="34" charset="-120"/>
              </a:rPr>
              <a:t>Git said no? Here’s why.</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018" y="1939088"/>
          <a:ext cx="10555182" cy="3221355"/>
        </p:xfrm>
        <a:graphic>
          <a:graphicData uri="http://schemas.openxmlformats.org/drawingml/2006/table">
            <a:tbl>
              <a:tblPr/>
              <a:tblGrid>
                <a:gridCol w="3588762"/>
                <a:gridCol w="3166554"/>
                <a:gridCol w="3799865"/>
              </a:tblGrid>
              <a:tr h="357928">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Message or symptom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Cause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20"/>
                        </a:lnSpc>
                        <a:buNone/>
                      </a:pPr>
                      <a:r>
                        <a:rPr lang="en-US" sz="1300" b="1" dirty="0">
                          <a:solidFill>
                            <a:srgbClr val="1A2236"/>
                          </a:solidFill>
                          <a:latin typeface="IBM Plex Sans" pitchFamily="34" charset="0"/>
                          <a:ea typeface="IBM Plex Sans" pitchFamily="34" charset="-122"/>
                          <a:cs typeface="IBM Plex Sans" pitchFamily="34" charset="-120"/>
                        </a:rPr>
                        <a:t>Fix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“git is not recognized”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Not installed / old terminal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Reopen terminal; git --version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“Please tell me who you are”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No identity set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Run the two git config lines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Strange editor opens on commit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Forgot -m (Vim)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Esc, type :wq, Enter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Branch is “master”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Old default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git branch -M main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“not a git repository”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Wrong folder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cd into day1-portfolio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“local changes would be overwritten”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Uncommitted edits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Commit (or git stash), then checkout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Merge says “Already up to date”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Merged from the wrong side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git checkout main, then merge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7928">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Screen stuck after git log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Pager is open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A2236"/>
                          </a:solidFill>
                          <a:latin typeface="IBM Plex Sans" pitchFamily="34" charset="0"/>
                          <a:ea typeface="IBM Plex Sans" pitchFamily="34" charset="-122"/>
                          <a:cs typeface="IBM Plex Sans" pitchFamily="34" charset="-120"/>
                        </a:rPr>
                        <a:t>Press q</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6" name="Text 3"/>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0"/>
                </a:solidFill>
                <a:latin typeface="IBM Plex Sans" pitchFamily="34" charset="0"/>
                <a:ea typeface="IBM Plex Sans" pitchFamily="34" charset="-122"/>
                <a:cs typeface="IBM Plex Sans" pitchFamily="34" charset="-120"/>
              </a:rPr>
              <a:t>git status is always the first command when confused</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812800"/>
            <a:ext cx="1306089" cy="289560"/>
          </a:xfrm>
          <a:custGeom>
            <a:avLst/>
            <a:gdLst/>
            <a:ahLst/>
            <a:cxnLst/>
            <a:rect l="l" t="t" r="r" b="b"/>
            <a:pathLst>
              <a:path w="1306089" h="289560">
                <a:moveTo>
                  <a:pt x="144780" y="0"/>
                </a:moveTo>
                <a:lnTo>
                  <a:pt x="1161309" y="0"/>
                </a:lnTo>
                <a:arcTo hR="144780" wR="144780" stAng="16200000" swAng="5400000"/>
                <a:lnTo>
                  <a:pt x="1306089" y="144780"/>
                </a:lnTo>
                <a:arcTo hR="144780" wR="144780" stAng="0" swAng="5400000"/>
                <a:lnTo>
                  <a:pt x="144780" y="289560"/>
                </a:lnTo>
                <a:arcTo hR="144780" wR="144780" stAng="5400000" swAng="5400000"/>
                <a:lnTo>
                  <a:pt x="0" y="144780"/>
                </a:lnTo>
                <a:arcTo hR="144780" wR="144780" stAng="10800000" swAng="5400000"/>
                <a:close/>
              </a:path>
            </a:pathLst>
          </a:custGeom>
          <a:solidFill>
            <a:srgbClr val="F2994A"/>
          </a:solidFill>
          <a:ln/>
        </p:spPr>
        <p:txBody>
          <a:bodyPr wrap="none" lIns="0" tIns="0" rIns="0" bIns="0" rtlCol="0" anchor="ctr">
            <a:normAutofit/>
          </a:bodyPr>
          <a:lstStyle/>
          <a:p>
            <a:pPr algn="ctr" indent="0" marL="0">
              <a:lnSpc>
                <a:spcPts val="1680"/>
              </a:lnSpc>
              <a:buNone/>
            </a:pPr>
            <a:r>
              <a:rPr lang="en-US" sz="1200" b="1" spc="100" kern="0" dirty="0">
                <a:solidFill>
                  <a:srgbClr val="141B2D"/>
                </a:solidFill>
                <a:latin typeface="IBM Plex Sans" pitchFamily="34" charset="0"/>
                <a:ea typeface="IBM Plex Sans" pitchFamily="34" charset="-122"/>
                <a:cs typeface="IBM Plex Sans" pitchFamily="34" charset="-120"/>
              </a:rPr>
              <a:t>EXIT TICKET</a:t>
            </a:r>
            <a:endParaRPr lang="en-US" sz="1200" dirty="0"/>
          </a:p>
        </p:txBody>
      </p:sp>
      <p:sp>
        <p:nvSpPr>
          <p:cNvPr id="3" name="Text 1"/>
          <p:cNvSpPr/>
          <p:nvPr/>
        </p:nvSpPr>
        <p:spPr>
          <a:xfrm>
            <a:off x="2245889" y="850900"/>
            <a:ext cx="330022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IBM Plex Sans" pitchFamily="34" charset="0"/>
                <a:ea typeface="IBM Plex Sans" pitchFamily="34" charset="-122"/>
                <a:cs typeface="IBM Plex Sans" pitchFamily="34" charset="-120"/>
              </a:rPr>
              <a:t>4:20 PM · 5 min · paper or Google Form</a:t>
            </a:r>
            <a:endParaRPr lang="en-US" sz="1200" dirty="0"/>
          </a:p>
        </p:txBody>
      </p:sp>
      <p:sp>
        <p:nvSpPr>
          <p:cNvPr id="4" name="Text 2"/>
          <p:cNvSpPr/>
          <p:nvPr>
            <p:ph type="title"/>
          </p:nvPr>
        </p:nvSpPr>
        <p:spPr>
          <a:xfrm>
            <a:off x="812800" y="13055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3F1EA"/>
                </a:solidFill>
                <a:latin typeface="Space Grotesk" pitchFamily="34" charset="0"/>
                <a:ea typeface="Space Grotesk" pitchFamily="34" charset="-122"/>
                <a:cs typeface="Space Grotesk" pitchFamily="34" charset="-120"/>
              </a:rPr>
              <a:t>Five questions before you leave</a:t>
            </a:r>
            <a:endParaRPr lang="en-US" sz="3000" dirty="0"/>
          </a:p>
        </p:txBody>
      </p:sp>
      <p:sp>
        <p:nvSpPr>
          <p:cNvPr id="5" name="Text 3"/>
          <p:cNvSpPr/>
          <p:nvPr/>
        </p:nvSpPr>
        <p:spPr>
          <a:xfrm>
            <a:off x="812800" y="1927870"/>
            <a:ext cx="10566400" cy="520700"/>
          </a:xfrm>
          <a:prstGeom prst="roundRect">
            <a:avLst>
              <a:gd name="adj" fmla="val 14634"/>
            </a:avLst>
          </a:prstGeom>
          <a:solidFill>
            <a:srgbClr val="1E2840"/>
          </a:solidFill>
          <a:ln/>
        </p:spPr>
        <p:txBody>
          <a:bodyPr wrap="square" lIns="155482" tIns="104682" rIns="0" bIns="79282" rtlCol="0" anchor="t">
            <a:normAutofit/>
          </a:bodyPr>
          <a:lstStyle/>
          <a:p>
            <a:pPr algn="l" indent="0" marL="0">
              <a:lnSpc>
                <a:spcPts val="2100"/>
              </a:lnSpc>
              <a:buNone/>
            </a:pPr>
            <a:r>
              <a:rPr lang="en-US" sz="1500" b="1" dirty="0">
                <a:solidFill>
                  <a:srgbClr val="F2994A"/>
                </a:solidFill>
                <a:latin typeface="IBM Plex Sans" pitchFamily="34" charset="0"/>
                <a:ea typeface="IBM Plex Sans" pitchFamily="34" charset="-122"/>
                <a:cs typeface="IBM Plex Sans" pitchFamily="34" charset="-120"/>
              </a:rPr>
              <a:t>1.</a:t>
            </a:r>
            <a:r>
              <a:rPr lang="en-US" sz="1500" dirty="0">
                <a:solidFill>
                  <a:srgbClr val="F3F1EA"/>
                </a:solidFill>
                <a:latin typeface="IBM Plex Sans" pitchFamily="34" charset="0"/>
                <a:ea typeface="IBM Plex Sans" pitchFamily="34" charset="-122"/>
                <a:cs typeface="IBM Plex Sans" pitchFamily="34" charset="-120"/>
              </a:rPr>
              <a:t> Fill the path: Working directory → ______ → ______ (name both commands)</a:t>
            </a:r>
            <a:endParaRPr lang="en-US" sz="1500" dirty="0"/>
          </a:p>
        </p:txBody>
      </p:sp>
      <p:sp>
        <p:nvSpPr>
          <p:cNvPr id="6" name="Text 4"/>
          <p:cNvSpPr/>
          <p:nvPr/>
        </p:nvSpPr>
        <p:spPr>
          <a:xfrm>
            <a:off x="812800" y="2550170"/>
            <a:ext cx="10566400" cy="520700"/>
          </a:xfrm>
          <a:prstGeom prst="roundRect">
            <a:avLst>
              <a:gd name="adj" fmla="val 14634"/>
            </a:avLst>
          </a:prstGeom>
          <a:solidFill>
            <a:srgbClr val="1E2840"/>
          </a:solidFill>
          <a:ln/>
        </p:spPr>
        <p:txBody>
          <a:bodyPr wrap="square" lIns="155482" tIns="104682" rIns="0" bIns="79282" rtlCol="0" anchor="t">
            <a:normAutofit/>
          </a:bodyPr>
          <a:lstStyle/>
          <a:p>
            <a:pPr algn="l" indent="0" marL="0">
              <a:lnSpc>
                <a:spcPts val="2100"/>
              </a:lnSpc>
              <a:buNone/>
            </a:pPr>
            <a:r>
              <a:rPr lang="en-US" sz="1500" b="1" dirty="0">
                <a:solidFill>
                  <a:srgbClr val="F2994A"/>
                </a:solidFill>
                <a:latin typeface="IBM Plex Sans" pitchFamily="34" charset="0"/>
                <a:ea typeface="IBM Plex Sans" pitchFamily="34" charset="-122"/>
                <a:cs typeface="IBM Plex Sans" pitchFamily="34" charset="-120"/>
              </a:rPr>
              <a:t>2.</a:t>
            </a:r>
            <a:r>
              <a:rPr lang="en-US" sz="1500" dirty="0">
                <a:solidFill>
                  <a:srgbClr val="F3F1EA"/>
                </a:solidFill>
                <a:latin typeface="IBM Plex Sans" pitchFamily="34" charset="0"/>
                <a:ea typeface="IBM Plex Sans" pitchFamily="34" charset="-122"/>
                <a:cs typeface="IBM Plex Sans" pitchFamily="34" charset="-120"/>
              </a:rPr>
              <a:t> Git vs GitHub in one sentence</a:t>
            </a:r>
            <a:endParaRPr lang="en-US" sz="1500" dirty="0"/>
          </a:p>
        </p:txBody>
      </p:sp>
      <p:sp>
        <p:nvSpPr>
          <p:cNvPr id="7" name="Text 5"/>
          <p:cNvSpPr/>
          <p:nvPr/>
        </p:nvSpPr>
        <p:spPr>
          <a:xfrm>
            <a:off x="812800" y="3172470"/>
            <a:ext cx="10566400" cy="520700"/>
          </a:xfrm>
          <a:prstGeom prst="roundRect">
            <a:avLst>
              <a:gd name="adj" fmla="val 14634"/>
            </a:avLst>
          </a:prstGeom>
          <a:solidFill>
            <a:srgbClr val="1E2840"/>
          </a:solidFill>
          <a:ln/>
        </p:spPr>
        <p:txBody>
          <a:bodyPr wrap="square" lIns="155482" tIns="104682" rIns="0" bIns="79282" rtlCol="0" anchor="t">
            <a:normAutofit/>
          </a:bodyPr>
          <a:lstStyle/>
          <a:p>
            <a:pPr algn="l" indent="0" marL="0">
              <a:lnSpc>
                <a:spcPts val="2100"/>
              </a:lnSpc>
              <a:buNone/>
            </a:pPr>
            <a:r>
              <a:rPr lang="en-US" sz="1500" b="1" dirty="0">
                <a:solidFill>
                  <a:srgbClr val="F2994A"/>
                </a:solidFill>
                <a:latin typeface="IBM Plex Sans" pitchFamily="34" charset="0"/>
                <a:ea typeface="IBM Plex Sans" pitchFamily="34" charset="-122"/>
                <a:cs typeface="IBM Plex Sans" pitchFamily="34" charset="-120"/>
              </a:rPr>
              <a:t>3.</a:t>
            </a:r>
            <a:r>
              <a:rPr lang="en-US" sz="1500" dirty="0">
                <a:solidFill>
                  <a:srgbClr val="F3F1EA"/>
                </a:solidFill>
                <a:latin typeface="IBM Plex Sans" pitchFamily="34" charset="0"/>
                <a:ea typeface="IBM Plex Sans" pitchFamily="34" charset="-122"/>
                <a:cs typeface="IBM Plex Sans" pitchFamily="34" charset="-120"/>
              </a:rPr>
              <a:t> What does git log --oneline show?</a:t>
            </a:r>
            <a:endParaRPr lang="en-US" sz="1500" dirty="0"/>
          </a:p>
        </p:txBody>
      </p:sp>
      <p:sp>
        <p:nvSpPr>
          <p:cNvPr id="8" name="Text 6"/>
          <p:cNvSpPr/>
          <p:nvPr/>
        </p:nvSpPr>
        <p:spPr>
          <a:xfrm>
            <a:off x="812800" y="3794770"/>
            <a:ext cx="10566400" cy="520700"/>
          </a:xfrm>
          <a:prstGeom prst="roundRect">
            <a:avLst>
              <a:gd name="adj" fmla="val 14634"/>
            </a:avLst>
          </a:prstGeom>
          <a:solidFill>
            <a:srgbClr val="1E2840"/>
          </a:solidFill>
          <a:ln/>
        </p:spPr>
        <p:txBody>
          <a:bodyPr wrap="square" lIns="155482" tIns="104682" rIns="0" bIns="79282" rtlCol="0" anchor="t">
            <a:normAutofit/>
          </a:bodyPr>
          <a:lstStyle/>
          <a:p>
            <a:pPr algn="l" indent="0" marL="0">
              <a:lnSpc>
                <a:spcPts val="2100"/>
              </a:lnSpc>
              <a:buNone/>
            </a:pPr>
            <a:r>
              <a:rPr lang="en-US" sz="1500" b="1" dirty="0">
                <a:solidFill>
                  <a:srgbClr val="F2994A"/>
                </a:solidFill>
                <a:latin typeface="IBM Plex Sans" pitchFamily="34" charset="0"/>
                <a:ea typeface="IBM Plex Sans" pitchFamily="34" charset="-122"/>
                <a:cs typeface="IBM Plex Sans" pitchFamily="34" charset="-120"/>
              </a:rPr>
              <a:t>4.</a:t>
            </a:r>
            <a:r>
              <a:rPr lang="en-US" sz="1500" dirty="0">
                <a:solidFill>
                  <a:srgbClr val="F3F1EA"/>
                </a:solidFill>
                <a:latin typeface="IBM Plex Sans" pitchFamily="34" charset="0"/>
                <a:ea typeface="IBM Plex Sans" pitchFamily="34" charset="-122"/>
                <a:cs typeface="IBM Plex Sans" pitchFamily="34" charset="-120"/>
              </a:rPr>
              <a:t> Your page has a sideways scrollbar at 375px. Name one fix.</a:t>
            </a:r>
            <a:endParaRPr lang="en-US" sz="1500" dirty="0"/>
          </a:p>
        </p:txBody>
      </p:sp>
      <p:sp>
        <p:nvSpPr>
          <p:cNvPr id="9" name="Text 7"/>
          <p:cNvSpPr/>
          <p:nvPr/>
        </p:nvSpPr>
        <p:spPr>
          <a:xfrm>
            <a:off x="812800" y="4417070"/>
            <a:ext cx="10566400" cy="520700"/>
          </a:xfrm>
          <a:prstGeom prst="roundRect">
            <a:avLst>
              <a:gd name="adj" fmla="val 14634"/>
            </a:avLst>
          </a:prstGeom>
          <a:solidFill>
            <a:srgbClr val="1E2840"/>
          </a:solidFill>
          <a:ln/>
        </p:spPr>
        <p:txBody>
          <a:bodyPr wrap="square" lIns="155482" tIns="104682" rIns="0" bIns="79282" rtlCol="0" anchor="t">
            <a:normAutofit/>
          </a:bodyPr>
          <a:lstStyle/>
          <a:p>
            <a:pPr algn="l" indent="0" marL="0">
              <a:lnSpc>
                <a:spcPts val="2100"/>
              </a:lnSpc>
              <a:buNone/>
            </a:pPr>
            <a:r>
              <a:rPr lang="en-US" sz="1500" b="1" dirty="0">
                <a:solidFill>
                  <a:srgbClr val="F2994A"/>
                </a:solidFill>
                <a:latin typeface="IBM Plex Sans" pitchFamily="34" charset="0"/>
                <a:ea typeface="IBM Plex Sans" pitchFamily="34" charset="-122"/>
                <a:cs typeface="IBM Plex Sans" pitchFamily="34" charset="-120"/>
              </a:rPr>
              <a:t>5.</a:t>
            </a:r>
            <a:r>
              <a:rPr lang="en-US" sz="1500" dirty="0">
                <a:solidFill>
                  <a:srgbClr val="F3F1EA"/>
                </a:solidFill>
                <a:latin typeface="IBM Plex Sans" pitchFamily="34" charset="0"/>
                <a:ea typeface="IBM Plex Sans" pitchFamily="34" charset="-122"/>
                <a:cs typeface="IBM Plex Sans" pitchFamily="34" charset="-120"/>
              </a:rPr>
              <a:t> One thing you’d like explained again tomorrow</a:t>
            </a:r>
            <a:endParaRPr lang="en-US" sz="1500" dirty="0"/>
          </a:p>
        </p:txBody>
      </p:sp>
      <p:sp>
        <p:nvSpPr>
          <p:cNvPr id="10" name="Text 8"/>
          <p:cNvSpPr/>
          <p:nvPr/>
        </p:nvSpPr>
        <p:spPr>
          <a:xfrm>
            <a:off x="812800" y="62382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7A92"/>
                </a:solidFill>
                <a:latin typeface="IBM Plex Sans" pitchFamily="34" charset="0"/>
                <a:ea typeface="IBM Plex Sans" pitchFamily="34" charset="-122"/>
                <a:cs typeface="IBM Plex Sans" pitchFamily="34" charset="-120"/>
              </a:rPr>
              <a:t>Also submit: source files + screenshot of git log --oneline</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151512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994A"/>
                </a:solidFill>
                <a:latin typeface="IBM Plex Sans" pitchFamily="34" charset="0"/>
                <a:ea typeface="IBM Plex Sans" pitchFamily="34" charset="-122"/>
                <a:cs typeface="IBM Plex Sans" pitchFamily="34" charset="-120"/>
              </a:rPr>
              <a:t>TODAY YOU</a:t>
            </a:r>
            <a:endParaRPr lang="en-US" sz="1400" dirty="0"/>
          </a:p>
        </p:txBody>
      </p:sp>
      <p:sp>
        <p:nvSpPr>
          <p:cNvPr id="3" name="Text 1"/>
          <p:cNvSpPr/>
          <p:nvPr/>
        </p:nvSpPr>
        <p:spPr>
          <a:xfrm>
            <a:off x="812800" y="2018035"/>
            <a:ext cx="3420533" cy="571500"/>
          </a:xfrm>
          <a:prstGeom prst="roundRect">
            <a:avLst>
              <a:gd name="adj" fmla="val 13333"/>
            </a:avLst>
          </a:prstGeom>
          <a:solidFill>
            <a:srgbClr val="1E2840"/>
          </a:solidFill>
          <a:ln/>
        </p:spPr>
        <p:txBody>
          <a:bodyPr wrap="square" lIns="155482" tIns="130082" rIns="63534" bIns="104682" rtlCol="0" anchor="t">
            <a:normAutofit/>
          </a:bodyPr>
          <a:lstStyle/>
          <a:p>
            <a:pPr algn="l" indent="0" marL="0">
              <a:lnSpc>
                <a:spcPts val="2100"/>
              </a:lnSpc>
              <a:buNone/>
            </a:pPr>
            <a:r>
              <a:rPr lang="en-US" sz="1500" dirty="0">
                <a:solidFill>
                  <a:srgbClr val="F3F1EA"/>
                </a:solidFill>
                <a:latin typeface="IBM Plex Sans" pitchFamily="34" charset="0"/>
                <a:ea typeface="IBM Plex Sans" pitchFamily="34" charset="-122"/>
                <a:cs typeface="IBM Plex Sans" pitchFamily="34" charset="-120"/>
              </a:rPr>
              <a:t>Caught real requests in DevTools</a:t>
            </a:r>
            <a:endParaRPr lang="en-US" sz="1500" dirty="0"/>
          </a:p>
        </p:txBody>
      </p:sp>
      <p:sp>
        <p:nvSpPr>
          <p:cNvPr id="4" name="Text 2"/>
          <p:cNvSpPr/>
          <p:nvPr/>
        </p:nvSpPr>
        <p:spPr>
          <a:xfrm>
            <a:off x="4385733" y="2018035"/>
            <a:ext cx="3420533" cy="571500"/>
          </a:xfrm>
          <a:prstGeom prst="roundRect">
            <a:avLst>
              <a:gd name="adj" fmla="val 13333"/>
            </a:avLst>
          </a:prstGeom>
          <a:solidFill>
            <a:srgbClr val="1E2840"/>
          </a:solidFill>
          <a:ln/>
        </p:spPr>
        <p:txBody>
          <a:bodyPr wrap="square" lIns="155482" tIns="130082" rIns="63534" bIns="104682" rtlCol="0" anchor="t">
            <a:normAutofit/>
          </a:bodyPr>
          <a:lstStyle/>
          <a:p>
            <a:pPr algn="l" indent="0" marL="0">
              <a:lnSpc>
                <a:spcPts val="2100"/>
              </a:lnSpc>
              <a:buNone/>
            </a:pPr>
            <a:r>
              <a:rPr lang="en-US" sz="1500" dirty="0">
                <a:solidFill>
                  <a:srgbClr val="F3F1EA"/>
                </a:solidFill>
                <a:latin typeface="IBM Plex Sans" pitchFamily="34" charset="0"/>
                <a:ea typeface="IBM Plex Sans" pitchFamily="34" charset="-122"/>
                <a:cs typeface="IBM Plex Sans" pitchFamily="34" charset="-120"/>
              </a:rPr>
              <a:t>Built a semantic, responsive page</a:t>
            </a:r>
            <a:endParaRPr lang="en-US" sz="1500" dirty="0"/>
          </a:p>
        </p:txBody>
      </p:sp>
      <p:sp>
        <p:nvSpPr>
          <p:cNvPr id="5" name="Text 3"/>
          <p:cNvSpPr/>
          <p:nvPr/>
        </p:nvSpPr>
        <p:spPr>
          <a:xfrm>
            <a:off x="7958667" y="2018035"/>
            <a:ext cx="3420533" cy="571500"/>
          </a:xfrm>
          <a:prstGeom prst="roundRect">
            <a:avLst>
              <a:gd name="adj" fmla="val 13333"/>
            </a:avLst>
          </a:prstGeom>
          <a:solidFill>
            <a:srgbClr val="1E2840"/>
          </a:solidFill>
          <a:ln/>
        </p:spPr>
        <p:txBody>
          <a:bodyPr wrap="square" lIns="155482" tIns="130082" rIns="63534" bIns="104682" rtlCol="0" anchor="t">
            <a:normAutofit/>
          </a:bodyPr>
          <a:lstStyle/>
          <a:p>
            <a:pPr algn="l" indent="0" marL="0">
              <a:lnSpc>
                <a:spcPts val="2100"/>
              </a:lnSpc>
              <a:buNone/>
            </a:pPr>
            <a:r>
              <a:rPr lang="en-US" sz="1500" dirty="0">
                <a:solidFill>
                  <a:srgbClr val="F3F1EA"/>
                </a:solidFill>
                <a:latin typeface="IBM Plex Sans" pitchFamily="34" charset="0"/>
                <a:ea typeface="IBM Plex Sans" pitchFamily="34" charset="-122"/>
                <a:cs typeface="IBM Plex Sans" pitchFamily="34" charset="-120"/>
              </a:rPr>
              <a:t>Saved it with commits and a merge</a:t>
            </a:r>
            <a:endParaRPr lang="en-US" sz="1500" dirty="0"/>
          </a:p>
        </p:txBody>
      </p:sp>
      <p:sp>
        <p:nvSpPr>
          <p:cNvPr id="6" name="Text 4"/>
          <p:cNvSpPr/>
          <p:nvPr>
            <p:ph type="title"/>
          </p:nvPr>
        </p:nvSpPr>
        <p:spPr>
          <a:xfrm>
            <a:off x="812800" y="2843535"/>
            <a:ext cx="10883392" cy="141224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3F1EA"/>
                </a:solidFill>
                <a:latin typeface="Space Grotesk" pitchFamily="34" charset="0"/>
                <a:ea typeface="Space Grotesk" pitchFamily="34" charset="-122"/>
                <a:cs typeface="Space Grotesk" pitchFamily="34" charset="-120"/>
              </a:rPr>
              <a:t>Tomorrow your page</a:t>
            </a:r>
            <a:endParaRPr lang="en-US" sz="5200" dirty="0"/>
          </a:p>
          <a:p>
            <a:pPr algn="l" indent="0" marL="0">
              <a:lnSpc>
                <a:spcPts val="5460"/>
              </a:lnSpc>
              <a:buNone/>
            </a:pPr>
            <a:r>
              <a:rPr lang="en-US" sz="5200" b="1" i="0" dirty="0">
                <a:solidFill>
                  <a:srgbClr val="F3F1EA"/>
                </a:solidFill>
                <a:latin typeface="Space Grotesk" pitchFamily="34" charset="0"/>
                <a:ea typeface="Space Grotesk" pitchFamily="34" charset="-122"/>
                <a:cs typeface="Space Grotesk" pitchFamily="34" charset="-120"/>
              </a:rPr>
              <a:t>gets a brain.</a:t>
            </a:r>
            <a:endParaRPr lang="en-US" sz="5200" dirty="0"/>
          </a:p>
        </p:txBody>
      </p:sp>
      <p:sp>
        <p:nvSpPr>
          <p:cNvPr id="7" name="Text 5"/>
          <p:cNvSpPr/>
          <p:nvPr/>
        </p:nvSpPr>
        <p:spPr>
          <a:xfrm>
            <a:off x="812800" y="4484365"/>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9C2D3"/>
                </a:solidFill>
                <a:latin typeface="IBM Plex Sans" pitchFamily="34" charset="0"/>
                <a:ea typeface="IBM Plex Sans" pitchFamily="34" charset="-122"/>
                <a:cs typeface="IBM Plex Sans" pitchFamily="34" charset="-120"/>
              </a:rPr>
              <a:t>Day 2 · JavaScript, DOM, JSON, APIs → Interactive Task Manager</a:t>
            </a:r>
            <a:endParaRPr lang="en-US" sz="2000" dirty="0"/>
          </a:p>
        </p:txBody>
      </p:sp>
      <p:sp>
        <p:nvSpPr>
          <p:cNvPr id="8" name="Text 6"/>
          <p:cNvSpPr/>
          <p:nvPr/>
        </p:nvSpPr>
        <p:spPr>
          <a:xfrm>
            <a:off x="812800" y="509396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DB4F0"/>
                </a:solidFill>
                <a:latin typeface="IBM Plex Sans" pitchFamily="34" charset="0"/>
                <a:ea typeface="IBM Plex Sans" pitchFamily="34" charset="-122"/>
                <a:cs typeface="IBM Plex Sans" pitchFamily="34" charset="-120"/>
              </a:rPr>
              <a:t>Bring today’s day1-portfolio folder. Don’t delete the .git folder!</a:t>
            </a:r>
            <a:endParaRPr lang="en-US" sz="1400" dirty="0"/>
          </a:p>
        </p:txBody>
      </p:sp>
    </p:spTree>
  </p:cSld>
  <p:clrMapOvr>
    <a:masterClrMapping/>
  </p:clrMapOvr>
</p:sld>
</file>

<file path=ppt/theme/theme1.xml><?xml version="1.0" encoding="utf-8"?>
<a:theme xmlns:a="http://schemas.openxmlformats.org/drawingml/2006/main" name="Day 1 – Web Foundations &amp; Git">
  <a:themeElements>
    <a:clrScheme name="Day 1 – Web Foundations &amp; Git">
      <a:dk1>
        <a:srgbClr val="1A2236"/>
      </a:dk1>
      <a:lt1>
        <a:srgbClr val="F5F3EE"/>
      </a:lt1>
      <a:dk2>
        <a:srgbClr val="515664"/>
      </a:dk2>
      <a:lt2>
        <a:srgbClr val="DFDEDC"/>
      </a:lt2>
      <a:accent1>
        <a:srgbClr val="F2994A"/>
      </a:accent1>
      <a:accent2>
        <a:srgbClr val="2F5FA8"/>
      </a:accent2>
      <a:accent3>
        <a:srgbClr val="B4531A"/>
      </a:accent3>
      <a:accent4>
        <a:srgbClr val="8DB4F0"/>
      </a:accent4>
      <a:accent5>
        <a:srgbClr val="7FD1A1"/>
      </a:accent5>
      <a:accent6>
        <a:srgbClr val="3E7D5A"/>
      </a:accent6>
      <a:hlink>
        <a:srgbClr val="0563C1"/>
      </a:hlink>
      <a:folHlink>
        <a:srgbClr val="954F72"/>
      </a:folHlink>
    </a:clrScheme>
    <a:fontScheme name="Day 1 – Web Foundations &amp; Git">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 – Web Foundations &amp; Git</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2026-10-21T19:27:13Z</dcterms:created>
  <dcterms:modified xsi:type="dcterms:W3CDTF">2026-10-21T19:27:13Z</dcterms:modified>
</cp:coreProperties>
</file>